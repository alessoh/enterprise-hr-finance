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02" y="4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4578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line, then invite them to open the URL during the call. Do not start on the product; the next slide starts the story.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 break. Pause. You are describing their world, not your company.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79 versus 11 is the whole opportunity in two numbers. Say the governance line and stop talking.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emotional centre of the deck. Slow down. She knows she is losing money, finds out sixty days late, and pays a firm a share to tell her. This is the role, not a customer we have.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 break. Now, and only now, you talk about what you built.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mechanic, two boxes. If they remember one slide, make it this one. Below the model, not in the prompt — say it twice.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read twelve names. One job, one number each, then make the narrow-scope argument.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commercial slide. Recovery audit firms prove the budget already exists; we act before the money leaves. Credits pricing is the one-line close.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 break. Everything from here is the money and the plan.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red column aloud, including that design partners are illustrative. Volunteering this is what makes everything else credible.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the number and stop. The CFO introduction is the ask that matters most. If they push on the plan, the three gates are on the slide, including the one that says stop.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here. No thank-you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286000"/>
            <a:ext cx="10058400" cy="1280160"/>
          </a:xfrm>
          <a:prstGeom prst="rect">
            <a:avLst/>
          </a:prstGeom>
          <a:noFill/>
        </p:spPr>
        <p:txBody>
          <a:bodyPr wrap="square" lIns="0" tIns="0" rIns="0" bIns="0" anchor="t">
            <a:spAutoFit/>
          </a:bodyPr>
          <a:lstStyle/>
          <a:p>
            <a:pPr algn="l">
              <a:spcAft>
                <a:spcPts val="0"/>
              </a:spcAft>
            </a:pPr>
            <a:r>
              <a:rPr sz="6200" b="0" i="0">
                <a:solidFill>
                  <a:srgbClr val="1C1712"/>
                </a:solidFill>
                <a:latin typeface="Georgia"/>
              </a:rPr>
              <a:t>Meridian</a:t>
            </a:r>
          </a:p>
        </p:txBody>
      </p:sp>
      <p:sp>
        <p:nvSpPr>
          <p:cNvPr id="5" name="TextBox 4"/>
          <p:cNvSpPr txBox="1"/>
          <p:nvPr/>
        </p:nvSpPr>
        <p:spPr>
          <a:xfrm>
            <a:off x="914399" y="3429000"/>
            <a:ext cx="10711544" cy="580480"/>
          </a:xfrm>
          <a:prstGeom prst="rect">
            <a:avLst/>
          </a:prstGeom>
          <a:noFill/>
        </p:spPr>
        <p:txBody>
          <a:bodyPr wrap="square" lIns="0" tIns="0" rIns="0" bIns="0" anchor="t">
            <a:spAutoFit/>
          </a:bodyPr>
          <a:lstStyle/>
          <a:p>
            <a:pPr algn="l">
              <a:lnSpc>
                <a:spcPct val="132000"/>
              </a:lnSpc>
              <a:spcAft>
                <a:spcPts val="0"/>
              </a:spcAft>
            </a:pPr>
            <a:r>
              <a:rPr sz="3200" b="0" i="0" dirty="0">
                <a:solidFill>
                  <a:srgbClr val="5A544E"/>
                </a:solidFill>
                <a:latin typeface="Segoe UI"/>
              </a:rPr>
              <a:t>AI agents run HR and finance — </a:t>
            </a:r>
            <a:r>
              <a:rPr lang="en-US" sz="3200" b="0" i="0" dirty="0">
                <a:solidFill>
                  <a:srgbClr val="5A544E"/>
                </a:solidFill>
                <a:latin typeface="Segoe UI"/>
              </a:rPr>
              <a:t>with human oversight</a:t>
            </a:r>
            <a:endParaRPr sz="3200" b="0" i="0" dirty="0">
              <a:solidFill>
                <a:srgbClr val="5A544E"/>
              </a:solidFill>
              <a:latin typeface="Segoe UI"/>
            </a:endParaRPr>
          </a:p>
        </p:txBody>
      </p:sp>
      <p:sp>
        <p:nvSpPr>
          <p:cNvPr id="6" name="Rectangle 5"/>
          <p:cNvSpPr/>
          <p:nvPr/>
        </p:nvSpPr>
        <p:spPr>
          <a:xfrm>
            <a:off x="914400" y="4617720"/>
            <a:ext cx="10362895" cy="0"/>
          </a:xfrm>
          <a:prstGeom prst="rect">
            <a:avLst/>
          </a:prstGeom>
          <a:noFill/>
          <a:ln w="9525">
            <a:solidFill>
              <a:srgbClr val="CD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892040"/>
            <a:ext cx="10058400" cy="731520"/>
          </a:xfrm>
          <a:prstGeom prst="rect">
            <a:avLst/>
          </a:prstGeom>
          <a:noFill/>
        </p:spPr>
        <p:txBody>
          <a:bodyPr wrap="square" lIns="0" tIns="0" rIns="0" bIns="0" anchor="t">
            <a:spAutoFit/>
          </a:bodyPr>
          <a:lstStyle/>
          <a:p>
            <a:pPr algn="l">
              <a:spcAft>
                <a:spcPts val="700"/>
              </a:spcAft>
            </a:pPr>
            <a:r>
              <a:rPr sz="1300" b="0" i="0">
                <a:solidFill>
                  <a:srgbClr val="5A544E"/>
                </a:solidFill>
                <a:latin typeface="Segoe UI"/>
              </a:rPr>
              <a:t>Pre-seed  ·  Peter Alesso, Founder  ·  September 2026</a:t>
            </a:r>
          </a:p>
          <a:p>
            <a:pPr algn="l">
              <a:spcAft>
                <a:spcPts val="700"/>
              </a:spcAft>
            </a:pPr>
            <a:r>
              <a:rPr sz="1300" b="1" i="0">
                <a:solidFill>
                  <a:srgbClr val="1F5390"/>
                </a:solidFill>
                <a:latin typeface="Segoe UI"/>
              </a:rPr>
              <a:t>enterprise-hr-finance.vercel.app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148840"/>
            <a:ext cx="10362895" cy="274320"/>
          </a:xfrm>
          <a:prstGeom prst="rect">
            <a:avLst/>
          </a:prstGeom>
          <a:noFill/>
        </p:spPr>
        <p:txBody>
          <a:bodyPr wrap="square" lIns="0" tIns="0" rIns="0" bIns="0" anchor="t">
            <a:spAutoFit/>
          </a:bodyPr>
          <a:lstStyle/>
          <a:p>
            <a:pPr algn="l">
              <a:spcAft>
                <a:spcPts val="0"/>
              </a:spcAft>
            </a:pPr>
            <a:r>
              <a:rPr sz="1100" b="1" i="0">
                <a:solidFill>
                  <a:srgbClr val="A29E98"/>
                </a:solidFill>
                <a:latin typeface="Segoe UI"/>
              </a:rPr>
              <a:t>ACT ONE</a:t>
            </a:r>
          </a:p>
        </p:txBody>
      </p:sp>
      <p:sp>
        <p:nvSpPr>
          <p:cNvPr id="5" name="TextBox 4"/>
          <p:cNvSpPr txBox="1"/>
          <p:nvPr/>
        </p:nvSpPr>
        <p:spPr>
          <a:xfrm>
            <a:off x="914400" y="2606040"/>
            <a:ext cx="10058400" cy="685800"/>
          </a:xfrm>
          <a:prstGeom prst="rect">
            <a:avLst/>
          </a:prstGeom>
          <a:noFill/>
        </p:spPr>
        <p:txBody>
          <a:bodyPr wrap="square" lIns="0" tIns="0" rIns="0" bIns="0" anchor="t">
            <a:spAutoFit/>
          </a:bodyPr>
          <a:lstStyle/>
          <a:p>
            <a:pPr algn="l">
              <a:lnSpc>
                <a:spcPct val="110000"/>
              </a:lnSpc>
              <a:spcAft>
                <a:spcPts val="0"/>
              </a:spcAft>
            </a:pPr>
            <a:r>
              <a:rPr sz="4400" b="0" i="0">
                <a:solidFill>
                  <a:srgbClr val="FEFDFC"/>
                </a:solidFill>
                <a:latin typeface="Georgia"/>
              </a:rPr>
              <a:t>The problem</a:t>
            </a:r>
          </a:p>
        </p:txBody>
      </p:sp>
      <p:sp>
        <p:nvSpPr>
          <p:cNvPr id="6" name="TextBox 5"/>
          <p:cNvSpPr txBox="1"/>
          <p:nvPr/>
        </p:nvSpPr>
        <p:spPr>
          <a:xfrm>
            <a:off x="914400" y="3465576"/>
            <a:ext cx="8778240" cy="1099275"/>
          </a:xfrm>
          <a:prstGeom prst="rect">
            <a:avLst/>
          </a:prstGeom>
          <a:noFill/>
        </p:spPr>
        <p:txBody>
          <a:bodyPr wrap="square" lIns="0" tIns="0" rIns="0" bIns="0" anchor="t">
            <a:spAutoFit/>
          </a:bodyPr>
          <a:lstStyle/>
          <a:p>
            <a:pPr algn="l">
              <a:lnSpc>
                <a:spcPct val="135000"/>
              </a:lnSpc>
              <a:spcAft>
                <a:spcPts val="0"/>
              </a:spcAft>
            </a:pPr>
            <a:r>
              <a:rPr sz="2800" b="0" i="0" dirty="0">
                <a:solidFill>
                  <a:srgbClr val="CDCAC5"/>
                </a:solidFill>
                <a:latin typeface="Segoe UI"/>
              </a:rPr>
              <a:t>Enterprises have been handed a new </a:t>
            </a:r>
            <a:r>
              <a:rPr lang="en-US" sz="2800" b="0" i="0" dirty="0">
                <a:solidFill>
                  <a:srgbClr val="CDCAC5"/>
                </a:solidFill>
                <a:latin typeface="Segoe UI"/>
              </a:rPr>
              <a:t>AI </a:t>
            </a:r>
            <a:r>
              <a:rPr sz="2800" b="0" i="0" dirty="0">
                <a:solidFill>
                  <a:srgbClr val="CDCAC5"/>
                </a:solidFill>
                <a:latin typeface="Segoe UI"/>
              </a:rPr>
              <a:t>worker, </a:t>
            </a:r>
            <a:r>
              <a:rPr lang="en-US" sz="2800" b="0" i="0" dirty="0">
                <a:solidFill>
                  <a:srgbClr val="CDCAC5"/>
                </a:solidFill>
                <a:latin typeface="Segoe UI"/>
              </a:rPr>
              <a:t>but how do we</a:t>
            </a:r>
            <a:r>
              <a:rPr sz="2800" b="0" i="0" dirty="0">
                <a:solidFill>
                  <a:srgbClr val="CDCAC5"/>
                </a:solidFill>
                <a:latin typeface="Segoe UI"/>
              </a:rPr>
              <a:t> hold it accountable</a:t>
            </a:r>
            <a:r>
              <a:rPr lang="en-US" sz="2800" b="0" i="0" dirty="0">
                <a:solidFill>
                  <a:srgbClr val="CDCAC5"/>
                </a:solidFill>
                <a:latin typeface="Segoe UI"/>
              </a:rPr>
              <a:t>?</a:t>
            </a:r>
            <a:endParaRPr sz="2800" b="0" i="0" dirty="0">
              <a:solidFill>
                <a:srgbClr val="CDCAC5"/>
              </a:solidFill>
              <a:latin typeface="Segoe UI"/>
            </a:endParaRPr>
          </a:p>
        </p:txBody>
      </p:sp>
      <p:sp>
        <p:nvSpPr>
          <p:cNvPr id="7" name="TextBox 6"/>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8" name="TextBox 7"/>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03504"/>
            <a:ext cx="10362895" cy="201168"/>
          </a:xfrm>
          <a:prstGeom prst="rect">
            <a:avLst/>
          </a:prstGeom>
          <a:noFill/>
        </p:spPr>
        <p:txBody>
          <a:bodyPr wrap="square" lIns="0" tIns="0" rIns="0" bIns="0" anchor="t">
            <a:spAutoFit/>
          </a:bodyPr>
          <a:lstStyle/>
          <a:p>
            <a:pPr algn="l">
              <a:spcAft>
                <a:spcPts val="0"/>
              </a:spcAft>
            </a:pPr>
            <a:r>
              <a:rPr sz="1050" b="1" i="0">
                <a:solidFill>
                  <a:srgbClr val="706B64"/>
                </a:solidFill>
                <a:latin typeface="Segoe UI"/>
              </a:rPr>
              <a:t>THE STALL</a:t>
            </a:r>
          </a:p>
        </p:txBody>
      </p:sp>
      <p:sp>
        <p:nvSpPr>
          <p:cNvPr id="4" name="TextBox 3"/>
          <p:cNvSpPr txBox="1"/>
          <p:nvPr/>
        </p:nvSpPr>
        <p:spPr>
          <a:xfrm>
            <a:off x="914400" y="950976"/>
            <a:ext cx="10362895" cy="1071640"/>
          </a:xfrm>
          <a:prstGeom prst="rect">
            <a:avLst/>
          </a:prstGeom>
          <a:noFill/>
        </p:spPr>
        <p:txBody>
          <a:bodyPr wrap="square" lIns="0" tIns="0" rIns="0" bIns="0" anchor="t">
            <a:spAutoFit/>
          </a:bodyPr>
          <a:lstStyle/>
          <a:p>
            <a:pPr algn="l">
              <a:lnSpc>
                <a:spcPct val="106000"/>
              </a:lnSpc>
              <a:spcAft>
                <a:spcPts val="0"/>
              </a:spcAft>
            </a:pPr>
            <a:r>
              <a:rPr sz="3400" b="0" i="0" dirty="0">
                <a:solidFill>
                  <a:srgbClr val="1C1712"/>
                </a:solidFill>
                <a:latin typeface="Georgia"/>
              </a:rPr>
              <a:t>Almost everyone has bought</a:t>
            </a:r>
            <a:r>
              <a:rPr lang="en-US" sz="3400" b="0" i="0" dirty="0">
                <a:solidFill>
                  <a:srgbClr val="1C1712"/>
                </a:solidFill>
                <a:latin typeface="Georgia"/>
              </a:rPr>
              <a:t> AI</a:t>
            </a:r>
            <a:r>
              <a:rPr sz="3400" b="0" i="0" dirty="0">
                <a:solidFill>
                  <a:srgbClr val="1C1712"/>
                </a:solidFill>
                <a:latin typeface="Georgia"/>
              </a:rPr>
              <a:t>. Almost nobody has shipped.</a:t>
            </a:r>
          </a:p>
        </p:txBody>
      </p:sp>
      <p:sp>
        <p:nvSpPr>
          <p:cNvPr id="5" name="Rectangle 4"/>
          <p:cNvSpPr/>
          <p:nvPr/>
        </p:nvSpPr>
        <p:spPr>
          <a:xfrm>
            <a:off x="914400" y="2139696"/>
            <a:ext cx="10362895" cy="0"/>
          </a:xfrm>
          <a:prstGeom prst="rect">
            <a:avLst/>
          </a:prstGeom>
          <a:noFill/>
          <a:ln w="9525">
            <a:solidFill>
              <a:srgbClr val="CD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7" name="TextBox 6"/>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3</a:t>
            </a:r>
          </a:p>
        </p:txBody>
      </p:sp>
      <p:sp>
        <p:nvSpPr>
          <p:cNvPr id="8" name="Rectangle 7"/>
          <p:cNvSpPr/>
          <p:nvPr/>
        </p:nvSpPr>
        <p:spPr>
          <a:xfrm>
            <a:off x="914400" y="2505456"/>
            <a:ext cx="4937760" cy="2286000"/>
          </a:xfrm>
          <a:prstGeom prst="rect">
            <a:avLst/>
          </a:prstGeom>
          <a:solidFill>
            <a:srgbClr val="F9F7F4"/>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25880" y="2916936"/>
            <a:ext cx="4114800" cy="1005840"/>
          </a:xfrm>
          <a:prstGeom prst="rect">
            <a:avLst/>
          </a:prstGeom>
          <a:noFill/>
        </p:spPr>
        <p:txBody>
          <a:bodyPr wrap="square" lIns="0" tIns="0" rIns="0" bIns="0" anchor="t">
            <a:spAutoFit/>
          </a:bodyPr>
          <a:lstStyle/>
          <a:p>
            <a:pPr algn="l">
              <a:spcAft>
                <a:spcPts val="0"/>
              </a:spcAft>
            </a:pPr>
            <a:r>
              <a:rPr sz="6800" b="0" i="0">
                <a:solidFill>
                  <a:srgbClr val="1C1712"/>
                </a:solidFill>
                <a:latin typeface="Segoe UI"/>
              </a:rPr>
              <a:t>79%</a:t>
            </a:r>
          </a:p>
        </p:txBody>
      </p:sp>
      <p:sp>
        <p:nvSpPr>
          <p:cNvPr id="10" name="TextBox 9"/>
          <p:cNvSpPr txBox="1"/>
          <p:nvPr/>
        </p:nvSpPr>
        <p:spPr>
          <a:xfrm>
            <a:off x="1325880" y="3986784"/>
            <a:ext cx="4114800" cy="548640"/>
          </a:xfrm>
          <a:prstGeom prst="rect">
            <a:avLst/>
          </a:prstGeom>
          <a:noFill/>
        </p:spPr>
        <p:txBody>
          <a:bodyPr wrap="square" lIns="0" tIns="0" rIns="0" bIns="0" anchor="t">
            <a:spAutoFit/>
          </a:bodyPr>
          <a:lstStyle/>
          <a:p>
            <a:pPr algn="l">
              <a:lnSpc>
                <a:spcPct val="130000"/>
              </a:lnSpc>
              <a:spcAft>
                <a:spcPts val="0"/>
              </a:spcAft>
            </a:pPr>
            <a:r>
              <a:rPr sz="1600" b="0" i="0">
                <a:solidFill>
                  <a:srgbClr val="5A544E"/>
                </a:solidFill>
                <a:latin typeface="Segoe UI"/>
              </a:rPr>
              <a:t>have adopted AI agents</a:t>
            </a:r>
          </a:p>
        </p:txBody>
      </p:sp>
      <p:sp>
        <p:nvSpPr>
          <p:cNvPr id="11" name="Rectangle 10"/>
          <p:cNvSpPr/>
          <p:nvPr/>
        </p:nvSpPr>
        <p:spPr>
          <a:xfrm>
            <a:off x="6309360" y="2505456"/>
            <a:ext cx="4965192" cy="2286000"/>
          </a:xfrm>
          <a:prstGeom prst="rect">
            <a:avLst/>
          </a:prstGeom>
          <a:solidFill>
            <a:srgbClr val="FFFFFF"/>
          </a:solidFill>
          <a:ln w="15240">
            <a:solidFill>
              <a:srgbClr val="1F5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0840" y="2916936"/>
            <a:ext cx="4114800" cy="1005840"/>
          </a:xfrm>
          <a:prstGeom prst="rect">
            <a:avLst/>
          </a:prstGeom>
          <a:noFill/>
        </p:spPr>
        <p:txBody>
          <a:bodyPr wrap="square" lIns="0" tIns="0" rIns="0" bIns="0" anchor="t">
            <a:spAutoFit/>
          </a:bodyPr>
          <a:lstStyle/>
          <a:p>
            <a:pPr algn="l">
              <a:spcAft>
                <a:spcPts val="0"/>
              </a:spcAft>
            </a:pPr>
            <a:r>
              <a:rPr sz="6800" b="0" i="0">
                <a:solidFill>
                  <a:srgbClr val="1F5390"/>
                </a:solidFill>
                <a:latin typeface="Segoe UI"/>
              </a:rPr>
              <a:t>11%</a:t>
            </a:r>
          </a:p>
        </p:txBody>
      </p:sp>
      <p:sp>
        <p:nvSpPr>
          <p:cNvPr id="13" name="TextBox 12"/>
          <p:cNvSpPr txBox="1"/>
          <p:nvPr/>
        </p:nvSpPr>
        <p:spPr>
          <a:xfrm>
            <a:off x="6720840" y="3986784"/>
            <a:ext cx="4114800" cy="548640"/>
          </a:xfrm>
          <a:prstGeom prst="rect">
            <a:avLst/>
          </a:prstGeom>
          <a:noFill/>
        </p:spPr>
        <p:txBody>
          <a:bodyPr wrap="square" lIns="0" tIns="0" rIns="0" bIns="0" anchor="t">
            <a:spAutoFit/>
          </a:bodyPr>
          <a:lstStyle/>
          <a:p>
            <a:pPr algn="l">
              <a:lnSpc>
                <a:spcPct val="130000"/>
              </a:lnSpc>
              <a:spcAft>
                <a:spcPts val="0"/>
              </a:spcAft>
            </a:pPr>
            <a:r>
              <a:rPr sz="1600" b="0" i="0">
                <a:solidFill>
                  <a:srgbClr val="5A544E"/>
                </a:solidFill>
                <a:latin typeface="Segoe UI"/>
              </a:rPr>
              <a:t>run them in production</a:t>
            </a:r>
          </a:p>
        </p:txBody>
      </p:sp>
      <p:sp>
        <p:nvSpPr>
          <p:cNvPr id="14" name="TextBox 13"/>
          <p:cNvSpPr txBox="1"/>
          <p:nvPr/>
        </p:nvSpPr>
        <p:spPr>
          <a:xfrm>
            <a:off x="914400" y="5202936"/>
            <a:ext cx="10362895" cy="640080"/>
          </a:xfrm>
          <a:prstGeom prst="rect">
            <a:avLst/>
          </a:prstGeom>
          <a:noFill/>
        </p:spPr>
        <p:txBody>
          <a:bodyPr wrap="square" lIns="0" tIns="0" rIns="0" bIns="0" anchor="t">
            <a:spAutoFit/>
          </a:bodyPr>
          <a:lstStyle/>
          <a:p>
            <a:pPr algn="l">
              <a:lnSpc>
                <a:spcPct val="135000"/>
              </a:lnSpc>
              <a:spcAft>
                <a:spcPts val="0"/>
              </a:spcAft>
            </a:pPr>
            <a:r>
              <a:rPr sz="1600" b="0" i="0">
                <a:solidFill>
                  <a:srgbClr val="5A544E"/>
                </a:solidFill>
                <a:latin typeface="Segoe UI"/>
              </a:rPr>
              <a:t>Gartner expects 40% of agentic projects to be cancelled by 2027. The reason it gives is </a:t>
            </a:r>
            <a:r>
              <a:rPr sz="1600" b="1" i="0">
                <a:solidFill>
                  <a:srgbClr val="1C1712"/>
                </a:solidFill>
                <a:latin typeface="Segoe UI"/>
              </a:rPr>
              <a:t>weak governance</a:t>
            </a:r>
            <a:r>
              <a:rPr sz="1600" b="0" i="0">
                <a:solidFill>
                  <a:srgbClr val="5A544E"/>
                </a:solidFill>
                <a:latin typeface="Segoe UI"/>
              </a:rPr>
              <a:t>.</a:t>
            </a:r>
          </a:p>
        </p:txBody>
      </p:sp>
      <p:sp>
        <p:nvSpPr>
          <p:cNvPr id="15" name="TextBox 14"/>
          <p:cNvSpPr txBox="1"/>
          <p:nvPr/>
        </p:nvSpPr>
        <p:spPr>
          <a:xfrm>
            <a:off x="914400" y="6016752"/>
            <a:ext cx="10362895" cy="329184"/>
          </a:xfrm>
          <a:prstGeom prst="rect">
            <a:avLst/>
          </a:prstGeom>
          <a:noFill/>
        </p:spPr>
        <p:txBody>
          <a:bodyPr wrap="square" lIns="0" tIns="0" rIns="0" bIns="0" anchor="t">
            <a:spAutoFit/>
          </a:bodyPr>
          <a:lstStyle/>
          <a:p>
            <a:pPr algn="l">
              <a:lnSpc>
                <a:spcPct val="125000"/>
              </a:lnSpc>
              <a:spcAft>
                <a:spcPts val="0"/>
              </a:spcAft>
            </a:pPr>
            <a:r>
              <a:rPr sz="900" b="0" i="0">
                <a:solidFill>
                  <a:srgbClr val="A29E98"/>
                </a:solidFill>
                <a:latin typeface="Segoe UI"/>
              </a:rPr>
              <a:t>Sources: enterprise AI agent adoption surveys, 2026; Gartner,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03504"/>
            <a:ext cx="10362895" cy="201168"/>
          </a:xfrm>
          <a:prstGeom prst="rect">
            <a:avLst/>
          </a:prstGeom>
          <a:noFill/>
        </p:spPr>
        <p:txBody>
          <a:bodyPr wrap="square" lIns="0" tIns="0" rIns="0" bIns="0" anchor="t">
            <a:spAutoFit/>
          </a:bodyPr>
          <a:lstStyle/>
          <a:p>
            <a:pPr algn="l">
              <a:spcAft>
                <a:spcPts val="0"/>
              </a:spcAft>
            </a:pPr>
            <a:r>
              <a:rPr sz="1050" b="1" i="0">
                <a:solidFill>
                  <a:srgbClr val="706B64"/>
                </a:solidFill>
                <a:latin typeface="Segoe UI"/>
              </a:rPr>
              <a:t>THE BUYER</a:t>
            </a:r>
          </a:p>
        </p:txBody>
      </p:sp>
      <p:sp>
        <p:nvSpPr>
          <p:cNvPr id="4" name="TextBox 3"/>
          <p:cNvSpPr txBox="1"/>
          <p:nvPr/>
        </p:nvSpPr>
        <p:spPr>
          <a:xfrm>
            <a:off x="914400" y="950976"/>
            <a:ext cx="10362895" cy="517001"/>
          </a:xfrm>
          <a:prstGeom prst="rect">
            <a:avLst/>
          </a:prstGeom>
          <a:noFill/>
        </p:spPr>
        <p:txBody>
          <a:bodyPr wrap="square" lIns="0" tIns="0" rIns="0" bIns="0" anchor="t">
            <a:spAutoFit/>
          </a:bodyPr>
          <a:lstStyle/>
          <a:p>
            <a:pPr algn="l">
              <a:lnSpc>
                <a:spcPct val="106000"/>
              </a:lnSpc>
              <a:spcAft>
                <a:spcPts val="0"/>
              </a:spcAft>
            </a:pPr>
            <a:r>
              <a:rPr sz="3400" b="0" i="0" dirty="0">
                <a:solidFill>
                  <a:srgbClr val="1C1712"/>
                </a:solidFill>
                <a:latin typeface="Georgia"/>
              </a:rPr>
              <a:t>The money leaves, and </a:t>
            </a:r>
            <a:r>
              <a:rPr lang="en-US" sz="3400" dirty="0">
                <a:solidFill>
                  <a:srgbClr val="1C1712"/>
                </a:solidFill>
                <a:latin typeface="Georgia"/>
              </a:rPr>
              <a:t>you</a:t>
            </a:r>
            <a:r>
              <a:rPr sz="3400" b="0" i="0" dirty="0">
                <a:solidFill>
                  <a:srgbClr val="1C1712"/>
                </a:solidFill>
                <a:latin typeface="Georgia"/>
              </a:rPr>
              <a:t> find out sixty days later.</a:t>
            </a:r>
          </a:p>
        </p:txBody>
      </p:sp>
      <p:sp>
        <p:nvSpPr>
          <p:cNvPr id="5" name="Rectangle 4"/>
          <p:cNvSpPr/>
          <p:nvPr/>
        </p:nvSpPr>
        <p:spPr>
          <a:xfrm>
            <a:off x="914400" y="2139696"/>
            <a:ext cx="10362895" cy="0"/>
          </a:xfrm>
          <a:prstGeom prst="rect">
            <a:avLst/>
          </a:prstGeom>
          <a:noFill/>
          <a:ln w="9525">
            <a:solidFill>
              <a:srgbClr val="CD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7" name="TextBox 6"/>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4</a:t>
            </a:r>
          </a:p>
        </p:txBody>
      </p:sp>
      <p:sp>
        <p:nvSpPr>
          <p:cNvPr id="8" name="TextBox 7"/>
          <p:cNvSpPr txBox="1"/>
          <p:nvPr/>
        </p:nvSpPr>
        <p:spPr>
          <a:xfrm>
            <a:off x="914400" y="2505456"/>
            <a:ext cx="6126480" cy="2377440"/>
          </a:xfrm>
          <a:prstGeom prst="rect">
            <a:avLst/>
          </a:prstGeom>
          <a:noFill/>
        </p:spPr>
        <p:txBody>
          <a:bodyPr wrap="square" lIns="0" tIns="0" rIns="0" bIns="0" anchor="t">
            <a:spAutoFit/>
          </a:bodyPr>
          <a:lstStyle/>
          <a:p>
            <a:pPr algn="l">
              <a:lnSpc>
                <a:spcPct val="140000"/>
              </a:lnSpc>
              <a:spcAft>
                <a:spcPts val="1800"/>
              </a:spcAft>
            </a:pPr>
            <a:r>
              <a:rPr sz="1800" b="0" i="0">
                <a:solidFill>
                  <a:srgbClr val="5A544E"/>
                </a:solidFill>
                <a:latin typeface="Segoe UI"/>
              </a:rPr>
              <a:t>A controller approves </a:t>
            </a:r>
            <a:r>
              <a:rPr sz="1800" b="1" i="0">
                <a:solidFill>
                  <a:srgbClr val="1C1712"/>
                </a:solidFill>
                <a:latin typeface="Segoe UI"/>
              </a:rPr>
              <a:t>6,000 invoices a month</a:t>
            </a:r>
            <a:r>
              <a:rPr sz="1800" b="0" i="0">
                <a:solidFill>
                  <a:srgbClr val="5A544E"/>
                </a:solidFill>
                <a:latin typeface="Segoe UI"/>
              </a:rPr>
              <a:t>. She already knows some are duplicates.</a:t>
            </a:r>
          </a:p>
          <a:p>
            <a:pPr algn="l">
              <a:lnSpc>
                <a:spcPct val="140000"/>
              </a:lnSpc>
              <a:spcAft>
                <a:spcPts val="1800"/>
              </a:spcAft>
            </a:pPr>
            <a:r>
              <a:rPr sz="1800" b="0" i="0">
                <a:solidFill>
                  <a:srgbClr val="5A544E"/>
                </a:solidFill>
                <a:latin typeface="Segoe UI"/>
              </a:rPr>
              <a:t>She learns which ones from an outside audit firm that keeps a share of what it recovers.</a:t>
            </a:r>
          </a:p>
        </p:txBody>
      </p:sp>
      <p:sp>
        <p:nvSpPr>
          <p:cNvPr id="9" name="Rectangle 8"/>
          <p:cNvSpPr/>
          <p:nvPr/>
        </p:nvSpPr>
        <p:spPr>
          <a:xfrm>
            <a:off x="7589520" y="2459736"/>
            <a:ext cx="3685032" cy="2286000"/>
          </a:xfrm>
          <a:prstGeom prst="rect">
            <a:avLst/>
          </a:prstGeom>
          <a:solidFill>
            <a:srgbClr val="F9F7F4"/>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2743200"/>
            <a:ext cx="3108960" cy="274320"/>
          </a:xfrm>
          <a:prstGeom prst="rect">
            <a:avLst/>
          </a:prstGeom>
          <a:noFill/>
        </p:spPr>
        <p:txBody>
          <a:bodyPr wrap="square" lIns="0" tIns="0" rIns="0" bIns="0" anchor="t">
            <a:spAutoFit/>
          </a:bodyPr>
          <a:lstStyle/>
          <a:p>
            <a:pPr algn="l">
              <a:spcAft>
                <a:spcPts val="0"/>
              </a:spcAft>
            </a:pPr>
            <a:r>
              <a:rPr sz="1000" b="1" i="0">
                <a:solidFill>
                  <a:srgbClr val="706B64"/>
                </a:solidFill>
                <a:latin typeface="Segoe UI"/>
              </a:rPr>
              <a:t>OFFERED TODAY</a:t>
            </a:r>
          </a:p>
        </p:txBody>
      </p:sp>
      <p:sp>
        <p:nvSpPr>
          <p:cNvPr id="11" name="Rectangle 10"/>
          <p:cNvSpPr/>
          <p:nvPr/>
        </p:nvSpPr>
        <p:spPr>
          <a:xfrm>
            <a:off x="7863840" y="3291840"/>
            <a:ext cx="77724" cy="77724"/>
          </a:xfrm>
          <a:prstGeom prst="rect">
            <a:avLst/>
          </a:prstGeom>
          <a:solidFill>
            <a:srgbClr val="99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0" y="3200400"/>
            <a:ext cx="2834640" cy="274320"/>
          </a:xfrm>
          <a:prstGeom prst="rect">
            <a:avLst/>
          </a:prstGeom>
          <a:noFill/>
        </p:spPr>
        <p:txBody>
          <a:bodyPr wrap="square" lIns="0" tIns="0" rIns="0" bIns="0" anchor="t">
            <a:spAutoFit/>
          </a:bodyPr>
          <a:lstStyle/>
          <a:p>
            <a:pPr algn="l">
              <a:lnSpc>
                <a:spcPct val="134000"/>
              </a:lnSpc>
              <a:spcAft>
                <a:spcPts val="0"/>
              </a:spcAft>
            </a:pPr>
            <a:r>
              <a:rPr sz="1300" b="0" i="0">
                <a:solidFill>
                  <a:srgbClr val="5A544E"/>
                </a:solidFill>
                <a:latin typeface="Segoe UI"/>
              </a:rPr>
              <a:t>An assistant she must supervise</a:t>
            </a:r>
          </a:p>
        </p:txBody>
      </p:sp>
      <p:sp>
        <p:nvSpPr>
          <p:cNvPr id="13" name="Rectangle 12"/>
          <p:cNvSpPr/>
          <p:nvPr/>
        </p:nvSpPr>
        <p:spPr>
          <a:xfrm>
            <a:off x="7863840" y="3730752"/>
            <a:ext cx="77724" cy="77724"/>
          </a:xfrm>
          <a:prstGeom prst="rect">
            <a:avLst/>
          </a:prstGeom>
          <a:solidFill>
            <a:srgbClr val="99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3639312"/>
            <a:ext cx="2834640" cy="548640"/>
          </a:xfrm>
          <a:prstGeom prst="rect">
            <a:avLst/>
          </a:prstGeom>
          <a:noFill/>
        </p:spPr>
        <p:txBody>
          <a:bodyPr wrap="square" lIns="0" tIns="0" rIns="0" bIns="0" anchor="t">
            <a:spAutoFit/>
          </a:bodyPr>
          <a:lstStyle/>
          <a:p>
            <a:pPr algn="l">
              <a:lnSpc>
                <a:spcPct val="134000"/>
              </a:lnSpc>
              <a:spcAft>
                <a:spcPts val="0"/>
              </a:spcAft>
            </a:pPr>
            <a:r>
              <a:rPr sz="1300" b="0" i="0">
                <a:solidFill>
                  <a:srgbClr val="5A544E"/>
                </a:solidFill>
                <a:latin typeface="Segoe UI"/>
              </a:rPr>
              <a:t>A chat box with no record of who decided</a:t>
            </a:r>
          </a:p>
        </p:txBody>
      </p:sp>
      <p:sp>
        <p:nvSpPr>
          <p:cNvPr id="15" name="Rectangle 14"/>
          <p:cNvSpPr/>
          <p:nvPr/>
        </p:nvSpPr>
        <p:spPr>
          <a:xfrm>
            <a:off x="7863840" y="4425696"/>
            <a:ext cx="77724" cy="77724"/>
          </a:xfrm>
          <a:prstGeom prst="rect">
            <a:avLst/>
          </a:prstGeom>
          <a:solidFill>
            <a:srgbClr val="99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4334256"/>
            <a:ext cx="2834640" cy="274320"/>
          </a:xfrm>
          <a:prstGeom prst="rect">
            <a:avLst/>
          </a:prstGeom>
          <a:noFill/>
        </p:spPr>
        <p:txBody>
          <a:bodyPr wrap="square" lIns="0" tIns="0" rIns="0" bIns="0" anchor="t">
            <a:spAutoFit/>
          </a:bodyPr>
          <a:lstStyle/>
          <a:p>
            <a:pPr algn="l">
              <a:lnSpc>
                <a:spcPct val="134000"/>
              </a:lnSpc>
              <a:spcAft>
                <a:spcPts val="0"/>
              </a:spcAft>
            </a:pPr>
            <a:r>
              <a:rPr sz="1300" b="0" i="0">
                <a:solidFill>
                  <a:srgbClr val="5A544E"/>
                </a:solidFill>
                <a:latin typeface="Segoe UI"/>
              </a:rPr>
              <a:t>A pilot her auditors reject</a:t>
            </a:r>
          </a:p>
        </p:txBody>
      </p:sp>
      <p:sp>
        <p:nvSpPr>
          <p:cNvPr id="17" name="TextBox 16"/>
          <p:cNvSpPr txBox="1"/>
          <p:nvPr/>
        </p:nvSpPr>
        <p:spPr>
          <a:xfrm>
            <a:off x="914400" y="4992624"/>
            <a:ext cx="10362895" cy="332720"/>
          </a:xfrm>
          <a:prstGeom prst="rect">
            <a:avLst/>
          </a:prstGeom>
          <a:noFill/>
        </p:spPr>
        <p:txBody>
          <a:bodyPr wrap="square" lIns="0" tIns="0" rIns="0" bIns="0" anchor="t">
            <a:spAutoFit/>
          </a:bodyPr>
          <a:lstStyle/>
          <a:p>
            <a:pPr algn="l">
              <a:lnSpc>
                <a:spcPct val="135000"/>
              </a:lnSpc>
              <a:spcAft>
                <a:spcPts val="0"/>
              </a:spcAft>
            </a:pPr>
            <a:r>
              <a:rPr sz="1800" b="1" i="0" dirty="0">
                <a:solidFill>
                  <a:srgbClr val="1C1712"/>
                </a:solidFill>
                <a:latin typeface="Segoe UI"/>
              </a:rPr>
              <a:t>She does not need a smarter model. She needs a name </a:t>
            </a:r>
            <a:r>
              <a:rPr lang="en-US" sz="1800" b="1" i="0" dirty="0">
                <a:solidFill>
                  <a:srgbClr val="1C1712"/>
                </a:solidFill>
                <a:latin typeface="Segoe UI"/>
              </a:rPr>
              <a:t>to hold accountable</a:t>
            </a:r>
            <a:r>
              <a:rPr sz="1800" b="1" i="0" dirty="0">
                <a:solidFill>
                  <a:srgbClr val="1C1712"/>
                </a:solidFill>
                <a:latin typeface="Segoe UI"/>
              </a:rPr>
              <a:t>.</a:t>
            </a:r>
          </a:p>
        </p:txBody>
      </p:sp>
      <p:sp>
        <p:nvSpPr>
          <p:cNvPr id="18" name="TextBox 17"/>
          <p:cNvSpPr txBox="1"/>
          <p:nvPr/>
        </p:nvSpPr>
        <p:spPr>
          <a:xfrm>
            <a:off x="914400" y="6016752"/>
            <a:ext cx="10362895" cy="329184"/>
          </a:xfrm>
          <a:prstGeom prst="rect">
            <a:avLst/>
          </a:prstGeom>
          <a:noFill/>
        </p:spPr>
        <p:txBody>
          <a:bodyPr wrap="square" lIns="0" tIns="0" rIns="0" bIns="0" anchor="t">
            <a:spAutoFit/>
          </a:bodyPr>
          <a:lstStyle/>
          <a:p>
            <a:pPr algn="l">
              <a:lnSpc>
                <a:spcPct val="125000"/>
              </a:lnSpc>
              <a:spcAft>
                <a:spcPts val="0"/>
              </a:spcAft>
            </a:pPr>
            <a:r>
              <a:rPr sz="900" b="0" i="0">
                <a:solidFill>
                  <a:srgbClr val="A29E98"/>
                </a:solidFill>
                <a:latin typeface="Segoe UI"/>
              </a:rPr>
              <a:t>Duplicate payments run 0.1% to 2% of AP spend. Sources: APQC Open Standards Benchmarking; AP recovery audit benchmarks,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148840"/>
            <a:ext cx="10362895" cy="274320"/>
          </a:xfrm>
          <a:prstGeom prst="rect">
            <a:avLst/>
          </a:prstGeom>
          <a:noFill/>
        </p:spPr>
        <p:txBody>
          <a:bodyPr wrap="square" lIns="0" tIns="0" rIns="0" bIns="0" anchor="t">
            <a:spAutoFit/>
          </a:bodyPr>
          <a:lstStyle/>
          <a:p>
            <a:pPr algn="l">
              <a:spcAft>
                <a:spcPts val="0"/>
              </a:spcAft>
            </a:pPr>
            <a:r>
              <a:rPr sz="1100" b="1" i="0">
                <a:solidFill>
                  <a:srgbClr val="A29E98"/>
                </a:solidFill>
                <a:latin typeface="Segoe UI"/>
              </a:rPr>
              <a:t>ACT TWO</a:t>
            </a:r>
          </a:p>
        </p:txBody>
      </p:sp>
      <p:sp>
        <p:nvSpPr>
          <p:cNvPr id="5" name="TextBox 4"/>
          <p:cNvSpPr txBox="1"/>
          <p:nvPr/>
        </p:nvSpPr>
        <p:spPr>
          <a:xfrm>
            <a:off x="914400" y="2606040"/>
            <a:ext cx="10058400" cy="685800"/>
          </a:xfrm>
          <a:prstGeom prst="rect">
            <a:avLst/>
          </a:prstGeom>
          <a:noFill/>
        </p:spPr>
        <p:txBody>
          <a:bodyPr wrap="square" lIns="0" tIns="0" rIns="0" bIns="0" anchor="t">
            <a:spAutoFit/>
          </a:bodyPr>
          <a:lstStyle/>
          <a:p>
            <a:pPr algn="l">
              <a:lnSpc>
                <a:spcPct val="110000"/>
              </a:lnSpc>
              <a:spcAft>
                <a:spcPts val="0"/>
              </a:spcAft>
            </a:pPr>
            <a:r>
              <a:rPr sz="4400" b="0" i="0">
                <a:solidFill>
                  <a:srgbClr val="FEFDFC"/>
                </a:solidFill>
                <a:latin typeface="Georgia"/>
              </a:rPr>
              <a:t>How we solve it</a:t>
            </a:r>
          </a:p>
        </p:txBody>
      </p:sp>
      <p:sp>
        <p:nvSpPr>
          <p:cNvPr id="6" name="TextBox 5"/>
          <p:cNvSpPr txBox="1"/>
          <p:nvPr/>
        </p:nvSpPr>
        <p:spPr>
          <a:xfrm>
            <a:off x="914400" y="3465576"/>
            <a:ext cx="8778240" cy="1256306"/>
          </a:xfrm>
          <a:prstGeom prst="rect">
            <a:avLst/>
          </a:prstGeom>
          <a:noFill/>
        </p:spPr>
        <p:txBody>
          <a:bodyPr wrap="square" lIns="0" tIns="0" rIns="0" bIns="0" anchor="t">
            <a:spAutoFit/>
          </a:bodyPr>
          <a:lstStyle/>
          <a:p>
            <a:pPr algn="l">
              <a:lnSpc>
                <a:spcPct val="135000"/>
              </a:lnSpc>
              <a:spcAft>
                <a:spcPts val="0"/>
              </a:spcAft>
            </a:pPr>
            <a:r>
              <a:rPr sz="3200" b="0" i="0" dirty="0">
                <a:solidFill>
                  <a:srgbClr val="CDCAC5"/>
                </a:solidFill>
                <a:latin typeface="Segoe UI"/>
              </a:rPr>
              <a:t>Narrow agents that do the work, and a governance layer that makes them accountable</a:t>
            </a:r>
            <a:r>
              <a:rPr sz="1600" b="0" i="0" dirty="0">
                <a:solidFill>
                  <a:srgbClr val="CDCAC5"/>
                </a:solidFill>
                <a:latin typeface="Segoe UI"/>
              </a:rPr>
              <a:t>.</a:t>
            </a:r>
          </a:p>
        </p:txBody>
      </p:sp>
      <p:sp>
        <p:nvSpPr>
          <p:cNvPr id="7" name="TextBox 6"/>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8" name="TextBox 7"/>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03504"/>
            <a:ext cx="10362895" cy="201168"/>
          </a:xfrm>
          <a:prstGeom prst="rect">
            <a:avLst/>
          </a:prstGeom>
          <a:noFill/>
        </p:spPr>
        <p:txBody>
          <a:bodyPr wrap="square" lIns="0" tIns="0" rIns="0" bIns="0" anchor="t">
            <a:spAutoFit/>
          </a:bodyPr>
          <a:lstStyle/>
          <a:p>
            <a:pPr algn="l">
              <a:spcAft>
                <a:spcPts val="0"/>
              </a:spcAft>
            </a:pPr>
            <a:r>
              <a:rPr sz="1050" b="1" i="0">
                <a:solidFill>
                  <a:srgbClr val="706B64"/>
                </a:solidFill>
                <a:latin typeface="Segoe UI"/>
              </a:rPr>
              <a:t>THE MECHANIC</a:t>
            </a:r>
          </a:p>
        </p:txBody>
      </p:sp>
      <p:sp>
        <p:nvSpPr>
          <p:cNvPr id="4" name="TextBox 3"/>
          <p:cNvSpPr txBox="1"/>
          <p:nvPr/>
        </p:nvSpPr>
        <p:spPr>
          <a:xfrm>
            <a:off x="914400" y="950976"/>
            <a:ext cx="10362895" cy="1060704"/>
          </a:xfrm>
          <a:prstGeom prst="rect">
            <a:avLst/>
          </a:prstGeom>
          <a:noFill/>
        </p:spPr>
        <p:txBody>
          <a:bodyPr wrap="square" lIns="0" tIns="0" rIns="0" bIns="0" anchor="t">
            <a:spAutoFit/>
          </a:bodyPr>
          <a:lstStyle/>
          <a:p>
            <a:pPr algn="l">
              <a:lnSpc>
                <a:spcPct val="106000"/>
              </a:lnSpc>
              <a:spcAft>
                <a:spcPts val="0"/>
              </a:spcAft>
            </a:pPr>
            <a:r>
              <a:rPr sz="3400" b="0" i="0">
                <a:solidFill>
                  <a:srgbClr val="1C1712"/>
                </a:solidFill>
                <a:latin typeface="Georgia"/>
              </a:rPr>
              <a:t>Agents do the work. A question box stops at a human.</a:t>
            </a:r>
          </a:p>
        </p:txBody>
      </p:sp>
      <p:sp>
        <p:nvSpPr>
          <p:cNvPr id="5" name="Rectangle 4"/>
          <p:cNvSpPr/>
          <p:nvPr/>
        </p:nvSpPr>
        <p:spPr>
          <a:xfrm>
            <a:off x="914400" y="2139696"/>
            <a:ext cx="10362895" cy="0"/>
          </a:xfrm>
          <a:prstGeom prst="rect">
            <a:avLst/>
          </a:prstGeom>
          <a:noFill/>
          <a:ln w="9525">
            <a:solidFill>
              <a:srgbClr val="CD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7" name="TextBox 6"/>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6</a:t>
            </a:r>
          </a:p>
        </p:txBody>
      </p:sp>
      <p:sp>
        <p:nvSpPr>
          <p:cNvPr id="8" name="Rectangle 7"/>
          <p:cNvSpPr/>
          <p:nvPr/>
        </p:nvSpPr>
        <p:spPr>
          <a:xfrm>
            <a:off x="914400" y="2505456"/>
            <a:ext cx="4846320" cy="2194560"/>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2505456"/>
            <a:ext cx="4846320" cy="36576"/>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2916936"/>
            <a:ext cx="4114800" cy="457200"/>
          </a:xfrm>
          <a:prstGeom prst="rect">
            <a:avLst/>
          </a:prstGeom>
          <a:noFill/>
        </p:spPr>
        <p:txBody>
          <a:bodyPr wrap="square" lIns="0" tIns="0" rIns="0" bIns="0" anchor="t">
            <a:spAutoFit/>
          </a:bodyPr>
          <a:lstStyle/>
          <a:p>
            <a:pPr algn="l">
              <a:spcAft>
                <a:spcPts val="0"/>
              </a:spcAft>
            </a:pPr>
            <a:r>
              <a:rPr sz="2200" b="1" i="0">
                <a:solidFill>
                  <a:srgbClr val="1C1712"/>
                </a:solidFill>
                <a:latin typeface="Segoe UI"/>
              </a:rPr>
              <a:t>Twelve agents work</a:t>
            </a:r>
          </a:p>
        </p:txBody>
      </p:sp>
      <p:sp>
        <p:nvSpPr>
          <p:cNvPr id="11" name="TextBox 10"/>
          <p:cNvSpPr txBox="1"/>
          <p:nvPr/>
        </p:nvSpPr>
        <p:spPr>
          <a:xfrm>
            <a:off x="1280160" y="3511296"/>
            <a:ext cx="4114800" cy="822960"/>
          </a:xfrm>
          <a:prstGeom prst="rect">
            <a:avLst/>
          </a:prstGeom>
          <a:noFill/>
        </p:spPr>
        <p:txBody>
          <a:bodyPr wrap="square" lIns="0" tIns="0" rIns="0" bIns="0" anchor="t">
            <a:spAutoFit/>
          </a:bodyPr>
          <a:lstStyle/>
          <a:p>
            <a:pPr algn="l">
              <a:lnSpc>
                <a:spcPct val="134000"/>
              </a:lnSpc>
              <a:spcAft>
                <a:spcPts val="0"/>
              </a:spcAft>
            </a:pPr>
            <a:r>
              <a:rPr sz="1500" b="0" i="0">
                <a:solidFill>
                  <a:srgbClr val="5A544E"/>
                </a:solidFill>
                <a:latin typeface="Segoe UI"/>
              </a:rPr>
              <a:t>Each scoped to one workflow, running continuously.</a:t>
            </a:r>
          </a:p>
        </p:txBody>
      </p:sp>
      <p:sp>
        <p:nvSpPr>
          <p:cNvPr id="12" name="TextBox 11"/>
          <p:cNvSpPr txBox="1"/>
          <p:nvPr/>
        </p:nvSpPr>
        <p:spPr>
          <a:xfrm>
            <a:off x="6053328" y="3374136"/>
            <a:ext cx="640080" cy="457200"/>
          </a:xfrm>
          <a:prstGeom prst="rect">
            <a:avLst/>
          </a:prstGeom>
          <a:noFill/>
        </p:spPr>
        <p:txBody>
          <a:bodyPr wrap="square" lIns="0" tIns="0" rIns="0" bIns="0" anchor="t">
            <a:spAutoFit/>
          </a:bodyPr>
          <a:lstStyle/>
          <a:p>
            <a:pPr algn="l">
              <a:spcAft>
                <a:spcPts val="0"/>
              </a:spcAft>
            </a:pPr>
            <a:r>
              <a:rPr sz="2800" b="0" i="0">
                <a:solidFill>
                  <a:srgbClr val="CDCAC5"/>
                </a:solidFill>
                <a:latin typeface="Segoe UI"/>
              </a:rPr>
              <a:t>→</a:t>
            </a:r>
          </a:p>
        </p:txBody>
      </p:sp>
      <p:sp>
        <p:nvSpPr>
          <p:cNvPr id="13" name="Rectangle 12"/>
          <p:cNvSpPr/>
          <p:nvPr/>
        </p:nvSpPr>
        <p:spPr>
          <a:xfrm>
            <a:off x="6720840" y="2505456"/>
            <a:ext cx="4553712" cy="2194560"/>
          </a:xfrm>
          <a:prstGeom prst="rect">
            <a:avLst/>
          </a:prstGeom>
          <a:solidFill>
            <a:srgbClr val="FFFFFF"/>
          </a:solidFill>
          <a:ln w="15240">
            <a:solidFill>
              <a:srgbClr val="1F53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720840" y="2505456"/>
            <a:ext cx="4553712" cy="36576"/>
          </a:xfrm>
          <a:prstGeom prst="rect">
            <a:avLst/>
          </a:prstGeom>
          <a:solidFill>
            <a:srgbClr val="99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86600" y="2916936"/>
            <a:ext cx="3840480" cy="457200"/>
          </a:xfrm>
          <a:prstGeom prst="rect">
            <a:avLst/>
          </a:prstGeom>
          <a:noFill/>
        </p:spPr>
        <p:txBody>
          <a:bodyPr wrap="square" lIns="0" tIns="0" rIns="0" bIns="0" anchor="t">
            <a:spAutoFit/>
          </a:bodyPr>
          <a:lstStyle/>
          <a:p>
            <a:pPr algn="l">
              <a:spcAft>
                <a:spcPts val="0"/>
              </a:spcAft>
            </a:pPr>
            <a:r>
              <a:rPr sz="2200" b="1" i="0">
                <a:solidFill>
                  <a:srgbClr val="1C1712"/>
                </a:solidFill>
                <a:latin typeface="Segoe UI"/>
              </a:rPr>
              <a:t>A person decides</a:t>
            </a:r>
          </a:p>
        </p:txBody>
      </p:sp>
      <p:sp>
        <p:nvSpPr>
          <p:cNvPr id="16" name="TextBox 15"/>
          <p:cNvSpPr txBox="1"/>
          <p:nvPr/>
        </p:nvSpPr>
        <p:spPr>
          <a:xfrm>
            <a:off x="7086600" y="3511296"/>
            <a:ext cx="3840480" cy="822960"/>
          </a:xfrm>
          <a:prstGeom prst="rect">
            <a:avLst/>
          </a:prstGeom>
          <a:noFill/>
        </p:spPr>
        <p:txBody>
          <a:bodyPr wrap="square" lIns="0" tIns="0" rIns="0" bIns="0" anchor="t">
            <a:spAutoFit/>
          </a:bodyPr>
          <a:lstStyle/>
          <a:p>
            <a:pPr algn="l">
              <a:lnSpc>
                <a:spcPct val="134000"/>
              </a:lnSpc>
              <a:spcAft>
                <a:spcPts val="0"/>
              </a:spcAft>
            </a:pPr>
            <a:r>
              <a:rPr sz="1500" b="0" i="0">
                <a:solidFill>
                  <a:srgbClr val="5A544E"/>
                </a:solidFill>
                <a:latin typeface="Segoe UI"/>
              </a:rPr>
              <a:t>Anything consequential waits, with the decision recorded against a name.</a:t>
            </a:r>
          </a:p>
        </p:txBody>
      </p:sp>
      <p:sp>
        <p:nvSpPr>
          <p:cNvPr id="17" name="TextBox 16"/>
          <p:cNvSpPr txBox="1"/>
          <p:nvPr/>
        </p:nvSpPr>
        <p:spPr>
          <a:xfrm>
            <a:off x="914400" y="5065776"/>
            <a:ext cx="10362895" cy="640080"/>
          </a:xfrm>
          <a:prstGeom prst="rect">
            <a:avLst/>
          </a:prstGeom>
          <a:noFill/>
        </p:spPr>
        <p:txBody>
          <a:bodyPr wrap="square" lIns="0" tIns="0" rIns="0" bIns="0" anchor="t">
            <a:spAutoFit/>
          </a:bodyPr>
          <a:lstStyle/>
          <a:p>
            <a:pPr algn="l">
              <a:lnSpc>
                <a:spcPct val="135000"/>
              </a:lnSpc>
              <a:spcAft>
                <a:spcPts val="0"/>
              </a:spcAft>
            </a:pPr>
            <a:r>
              <a:rPr sz="1700" b="0" i="0">
                <a:solidFill>
                  <a:srgbClr val="5A544E"/>
                </a:solidFill>
                <a:latin typeface="Segoe UI"/>
              </a:rPr>
              <a:t>Enforced below the model, not written into a prompt. </a:t>
            </a:r>
            <a:r>
              <a:rPr sz="1700" b="1" i="0">
                <a:solidFill>
                  <a:srgbClr val="1C1712"/>
                </a:solidFill>
                <a:latin typeface="Segoe UI"/>
              </a:rPr>
              <a:t>That distinction is the business.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03504"/>
            <a:ext cx="10362895" cy="201168"/>
          </a:xfrm>
          <a:prstGeom prst="rect">
            <a:avLst/>
          </a:prstGeom>
          <a:noFill/>
        </p:spPr>
        <p:txBody>
          <a:bodyPr wrap="square" lIns="0" tIns="0" rIns="0" bIns="0" anchor="t">
            <a:spAutoFit/>
          </a:bodyPr>
          <a:lstStyle/>
          <a:p>
            <a:pPr algn="l">
              <a:spcAft>
                <a:spcPts val="0"/>
              </a:spcAft>
            </a:pPr>
            <a:r>
              <a:rPr sz="1050" b="1" i="0">
                <a:solidFill>
                  <a:srgbClr val="706B64"/>
                </a:solidFill>
                <a:latin typeface="Segoe UI"/>
              </a:rPr>
              <a:t>THE WORKFORCE</a:t>
            </a:r>
          </a:p>
        </p:txBody>
      </p:sp>
      <p:sp>
        <p:nvSpPr>
          <p:cNvPr id="4" name="TextBox 3"/>
          <p:cNvSpPr txBox="1"/>
          <p:nvPr/>
        </p:nvSpPr>
        <p:spPr>
          <a:xfrm>
            <a:off x="914400" y="950976"/>
            <a:ext cx="10362895" cy="1060704"/>
          </a:xfrm>
          <a:prstGeom prst="rect">
            <a:avLst/>
          </a:prstGeom>
          <a:noFill/>
        </p:spPr>
        <p:txBody>
          <a:bodyPr wrap="square" lIns="0" tIns="0" rIns="0" bIns="0" anchor="t">
            <a:spAutoFit/>
          </a:bodyPr>
          <a:lstStyle/>
          <a:p>
            <a:pPr algn="l">
              <a:lnSpc>
                <a:spcPct val="106000"/>
              </a:lnSpc>
              <a:spcAft>
                <a:spcPts val="0"/>
              </a:spcAft>
            </a:pPr>
            <a:r>
              <a:rPr sz="3400" b="0" i="0">
                <a:solidFill>
                  <a:srgbClr val="1C1712"/>
                </a:solidFill>
                <a:latin typeface="Georgia"/>
              </a:rPr>
              <a:t>Twelve agents. Each owns one job and one number.</a:t>
            </a:r>
          </a:p>
        </p:txBody>
      </p:sp>
      <p:sp>
        <p:nvSpPr>
          <p:cNvPr id="5" name="Rectangle 4"/>
          <p:cNvSpPr/>
          <p:nvPr/>
        </p:nvSpPr>
        <p:spPr>
          <a:xfrm>
            <a:off x="914400" y="2139696"/>
            <a:ext cx="10362895" cy="0"/>
          </a:xfrm>
          <a:prstGeom prst="rect">
            <a:avLst/>
          </a:prstGeom>
          <a:noFill/>
          <a:ln w="9525">
            <a:solidFill>
              <a:srgbClr val="CD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7" name="TextBox 6"/>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7</a:t>
            </a:r>
          </a:p>
        </p:txBody>
      </p:sp>
      <p:sp>
        <p:nvSpPr>
          <p:cNvPr id="8" name="Rectangle 7"/>
          <p:cNvSpPr/>
          <p:nvPr/>
        </p:nvSpPr>
        <p:spPr>
          <a:xfrm>
            <a:off x="914400" y="2505456"/>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2505456"/>
            <a:ext cx="27432" cy="658368"/>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2624328"/>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Help Desk</a:t>
            </a:r>
          </a:p>
        </p:txBody>
      </p:sp>
      <p:sp>
        <p:nvSpPr>
          <p:cNvPr id="11" name="TextBox 10"/>
          <p:cNvSpPr txBox="1"/>
          <p:nvPr/>
        </p:nvSpPr>
        <p:spPr>
          <a:xfrm>
            <a:off x="1115568" y="2880360"/>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HR cases resolved</a:t>
            </a:r>
          </a:p>
        </p:txBody>
      </p:sp>
      <p:sp>
        <p:nvSpPr>
          <p:cNvPr id="12" name="Rectangle 11"/>
          <p:cNvSpPr/>
          <p:nvPr/>
        </p:nvSpPr>
        <p:spPr>
          <a:xfrm>
            <a:off x="3539413" y="2505456"/>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539413" y="2505456"/>
            <a:ext cx="27432" cy="658368"/>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0581" y="2624328"/>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Recruiting</a:t>
            </a:r>
          </a:p>
        </p:txBody>
      </p:sp>
      <p:sp>
        <p:nvSpPr>
          <p:cNvPr id="15" name="TextBox 14"/>
          <p:cNvSpPr txBox="1"/>
          <p:nvPr/>
        </p:nvSpPr>
        <p:spPr>
          <a:xfrm>
            <a:off x="3740581" y="2880360"/>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Candidates screened</a:t>
            </a:r>
          </a:p>
        </p:txBody>
      </p:sp>
      <p:sp>
        <p:nvSpPr>
          <p:cNvPr id="16" name="Rectangle 15"/>
          <p:cNvSpPr/>
          <p:nvPr/>
        </p:nvSpPr>
        <p:spPr>
          <a:xfrm>
            <a:off x="6164427" y="2505456"/>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64427" y="2505456"/>
            <a:ext cx="27432" cy="658368"/>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65595" y="2624328"/>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Payroll</a:t>
            </a:r>
          </a:p>
        </p:txBody>
      </p:sp>
      <p:sp>
        <p:nvSpPr>
          <p:cNvPr id="19" name="TextBox 18"/>
          <p:cNvSpPr txBox="1"/>
          <p:nvPr/>
        </p:nvSpPr>
        <p:spPr>
          <a:xfrm>
            <a:off x="6365595" y="2880360"/>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Errors caught pre-run</a:t>
            </a:r>
          </a:p>
        </p:txBody>
      </p:sp>
      <p:sp>
        <p:nvSpPr>
          <p:cNvPr id="20" name="Rectangle 19"/>
          <p:cNvSpPr/>
          <p:nvPr/>
        </p:nvSpPr>
        <p:spPr>
          <a:xfrm>
            <a:off x="8789441" y="2505456"/>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789441" y="2505456"/>
            <a:ext cx="27432" cy="658368"/>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90609" y="2624328"/>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Scheduling</a:t>
            </a:r>
          </a:p>
        </p:txBody>
      </p:sp>
      <p:sp>
        <p:nvSpPr>
          <p:cNvPr id="23" name="TextBox 22"/>
          <p:cNvSpPr txBox="1"/>
          <p:nvPr/>
        </p:nvSpPr>
        <p:spPr>
          <a:xfrm>
            <a:off x="8990609" y="2880360"/>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Open shifts filled</a:t>
            </a:r>
          </a:p>
        </p:txBody>
      </p:sp>
      <p:sp>
        <p:nvSpPr>
          <p:cNvPr id="24" name="Rectangle 23"/>
          <p:cNvSpPr/>
          <p:nvPr/>
        </p:nvSpPr>
        <p:spPr>
          <a:xfrm>
            <a:off x="914400" y="3255264"/>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14400" y="3255264"/>
            <a:ext cx="27432" cy="658368"/>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15568" y="3374136"/>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Performance</a:t>
            </a:r>
          </a:p>
        </p:txBody>
      </p:sp>
      <p:sp>
        <p:nvSpPr>
          <p:cNvPr id="27" name="TextBox 26"/>
          <p:cNvSpPr txBox="1"/>
          <p:nvPr/>
        </p:nvSpPr>
        <p:spPr>
          <a:xfrm>
            <a:off x="1115568" y="3630168"/>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Reviews drafted</a:t>
            </a:r>
          </a:p>
        </p:txBody>
      </p:sp>
      <p:sp>
        <p:nvSpPr>
          <p:cNvPr id="28" name="Rectangle 27"/>
          <p:cNvSpPr/>
          <p:nvPr/>
        </p:nvSpPr>
        <p:spPr>
          <a:xfrm>
            <a:off x="3539413" y="3255264"/>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539413" y="3255264"/>
            <a:ext cx="27432" cy="658368"/>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0581" y="3374136"/>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Job Architecture</a:t>
            </a:r>
          </a:p>
        </p:txBody>
      </p:sp>
      <p:sp>
        <p:nvSpPr>
          <p:cNvPr id="31" name="TextBox 30"/>
          <p:cNvSpPr txBox="1"/>
          <p:nvPr/>
        </p:nvSpPr>
        <p:spPr>
          <a:xfrm>
            <a:off x="3740581" y="3630168"/>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Pay bands benchmarked</a:t>
            </a:r>
          </a:p>
        </p:txBody>
      </p:sp>
      <p:sp>
        <p:nvSpPr>
          <p:cNvPr id="32" name="Rectangle 31"/>
          <p:cNvSpPr/>
          <p:nvPr/>
        </p:nvSpPr>
        <p:spPr>
          <a:xfrm>
            <a:off x="6164427" y="3255264"/>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64427" y="3255264"/>
            <a:ext cx="27432" cy="658368"/>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65595" y="3374136"/>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Audit</a:t>
            </a:r>
          </a:p>
        </p:txBody>
      </p:sp>
      <p:sp>
        <p:nvSpPr>
          <p:cNvPr id="35" name="TextBox 34"/>
          <p:cNvSpPr txBox="1"/>
          <p:nvPr/>
        </p:nvSpPr>
        <p:spPr>
          <a:xfrm>
            <a:off x="6365595" y="3630168"/>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Evidence packaged</a:t>
            </a:r>
          </a:p>
        </p:txBody>
      </p:sp>
      <p:sp>
        <p:nvSpPr>
          <p:cNvPr id="36" name="Rectangle 35"/>
          <p:cNvSpPr/>
          <p:nvPr/>
        </p:nvSpPr>
        <p:spPr>
          <a:xfrm>
            <a:off x="8789441" y="3255264"/>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789441" y="3255264"/>
            <a:ext cx="27432" cy="658368"/>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990609" y="3374136"/>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Planning</a:t>
            </a:r>
          </a:p>
        </p:txBody>
      </p:sp>
      <p:sp>
        <p:nvSpPr>
          <p:cNvPr id="39" name="TextBox 38"/>
          <p:cNvSpPr txBox="1"/>
          <p:nvPr/>
        </p:nvSpPr>
        <p:spPr>
          <a:xfrm>
            <a:off x="8990609" y="3630168"/>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Variances explained</a:t>
            </a:r>
          </a:p>
        </p:txBody>
      </p:sp>
      <p:sp>
        <p:nvSpPr>
          <p:cNvPr id="40" name="Rectangle 39"/>
          <p:cNvSpPr/>
          <p:nvPr/>
        </p:nvSpPr>
        <p:spPr>
          <a:xfrm>
            <a:off x="914400" y="4005072"/>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14400" y="4005072"/>
            <a:ext cx="27432" cy="658368"/>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15568" y="4123944"/>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Controls</a:t>
            </a:r>
          </a:p>
        </p:txBody>
      </p:sp>
      <p:sp>
        <p:nvSpPr>
          <p:cNvPr id="43" name="TextBox 42"/>
          <p:cNvSpPr txBox="1"/>
          <p:nvPr/>
        </p:nvSpPr>
        <p:spPr>
          <a:xfrm>
            <a:off x="1115568" y="4379976"/>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Transactions tested</a:t>
            </a:r>
          </a:p>
        </p:txBody>
      </p:sp>
      <p:sp>
        <p:nvSpPr>
          <p:cNvPr id="44" name="Rectangle 43"/>
          <p:cNvSpPr/>
          <p:nvPr/>
        </p:nvSpPr>
        <p:spPr>
          <a:xfrm>
            <a:off x="3539413" y="4005072"/>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539413" y="4005072"/>
            <a:ext cx="27432" cy="658368"/>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0581" y="4123944"/>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Close</a:t>
            </a:r>
          </a:p>
        </p:txBody>
      </p:sp>
      <p:sp>
        <p:nvSpPr>
          <p:cNvPr id="47" name="TextBox 46"/>
          <p:cNvSpPr txBox="1"/>
          <p:nvPr/>
        </p:nvSpPr>
        <p:spPr>
          <a:xfrm>
            <a:off x="3740581" y="4379976"/>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Month-end orchestrated</a:t>
            </a:r>
          </a:p>
        </p:txBody>
      </p:sp>
      <p:sp>
        <p:nvSpPr>
          <p:cNvPr id="48" name="Rectangle 47"/>
          <p:cNvSpPr/>
          <p:nvPr/>
        </p:nvSpPr>
        <p:spPr>
          <a:xfrm>
            <a:off x="6164427" y="4005072"/>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164427" y="4005072"/>
            <a:ext cx="27432" cy="658368"/>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65595" y="4123944"/>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Revenue Contracts</a:t>
            </a:r>
          </a:p>
        </p:txBody>
      </p:sp>
      <p:sp>
        <p:nvSpPr>
          <p:cNvPr id="51" name="TextBox 50"/>
          <p:cNvSpPr txBox="1"/>
          <p:nvPr/>
        </p:nvSpPr>
        <p:spPr>
          <a:xfrm>
            <a:off x="6365595" y="4379976"/>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Revenue risk flagged</a:t>
            </a:r>
          </a:p>
        </p:txBody>
      </p:sp>
      <p:sp>
        <p:nvSpPr>
          <p:cNvPr id="52" name="Rectangle 51"/>
          <p:cNvSpPr/>
          <p:nvPr/>
        </p:nvSpPr>
        <p:spPr>
          <a:xfrm>
            <a:off x="8789441" y="4005072"/>
            <a:ext cx="2487853" cy="658368"/>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789441" y="4005072"/>
            <a:ext cx="27432" cy="658368"/>
          </a:xfrm>
          <a:prstGeom prst="rect">
            <a:avLst/>
          </a:prstGeom>
          <a:solidFill>
            <a:srgbClr val="99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990609" y="4123944"/>
            <a:ext cx="2085517" cy="237744"/>
          </a:xfrm>
          <a:prstGeom prst="rect">
            <a:avLst/>
          </a:prstGeom>
          <a:noFill/>
        </p:spPr>
        <p:txBody>
          <a:bodyPr wrap="square" lIns="0" tIns="0" rIns="0" bIns="0" anchor="t">
            <a:spAutoFit/>
          </a:bodyPr>
          <a:lstStyle/>
          <a:p>
            <a:pPr algn="l">
              <a:spcAft>
                <a:spcPts val="0"/>
              </a:spcAft>
            </a:pPr>
            <a:r>
              <a:rPr sz="1300" b="1" i="0">
                <a:solidFill>
                  <a:srgbClr val="1C1712"/>
                </a:solidFill>
                <a:latin typeface="Segoe UI"/>
              </a:rPr>
              <a:t>Contract Review</a:t>
            </a:r>
          </a:p>
        </p:txBody>
      </p:sp>
      <p:sp>
        <p:nvSpPr>
          <p:cNvPr id="55" name="TextBox 54"/>
          <p:cNvSpPr txBox="1"/>
          <p:nvPr/>
        </p:nvSpPr>
        <p:spPr>
          <a:xfrm>
            <a:off x="8990609" y="4379976"/>
            <a:ext cx="2085517" cy="237744"/>
          </a:xfrm>
          <a:prstGeom prst="rect">
            <a:avLst/>
          </a:prstGeom>
          <a:noFill/>
        </p:spPr>
        <p:txBody>
          <a:bodyPr wrap="square" lIns="0" tIns="0" rIns="0" bIns="0" anchor="t">
            <a:spAutoFit/>
          </a:bodyPr>
          <a:lstStyle/>
          <a:p>
            <a:pPr algn="l">
              <a:spcAft>
                <a:spcPts val="0"/>
              </a:spcAft>
            </a:pPr>
            <a:r>
              <a:rPr sz="1100" b="0" i="0">
                <a:solidFill>
                  <a:srgbClr val="5A544E"/>
                </a:solidFill>
                <a:latin typeface="Segoe UI"/>
              </a:rPr>
              <a:t>Paper redlined</a:t>
            </a:r>
          </a:p>
        </p:txBody>
      </p:sp>
      <p:sp>
        <p:nvSpPr>
          <p:cNvPr id="56" name="TextBox 55"/>
          <p:cNvSpPr txBox="1"/>
          <p:nvPr/>
        </p:nvSpPr>
        <p:spPr>
          <a:xfrm>
            <a:off x="914400" y="4992624"/>
            <a:ext cx="10362895" cy="640080"/>
          </a:xfrm>
          <a:prstGeom prst="rect">
            <a:avLst/>
          </a:prstGeom>
          <a:noFill/>
        </p:spPr>
        <p:txBody>
          <a:bodyPr wrap="square" lIns="0" tIns="0" rIns="0" bIns="0" anchor="t">
            <a:spAutoFit/>
          </a:bodyPr>
          <a:lstStyle/>
          <a:p>
            <a:pPr algn="l">
              <a:lnSpc>
                <a:spcPct val="135000"/>
              </a:lnSpc>
              <a:spcAft>
                <a:spcPts val="0"/>
              </a:spcAft>
            </a:pPr>
            <a:r>
              <a:rPr sz="1600" b="0" i="0">
                <a:solidFill>
                  <a:srgbClr val="5A544E"/>
                </a:solidFill>
                <a:latin typeface="Segoe UI"/>
              </a:rPr>
              <a:t>Nobody says yes to a general-purpose agent with access to payroll. </a:t>
            </a:r>
            <a:r>
              <a:rPr sz="1600" b="1" i="0">
                <a:solidFill>
                  <a:srgbClr val="1C1712"/>
                </a:solidFill>
                <a:latin typeface="Segoe UI"/>
              </a:rPr>
              <a:t>They say yes to one workflow.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03504"/>
            <a:ext cx="10362895" cy="201168"/>
          </a:xfrm>
          <a:prstGeom prst="rect">
            <a:avLst/>
          </a:prstGeom>
          <a:noFill/>
        </p:spPr>
        <p:txBody>
          <a:bodyPr wrap="square" lIns="0" tIns="0" rIns="0" bIns="0" anchor="t">
            <a:spAutoFit/>
          </a:bodyPr>
          <a:lstStyle/>
          <a:p>
            <a:pPr algn="l">
              <a:spcAft>
                <a:spcPts val="0"/>
              </a:spcAft>
            </a:pPr>
            <a:r>
              <a:rPr sz="1050" b="1" i="0">
                <a:solidFill>
                  <a:srgbClr val="706B64"/>
                </a:solidFill>
                <a:latin typeface="Segoe UI"/>
              </a:rPr>
              <a:t>THE WEDGE</a:t>
            </a:r>
          </a:p>
        </p:txBody>
      </p:sp>
      <p:sp>
        <p:nvSpPr>
          <p:cNvPr id="4" name="TextBox 3"/>
          <p:cNvSpPr txBox="1"/>
          <p:nvPr/>
        </p:nvSpPr>
        <p:spPr>
          <a:xfrm>
            <a:off x="914400" y="950976"/>
            <a:ext cx="10362895" cy="530352"/>
          </a:xfrm>
          <a:prstGeom prst="rect">
            <a:avLst/>
          </a:prstGeom>
          <a:noFill/>
        </p:spPr>
        <p:txBody>
          <a:bodyPr wrap="square" lIns="0" tIns="0" rIns="0" bIns="0" anchor="t">
            <a:spAutoFit/>
          </a:bodyPr>
          <a:lstStyle/>
          <a:p>
            <a:pPr algn="l">
              <a:lnSpc>
                <a:spcPct val="106000"/>
              </a:lnSpc>
              <a:spcAft>
                <a:spcPts val="0"/>
              </a:spcAft>
            </a:pPr>
            <a:r>
              <a:rPr sz="3400" b="0" i="0">
                <a:solidFill>
                  <a:srgbClr val="1C1712"/>
                </a:solidFill>
                <a:latin typeface="Georgia"/>
              </a:rPr>
              <a:t>We stop the loss before it happens, not after.</a:t>
            </a:r>
          </a:p>
        </p:txBody>
      </p:sp>
      <p:sp>
        <p:nvSpPr>
          <p:cNvPr id="5" name="Rectangle 4"/>
          <p:cNvSpPr/>
          <p:nvPr/>
        </p:nvSpPr>
        <p:spPr>
          <a:xfrm>
            <a:off x="914400" y="1664208"/>
            <a:ext cx="10362895" cy="0"/>
          </a:xfrm>
          <a:prstGeom prst="rect">
            <a:avLst/>
          </a:prstGeom>
          <a:noFill/>
          <a:ln w="9525">
            <a:solidFill>
              <a:srgbClr val="CD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7" name="TextBox 6"/>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8</a:t>
            </a:r>
          </a:p>
        </p:txBody>
      </p:sp>
      <p:sp>
        <p:nvSpPr>
          <p:cNvPr id="8" name="Rectangle 7"/>
          <p:cNvSpPr/>
          <p:nvPr/>
        </p:nvSpPr>
        <p:spPr>
          <a:xfrm>
            <a:off x="914400" y="2029968"/>
            <a:ext cx="10362895" cy="329184"/>
          </a:xfrm>
          <a:prstGeom prst="rect">
            <a:avLst/>
          </a:prstGeom>
          <a:solidFill>
            <a:srgbClr val="F9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2029968"/>
            <a:ext cx="10362895" cy="0"/>
          </a:xfrm>
          <a:prstGeom prst="rect">
            <a:avLst/>
          </a:prstGeom>
          <a:no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2359152"/>
            <a:ext cx="10362895" cy="0"/>
          </a:xfrm>
          <a:prstGeom prst="rect">
            <a:avLst/>
          </a:prstGeom>
          <a:no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60704" y="2121408"/>
            <a:ext cx="1371600" cy="201168"/>
          </a:xfrm>
          <a:prstGeom prst="rect">
            <a:avLst/>
          </a:prstGeom>
          <a:noFill/>
        </p:spPr>
        <p:txBody>
          <a:bodyPr wrap="square" lIns="0" tIns="0" rIns="0" bIns="0" anchor="t">
            <a:spAutoFit/>
          </a:bodyPr>
          <a:lstStyle/>
          <a:p>
            <a:pPr algn="l">
              <a:spcAft>
                <a:spcPts val="0"/>
              </a:spcAft>
            </a:pPr>
            <a:endParaRPr/>
          </a:p>
        </p:txBody>
      </p:sp>
      <p:sp>
        <p:nvSpPr>
          <p:cNvPr id="12" name="TextBox 11"/>
          <p:cNvSpPr txBox="1"/>
          <p:nvPr/>
        </p:nvSpPr>
        <p:spPr>
          <a:xfrm>
            <a:off x="2615184" y="2121408"/>
            <a:ext cx="4114800" cy="201168"/>
          </a:xfrm>
          <a:prstGeom prst="rect">
            <a:avLst/>
          </a:prstGeom>
          <a:noFill/>
        </p:spPr>
        <p:txBody>
          <a:bodyPr wrap="square" lIns="0" tIns="0" rIns="0" bIns="0" anchor="t">
            <a:spAutoFit/>
          </a:bodyPr>
          <a:lstStyle/>
          <a:p>
            <a:pPr algn="l">
              <a:spcAft>
                <a:spcPts val="0"/>
              </a:spcAft>
            </a:pPr>
            <a:r>
              <a:rPr sz="900" b="1" i="0">
                <a:solidFill>
                  <a:srgbClr val="706B64"/>
                </a:solidFill>
                <a:latin typeface="Segoe UI"/>
              </a:rPr>
              <a:t>RECOVERY AUDIT TODAY</a:t>
            </a:r>
          </a:p>
        </p:txBody>
      </p:sp>
      <p:sp>
        <p:nvSpPr>
          <p:cNvPr id="13" name="TextBox 12"/>
          <p:cNvSpPr txBox="1"/>
          <p:nvPr/>
        </p:nvSpPr>
        <p:spPr>
          <a:xfrm>
            <a:off x="6912864" y="2121408"/>
            <a:ext cx="4325112" cy="201168"/>
          </a:xfrm>
          <a:prstGeom prst="rect">
            <a:avLst/>
          </a:prstGeom>
          <a:noFill/>
        </p:spPr>
        <p:txBody>
          <a:bodyPr wrap="square" lIns="0" tIns="0" rIns="0" bIns="0" anchor="t">
            <a:spAutoFit/>
          </a:bodyPr>
          <a:lstStyle/>
          <a:p>
            <a:pPr algn="l">
              <a:spcAft>
                <a:spcPts val="0"/>
              </a:spcAft>
            </a:pPr>
            <a:r>
              <a:rPr sz="900" b="1" i="0">
                <a:solidFill>
                  <a:srgbClr val="706B64"/>
                </a:solidFill>
                <a:latin typeface="Segoe UI"/>
              </a:rPr>
              <a:t>MERIDIAN</a:t>
            </a:r>
          </a:p>
        </p:txBody>
      </p:sp>
      <p:sp>
        <p:nvSpPr>
          <p:cNvPr id="14" name="TextBox 13"/>
          <p:cNvSpPr txBox="1"/>
          <p:nvPr/>
        </p:nvSpPr>
        <p:spPr>
          <a:xfrm>
            <a:off x="1060704" y="2478024"/>
            <a:ext cx="1280160" cy="274320"/>
          </a:xfrm>
          <a:prstGeom prst="rect">
            <a:avLst/>
          </a:prstGeom>
          <a:noFill/>
        </p:spPr>
        <p:txBody>
          <a:bodyPr wrap="square" lIns="0" tIns="0" rIns="0" bIns="0" anchor="t">
            <a:spAutoFit/>
          </a:bodyPr>
          <a:lstStyle/>
          <a:p>
            <a:pPr algn="l">
              <a:lnSpc>
                <a:spcPct val="128000"/>
              </a:lnSpc>
              <a:spcAft>
                <a:spcPts val="0"/>
              </a:spcAft>
            </a:pPr>
            <a:r>
              <a:rPr sz="1400" b="0" i="0">
                <a:solidFill>
                  <a:srgbClr val="1C1712"/>
                </a:solidFill>
                <a:latin typeface="Segoe UI"/>
              </a:rPr>
              <a:t>When</a:t>
            </a:r>
          </a:p>
        </p:txBody>
      </p:sp>
      <p:sp>
        <p:nvSpPr>
          <p:cNvPr id="15" name="TextBox 14"/>
          <p:cNvSpPr txBox="1"/>
          <p:nvPr/>
        </p:nvSpPr>
        <p:spPr>
          <a:xfrm>
            <a:off x="2615184" y="2478024"/>
            <a:ext cx="4023360" cy="274320"/>
          </a:xfrm>
          <a:prstGeom prst="rect">
            <a:avLst/>
          </a:prstGeom>
          <a:noFill/>
        </p:spPr>
        <p:txBody>
          <a:bodyPr wrap="square" lIns="0" tIns="0" rIns="0" bIns="0" anchor="t">
            <a:spAutoFit/>
          </a:bodyPr>
          <a:lstStyle/>
          <a:p>
            <a:pPr algn="l">
              <a:lnSpc>
                <a:spcPct val="128000"/>
              </a:lnSpc>
              <a:spcAft>
                <a:spcPts val="0"/>
              </a:spcAft>
            </a:pPr>
            <a:r>
              <a:rPr sz="1400" b="0" i="0">
                <a:solidFill>
                  <a:srgbClr val="5A544E"/>
                </a:solidFill>
                <a:latin typeface="Segoe UI"/>
              </a:rPr>
              <a:t>After the money has left</a:t>
            </a:r>
          </a:p>
        </p:txBody>
      </p:sp>
      <p:sp>
        <p:nvSpPr>
          <p:cNvPr id="16" name="TextBox 15"/>
          <p:cNvSpPr txBox="1"/>
          <p:nvPr/>
        </p:nvSpPr>
        <p:spPr>
          <a:xfrm>
            <a:off x="6912864" y="2478024"/>
            <a:ext cx="4233672" cy="274320"/>
          </a:xfrm>
          <a:prstGeom prst="rect">
            <a:avLst/>
          </a:prstGeom>
          <a:noFill/>
        </p:spPr>
        <p:txBody>
          <a:bodyPr wrap="square" lIns="0" tIns="0" rIns="0" bIns="0" anchor="t">
            <a:spAutoFit/>
          </a:bodyPr>
          <a:lstStyle/>
          <a:p>
            <a:pPr algn="l">
              <a:lnSpc>
                <a:spcPct val="128000"/>
              </a:lnSpc>
              <a:spcAft>
                <a:spcPts val="0"/>
              </a:spcAft>
            </a:pPr>
            <a:r>
              <a:rPr sz="1400" b="0" i="0">
                <a:solidFill>
                  <a:srgbClr val="1C1712"/>
                </a:solidFill>
                <a:latin typeface="Segoe UI"/>
              </a:rPr>
              <a:t>Before the payment run</a:t>
            </a:r>
          </a:p>
        </p:txBody>
      </p:sp>
      <p:sp>
        <p:nvSpPr>
          <p:cNvPr id="17" name="Rectangle 16"/>
          <p:cNvSpPr/>
          <p:nvPr/>
        </p:nvSpPr>
        <p:spPr>
          <a:xfrm>
            <a:off x="914400" y="2816352"/>
            <a:ext cx="10362895" cy="0"/>
          </a:xfrm>
          <a:prstGeom prst="rect">
            <a:avLst/>
          </a:prstGeom>
          <a:no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60704" y="2935224"/>
            <a:ext cx="1280160" cy="274320"/>
          </a:xfrm>
          <a:prstGeom prst="rect">
            <a:avLst/>
          </a:prstGeom>
          <a:noFill/>
        </p:spPr>
        <p:txBody>
          <a:bodyPr wrap="square" lIns="0" tIns="0" rIns="0" bIns="0" anchor="t">
            <a:spAutoFit/>
          </a:bodyPr>
          <a:lstStyle/>
          <a:p>
            <a:pPr algn="l">
              <a:lnSpc>
                <a:spcPct val="128000"/>
              </a:lnSpc>
              <a:spcAft>
                <a:spcPts val="0"/>
              </a:spcAft>
            </a:pPr>
            <a:r>
              <a:rPr sz="1400" b="0" i="0">
                <a:solidFill>
                  <a:srgbClr val="1C1712"/>
                </a:solidFill>
                <a:latin typeface="Segoe UI"/>
              </a:rPr>
              <a:t>Cycle</a:t>
            </a:r>
          </a:p>
        </p:txBody>
      </p:sp>
      <p:sp>
        <p:nvSpPr>
          <p:cNvPr id="19" name="TextBox 18"/>
          <p:cNvSpPr txBox="1"/>
          <p:nvPr/>
        </p:nvSpPr>
        <p:spPr>
          <a:xfrm>
            <a:off x="2615184" y="2935224"/>
            <a:ext cx="4023360" cy="274320"/>
          </a:xfrm>
          <a:prstGeom prst="rect">
            <a:avLst/>
          </a:prstGeom>
          <a:noFill/>
        </p:spPr>
        <p:txBody>
          <a:bodyPr wrap="square" lIns="0" tIns="0" rIns="0" bIns="0" anchor="t">
            <a:spAutoFit/>
          </a:bodyPr>
          <a:lstStyle/>
          <a:p>
            <a:pPr algn="l">
              <a:lnSpc>
                <a:spcPct val="128000"/>
              </a:lnSpc>
              <a:spcAft>
                <a:spcPts val="0"/>
              </a:spcAft>
            </a:pPr>
            <a:r>
              <a:rPr sz="1400" b="0" i="0">
                <a:solidFill>
                  <a:srgbClr val="5A544E"/>
                </a:solidFill>
                <a:latin typeface="Segoe UI"/>
              </a:rPr>
              <a:t>45 to 90 days</a:t>
            </a:r>
          </a:p>
        </p:txBody>
      </p:sp>
      <p:sp>
        <p:nvSpPr>
          <p:cNvPr id="20" name="TextBox 19"/>
          <p:cNvSpPr txBox="1"/>
          <p:nvPr/>
        </p:nvSpPr>
        <p:spPr>
          <a:xfrm>
            <a:off x="6912864" y="2935224"/>
            <a:ext cx="4233672" cy="274320"/>
          </a:xfrm>
          <a:prstGeom prst="rect">
            <a:avLst/>
          </a:prstGeom>
          <a:noFill/>
        </p:spPr>
        <p:txBody>
          <a:bodyPr wrap="square" lIns="0" tIns="0" rIns="0" bIns="0" anchor="t">
            <a:spAutoFit/>
          </a:bodyPr>
          <a:lstStyle/>
          <a:p>
            <a:pPr algn="l">
              <a:lnSpc>
                <a:spcPct val="128000"/>
              </a:lnSpc>
              <a:spcAft>
                <a:spcPts val="0"/>
              </a:spcAft>
            </a:pPr>
            <a:r>
              <a:rPr sz="1400" b="0" i="0">
                <a:solidFill>
                  <a:srgbClr val="1C1712"/>
                </a:solidFill>
                <a:latin typeface="Segoe UI"/>
              </a:rPr>
              <a:t>Continuous</a:t>
            </a:r>
          </a:p>
        </p:txBody>
      </p:sp>
      <p:sp>
        <p:nvSpPr>
          <p:cNvPr id="21" name="Rectangle 20"/>
          <p:cNvSpPr/>
          <p:nvPr/>
        </p:nvSpPr>
        <p:spPr>
          <a:xfrm>
            <a:off x="914400" y="3273552"/>
            <a:ext cx="10362895" cy="0"/>
          </a:xfrm>
          <a:prstGeom prst="rect">
            <a:avLst/>
          </a:prstGeom>
          <a:no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60704" y="3392424"/>
            <a:ext cx="1280160" cy="274320"/>
          </a:xfrm>
          <a:prstGeom prst="rect">
            <a:avLst/>
          </a:prstGeom>
          <a:noFill/>
        </p:spPr>
        <p:txBody>
          <a:bodyPr wrap="square" lIns="0" tIns="0" rIns="0" bIns="0" anchor="t">
            <a:spAutoFit/>
          </a:bodyPr>
          <a:lstStyle/>
          <a:p>
            <a:pPr algn="l">
              <a:lnSpc>
                <a:spcPct val="128000"/>
              </a:lnSpc>
              <a:spcAft>
                <a:spcPts val="0"/>
              </a:spcAft>
            </a:pPr>
            <a:r>
              <a:rPr sz="1400" b="0" i="0">
                <a:solidFill>
                  <a:srgbClr val="1C1712"/>
                </a:solidFill>
                <a:latin typeface="Segoe UI"/>
              </a:rPr>
              <a:t>Coverage</a:t>
            </a:r>
          </a:p>
        </p:txBody>
      </p:sp>
      <p:sp>
        <p:nvSpPr>
          <p:cNvPr id="23" name="TextBox 22"/>
          <p:cNvSpPr txBox="1"/>
          <p:nvPr/>
        </p:nvSpPr>
        <p:spPr>
          <a:xfrm>
            <a:off x="2615184" y="3392424"/>
            <a:ext cx="4023360" cy="274320"/>
          </a:xfrm>
          <a:prstGeom prst="rect">
            <a:avLst/>
          </a:prstGeom>
          <a:noFill/>
        </p:spPr>
        <p:txBody>
          <a:bodyPr wrap="square" lIns="0" tIns="0" rIns="0" bIns="0" anchor="t">
            <a:spAutoFit/>
          </a:bodyPr>
          <a:lstStyle/>
          <a:p>
            <a:pPr algn="l">
              <a:lnSpc>
                <a:spcPct val="128000"/>
              </a:lnSpc>
              <a:spcAft>
                <a:spcPts val="0"/>
              </a:spcAft>
            </a:pPr>
            <a:r>
              <a:rPr sz="1400" b="0" i="0">
                <a:solidFill>
                  <a:srgbClr val="5A544E"/>
                </a:solidFill>
                <a:latin typeface="Segoe UI"/>
              </a:rPr>
              <a:t>A sample</a:t>
            </a:r>
          </a:p>
        </p:txBody>
      </p:sp>
      <p:sp>
        <p:nvSpPr>
          <p:cNvPr id="24" name="TextBox 23"/>
          <p:cNvSpPr txBox="1"/>
          <p:nvPr/>
        </p:nvSpPr>
        <p:spPr>
          <a:xfrm>
            <a:off x="6912864" y="3392424"/>
            <a:ext cx="4233672" cy="274320"/>
          </a:xfrm>
          <a:prstGeom prst="rect">
            <a:avLst/>
          </a:prstGeom>
          <a:noFill/>
        </p:spPr>
        <p:txBody>
          <a:bodyPr wrap="square" lIns="0" tIns="0" rIns="0" bIns="0" anchor="t">
            <a:spAutoFit/>
          </a:bodyPr>
          <a:lstStyle/>
          <a:p>
            <a:pPr algn="l">
              <a:lnSpc>
                <a:spcPct val="128000"/>
              </a:lnSpc>
              <a:spcAft>
                <a:spcPts val="0"/>
              </a:spcAft>
            </a:pPr>
            <a:r>
              <a:rPr sz="1400" b="0" i="0">
                <a:solidFill>
                  <a:srgbClr val="1C1712"/>
                </a:solidFill>
                <a:latin typeface="Segoe UI"/>
              </a:rPr>
              <a:t>Every transaction</a:t>
            </a:r>
          </a:p>
        </p:txBody>
      </p:sp>
      <p:sp>
        <p:nvSpPr>
          <p:cNvPr id="25" name="Rectangle 24"/>
          <p:cNvSpPr/>
          <p:nvPr/>
        </p:nvSpPr>
        <p:spPr>
          <a:xfrm>
            <a:off x="914400" y="3730752"/>
            <a:ext cx="10362895" cy="0"/>
          </a:xfrm>
          <a:prstGeom prst="rect">
            <a:avLst/>
          </a:prstGeom>
          <a:no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4400" y="3995928"/>
            <a:ext cx="10362895" cy="960120"/>
          </a:xfrm>
          <a:prstGeom prst="rect">
            <a:avLst/>
          </a:prstGeom>
          <a:solidFill>
            <a:srgbClr val="F9F7F4"/>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43584" y="4206240"/>
            <a:ext cx="9704527" cy="640080"/>
          </a:xfrm>
          <a:prstGeom prst="rect">
            <a:avLst/>
          </a:prstGeom>
          <a:noFill/>
        </p:spPr>
        <p:txBody>
          <a:bodyPr wrap="square" lIns="0" tIns="0" rIns="0" bIns="0" anchor="t">
            <a:spAutoFit/>
          </a:bodyPr>
          <a:lstStyle/>
          <a:p>
            <a:pPr algn="l">
              <a:lnSpc>
                <a:spcPct val="134000"/>
              </a:lnSpc>
              <a:spcAft>
                <a:spcPts val="0"/>
              </a:spcAft>
            </a:pPr>
            <a:r>
              <a:rPr sz="1600" b="1" i="0">
                <a:solidFill>
                  <a:srgbClr val="1C1712"/>
                </a:solidFill>
                <a:latin typeface="Segoe UI"/>
              </a:rPr>
              <a:t>$100M of AP spend carries $100K to $500K of annual leakage. </a:t>
            </a:r>
            <a:r>
              <a:rPr sz="1600" b="0" i="0">
                <a:solidFill>
                  <a:srgbClr val="5A544E"/>
                </a:solidFill>
                <a:latin typeface="Segoe UI"/>
              </a:rPr>
              <a:t>Firms are already paid a share to find it late. One agent pays for the platform.</a:t>
            </a:r>
          </a:p>
        </p:txBody>
      </p:sp>
      <p:sp>
        <p:nvSpPr>
          <p:cNvPr id="28" name="TextBox 27"/>
          <p:cNvSpPr txBox="1"/>
          <p:nvPr/>
        </p:nvSpPr>
        <p:spPr>
          <a:xfrm>
            <a:off x="914400" y="5157216"/>
            <a:ext cx="10362895" cy="457200"/>
          </a:xfrm>
          <a:prstGeom prst="rect">
            <a:avLst/>
          </a:prstGeom>
          <a:noFill/>
        </p:spPr>
        <p:txBody>
          <a:bodyPr wrap="square" lIns="0" tIns="0" rIns="0" bIns="0" anchor="t">
            <a:spAutoFit/>
          </a:bodyPr>
          <a:lstStyle/>
          <a:p>
            <a:pPr algn="l">
              <a:lnSpc>
                <a:spcPct val="130000"/>
              </a:lnSpc>
              <a:spcAft>
                <a:spcPts val="0"/>
              </a:spcAft>
            </a:pPr>
            <a:r>
              <a:rPr sz="1500" b="0" i="0">
                <a:solidFill>
                  <a:srgbClr val="5A544E"/>
                </a:solidFill>
                <a:latin typeface="Segoe UI"/>
              </a:rPr>
              <a:t>Priced in credits per completed action, not per seat.</a:t>
            </a:r>
          </a:p>
        </p:txBody>
      </p:sp>
      <p:sp>
        <p:nvSpPr>
          <p:cNvPr id="29" name="TextBox 28"/>
          <p:cNvSpPr txBox="1"/>
          <p:nvPr/>
        </p:nvSpPr>
        <p:spPr>
          <a:xfrm>
            <a:off x="914400" y="6016752"/>
            <a:ext cx="10362895" cy="329184"/>
          </a:xfrm>
          <a:prstGeom prst="rect">
            <a:avLst/>
          </a:prstGeom>
          <a:noFill/>
        </p:spPr>
        <p:txBody>
          <a:bodyPr wrap="square" lIns="0" tIns="0" rIns="0" bIns="0" anchor="t">
            <a:spAutoFit/>
          </a:bodyPr>
          <a:lstStyle/>
          <a:p>
            <a:pPr algn="l">
              <a:lnSpc>
                <a:spcPct val="125000"/>
              </a:lnSpc>
              <a:spcAft>
                <a:spcPts val="0"/>
              </a:spcAft>
            </a:pPr>
            <a:r>
              <a:rPr sz="900" b="0" i="0">
                <a:solidFill>
                  <a:srgbClr val="A29E98"/>
                </a:solidFill>
                <a:latin typeface="Segoe UI"/>
              </a:rPr>
              <a:t>Arithmetic on published duplicate-payment rates, not a customer result.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148840"/>
            <a:ext cx="10362895" cy="274320"/>
          </a:xfrm>
          <a:prstGeom prst="rect">
            <a:avLst/>
          </a:prstGeom>
          <a:noFill/>
        </p:spPr>
        <p:txBody>
          <a:bodyPr wrap="square" lIns="0" tIns="0" rIns="0" bIns="0" anchor="t">
            <a:spAutoFit/>
          </a:bodyPr>
          <a:lstStyle/>
          <a:p>
            <a:pPr algn="l">
              <a:spcAft>
                <a:spcPts val="0"/>
              </a:spcAft>
            </a:pPr>
            <a:r>
              <a:rPr sz="1100" b="1" i="0">
                <a:solidFill>
                  <a:srgbClr val="A29E98"/>
                </a:solidFill>
                <a:latin typeface="Segoe UI"/>
              </a:rPr>
              <a:t>ACT THREE</a:t>
            </a:r>
          </a:p>
        </p:txBody>
      </p:sp>
      <p:sp>
        <p:nvSpPr>
          <p:cNvPr id="5" name="TextBox 4"/>
          <p:cNvSpPr txBox="1"/>
          <p:nvPr/>
        </p:nvSpPr>
        <p:spPr>
          <a:xfrm>
            <a:off x="914400" y="2606040"/>
            <a:ext cx="10058400" cy="685800"/>
          </a:xfrm>
          <a:prstGeom prst="rect">
            <a:avLst/>
          </a:prstGeom>
          <a:noFill/>
        </p:spPr>
        <p:txBody>
          <a:bodyPr wrap="square" lIns="0" tIns="0" rIns="0" bIns="0" anchor="t">
            <a:spAutoFit/>
          </a:bodyPr>
          <a:lstStyle/>
          <a:p>
            <a:pPr algn="l">
              <a:lnSpc>
                <a:spcPct val="110000"/>
              </a:lnSpc>
              <a:spcAft>
                <a:spcPts val="0"/>
              </a:spcAft>
            </a:pPr>
            <a:r>
              <a:rPr sz="4400" b="0" i="0">
                <a:solidFill>
                  <a:srgbClr val="FEFDFC"/>
                </a:solidFill>
                <a:latin typeface="Georgia"/>
              </a:rPr>
              <a:t>How we should be funded</a:t>
            </a:r>
          </a:p>
        </p:txBody>
      </p:sp>
      <p:sp>
        <p:nvSpPr>
          <p:cNvPr id="6" name="TextBox 5"/>
          <p:cNvSpPr txBox="1"/>
          <p:nvPr/>
        </p:nvSpPr>
        <p:spPr>
          <a:xfrm>
            <a:off x="985652" y="3614730"/>
            <a:ext cx="8778240" cy="591509"/>
          </a:xfrm>
          <a:prstGeom prst="rect">
            <a:avLst/>
          </a:prstGeom>
          <a:noFill/>
        </p:spPr>
        <p:txBody>
          <a:bodyPr wrap="square" lIns="0" tIns="0" rIns="0" bIns="0" anchor="t">
            <a:spAutoFit/>
          </a:bodyPr>
          <a:lstStyle/>
          <a:p>
            <a:pPr algn="l">
              <a:lnSpc>
                <a:spcPct val="135000"/>
              </a:lnSpc>
              <a:spcAft>
                <a:spcPts val="0"/>
              </a:spcAft>
            </a:pPr>
            <a:r>
              <a:rPr sz="3200" b="0" i="0" dirty="0">
                <a:solidFill>
                  <a:srgbClr val="CDCAC5"/>
                </a:solidFill>
                <a:latin typeface="Segoe UI"/>
              </a:rPr>
              <a:t>What is built </a:t>
            </a:r>
            <a:r>
              <a:rPr lang="en-US" sz="3200" b="0" i="0" dirty="0">
                <a:solidFill>
                  <a:srgbClr val="CDCAC5"/>
                </a:solidFill>
                <a:latin typeface="Segoe UI"/>
              </a:rPr>
              <a:t>in </a:t>
            </a:r>
            <a:r>
              <a:rPr sz="3200" b="0" i="0" dirty="0">
                <a:solidFill>
                  <a:srgbClr val="CDCAC5"/>
                </a:solidFill>
                <a:latin typeface="Segoe UI"/>
              </a:rPr>
              <a:t>the next eighteen months</a:t>
            </a:r>
            <a:r>
              <a:rPr sz="1600" b="0" i="0" dirty="0">
                <a:solidFill>
                  <a:srgbClr val="CDCAC5"/>
                </a:solidFill>
                <a:latin typeface="Segoe UI"/>
              </a:rPr>
              <a:t>.</a:t>
            </a:r>
          </a:p>
        </p:txBody>
      </p:sp>
      <p:sp>
        <p:nvSpPr>
          <p:cNvPr id="7" name="TextBox 6"/>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8" name="TextBox 7"/>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03504"/>
            <a:ext cx="10362895" cy="201168"/>
          </a:xfrm>
          <a:prstGeom prst="rect">
            <a:avLst/>
          </a:prstGeom>
          <a:noFill/>
        </p:spPr>
        <p:txBody>
          <a:bodyPr wrap="square" lIns="0" tIns="0" rIns="0" bIns="0" anchor="t">
            <a:spAutoFit/>
          </a:bodyPr>
          <a:lstStyle/>
          <a:p>
            <a:pPr algn="l">
              <a:spcAft>
                <a:spcPts val="0"/>
              </a:spcAft>
            </a:pPr>
            <a:r>
              <a:rPr sz="1050" b="1" i="0">
                <a:solidFill>
                  <a:srgbClr val="706B64"/>
                </a:solidFill>
                <a:latin typeface="Segoe UI"/>
              </a:rPr>
              <a:t>WHERE WE ARE</a:t>
            </a:r>
          </a:p>
        </p:txBody>
      </p:sp>
      <p:sp>
        <p:nvSpPr>
          <p:cNvPr id="4" name="TextBox 3"/>
          <p:cNvSpPr txBox="1"/>
          <p:nvPr/>
        </p:nvSpPr>
        <p:spPr>
          <a:xfrm>
            <a:off x="914400" y="950976"/>
            <a:ext cx="10362895" cy="1060704"/>
          </a:xfrm>
          <a:prstGeom prst="rect">
            <a:avLst/>
          </a:prstGeom>
          <a:noFill/>
        </p:spPr>
        <p:txBody>
          <a:bodyPr wrap="square" lIns="0" tIns="0" rIns="0" bIns="0" anchor="t">
            <a:spAutoFit/>
          </a:bodyPr>
          <a:lstStyle/>
          <a:p>
            <a:pPr algn="l">
              <a:lnSpc>
                <a:spcPct val="106000"/>
              </a:lnSpc>
              <a:spcAft>
                <a:spcPts val="0"/>
              </a:spcAft>
            </a:pPr>
            <a:r>
              <a:rPr sz="3400" b="0" i="0">
                <a:solidFill>
                  <a:srgbClr val="1C1712"/>
                </a:solidFill>
                <a:latin typeface="Georgia"/>
              </a:rPr>
              <a:t>Built and deployed. No revenue, no customers, no team.</a:t>
            </a:r>
          </a:p>
        </p:txBody>
      </p:sp>
      <p:sp>
        <p:nvSpPr>
          <p:cNvPr id="5" name="Rectangle 4"/>
          <p:cNvSpPr/>
          <p:nvPr/>
        </p:nvSpPr>
        <p:spPr>
          <a:xfrm>
            <a:off x="914400" y="2139696"/>
            <a:ext cx="10362895" cy="0"/>
          </a:xfrm>
          <a:prstGeom prst="rect">
            <a:avLst/>
          </a:prstGeom>
          <a:noFill/>
          <a:ln w="9525">
            <a:solidFill>
              <a:srgbClr val="CD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7" name="TextBox 6"/>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10</a:t>
            </a:r>
          </a:p>
        </p:txBody>
      </p:sp>
      <p:sp>
        <p:nvSpPr>
          <p:cNvPr id="8" name="Rectangle 7"/>
          <p:cNvSpPr/>
          <p:nvPr/>
        </p:nvSpPr>
        <p:spPr>
          <a:xfrm>
            <a:off x="914400" y="2505456"/>
            <a:ext cx="4907127" cy="2286000"/>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2505456"/>
            <a:ext cx="4907127" cy="36576"/>
          </a:xfrm>
          <a:prstGeom prst="rect">
            <a:avLst/>
          </a:prstGeom>
          <a:solidFill>
            <a:srgbClr val="1D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8" y="2779776"/>
            <a:ext cx="4358487" cy="274320"/>
          </a:xfrm>
          <a:prstGeom prst="rect">
            <a:avLst/>
          </a:prstGeom>
          <a:noFill/>
        </p:spPr>
        <p:txBody>
          <a:bodyPr wrap="square" lIns="0" tIns="0" rIns="0" bIns="0" anchor="t">
            <a:spAutoFit/>
          </a:bodyPr>
          <a:lstStyle/>
          <a:p>
            <a:pPr algn="l">
              <a:spcAft>
                <a:spcPts val="0"/>
              </a:spcAft>
            </a:pPr>
            <a:r>
              <a:rPr sz="1100" b="1" i="0">
                <a:solidFill>
                  <a:srgbClr val="1D7D3E"/>
                </a:solidFill>
                <a:latin typeface="Segoe UI"/>
              </a:rPr>
              <a:t>DONE</a:t>
            </a:r>
          </a:p>
        </p:txBody>
      </p:sp>
      <p:sp>
        <p:nvSpPr>
          <p:cNvPr id="11" name="Rectangle 10"/>
          <p:cNvSpPr/>
          <p:nvPr/>
        </p:nvSpPr>
        <p:spPr>
          <a:xfrm>
            <a:off x="1207008" y="3374136"/>
            <a:ext cx="77724" cy="77724"/>
          </a:xfrm>
          <a:prstGeom prst="rect">
            <a:avLst/>
          </a:prstGeom>
          <a:solidFill>
            <a:srgbClr val="1D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81328" y="3282696"/>
            <a:ext cx="4084167" cy="274320"/>
          </a:xfrm>
          <a:prstGeom prst="rect">
            <a:avLst/>
          </a:prstGeom>
          <a:noFill/>
        </p:spPr>
        <p:txBody>
          <a:bodyPr wrap="square" lIns="0" tIns="0" rIns="0" bIns="0" anchor="t">
            <a:spAutoFit/>
          </a:bodyPr>
          <a:lstStyle/>
          <a:p>
            <a:pPr algn="l">
              <a:lnSpc>
                <a:spcPct val="134000"/>
              </a:lnSpc>
              <a:spcAft>
                <a:spcPts val="0"/>
              </a:spcAft>
            </a:pPr>
            <a:r>
              <a:rPr sz="1400" b="0" i="0">
                <a:solidFill>
                  <a:srgbClr val="5A544E"/>
                </a:solidFill>
                <a:latin typeface="Segoe UI"/>
              </a:rPr>
              <a:t>The commercial platform, live and public</a:t>
            </a:r>
          </a:p>
        </p:txBody>
      </p:sp>
      <p:sp>
        <p:nvSpPr>
          <p:cNvPr id="13" name="Rectangle 12"/>
          <p:cNvSpPr/>
          <p:nvPr/>
        </p:nvSpPr>
        <p:spPr>
          <a:xfrm>
            <a:off x="1207008" y="3831336"/>
            <a:ext cx="77724" cy="77724"/>
          </a:xfrm>
          <a:prstGeom prst="rect">
            <a:avLst/>
          </a:prstGeom>
          <a:solidFill>
            <a:srgbClr val="1D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81328" y="3739896"/>
            <a:ext cx="4084167" cy="274320"/>
          </a:xfrm>
          <a:prstGeom prst="rect">
            <a:avLst/>
          </a:prstGeom>
          <a:noFill/>
        </p:spPr>
        <p:txBody>
          <a:bodyPr wrap="square" lIns="0" tIns="0" rIns="0" bIns="0" anchor="t">
            <a:spAutoFit/>
          </a:bodyPr>
          <a:lstStyle/>
          <a:p>
            <a:pPr algn="l">
              <a:lnSpc>
                <a:spcPct val="134000"/>
              </a:lnSpc>
              <a:spcAft>
                <a:spcPts val="0"/>
              </a:spcAft>
            </a:pPr>
            <a:r>
              <a:rPr sz="1400" b="0" i="0">
                <a:solidFill>
                  <a:srgbClr val="5A544E"/>
                </a:solidFill>
                <a:latin typeface="Segoe UI"/>
              </a:rPr>
              <a:t>Twelve agents specified end to end</a:t>
            </a:r>
          </a:p>
        </p:txBody>
      </p:sp>
      <p:sp>
        <p:nvSpPr>
          <p:cNvPr id="15" name="Rectangle 14"/>
          <p:cNvSpPr/>
          <p:nvPr/>
        </p:nvSpPr>
        <p:spPr>
          <a:xfrm>
            <a:off x="1207008" y="4288536"/>
            <a:ext cx="77724" cy="77724"/>
          </a:xfrm>
          <a:prstGeom prst="rect">
            <a:avLst/>
          </a:prstGeom>
          <a:solidFill>
            <a:srgbClr val="1D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481328" y="4197096"/>
            <a:ext cx="4084167" cy="274320"/>
          </a:xfrm>
          <a:prstGeom prst="rect">
            <a:avLst/>
          </a:prstGeom>
          <a:noFill/>
        </p:spPr>
        <p:txBody>
          <a:bodyPr wrap="square" lIns="0" tIns="0" rIns="0" bIns="0" anchor="t">
            <a:spAutoFit/>
          </a:bodyPr>
          <a:lstStyle/>
          <a:p>
            <a:pPr algn="l">
              <a:lnSpc>
                <a:spcPct val="134000"/>
              </a:lnSpc>
              <a:spcAft>
                <a:spcPts val="0"/>
              </a:spcAft>
            </a:pPr>
            <a:r>
              <a:rPr sz="1400" b="0" i="0">
                <a:solidFill>
                  <a:srgbClr val="5A544E"/>
                </a:solidFill>
                <a:latin typeface="Segoe UI"/>
              </a:rPr>
              <a:t>Real-time operations layer, in production</a:t>
            </a:r>
          </a:p>
        </p:txBody>
      </p:sp>
      <p:sp>
        <p:nvSpPr>
          <p:cNvPr id="17" name="Rectangle 16"/>
          <p:cNvSpPr/>
          <p:nvPr/>
        </p:nvSpPr>
        <p:spPr>
          <a:xfrm>
            <a:off x="6370167" y="2505456"/>
            <a:ext cx="4907127" cy="2286000"/>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70167" y="2505456"/>
            <a:ext cx="4907127" cy="36576"/>
          </a:xfrm>
          <a:prstGeom prst="rect">
            <a:avLst/>
          </a:prstGeom>
          <a:solidFill>
            <a:srgbClr val="BE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62775" y="2779776"/>
            <a:ext cx="4358487" cy="274320"/>
          </a:xfrm>
          <a:prstGeom prst="rect">
            <a:avLst/>
          </a:prstGeom>
          <a:noFill/>
        </p:spPr>
        <p:txBody>
          <a:bodyPr wrap="square" lIns="0" tIns="0" rIns="0" bIns="0" anchor="t">
            <a:spAutoFit/>
          </a:bodyPr>
          <a:lstStyle/>
          <a:p>
            <a:pPr algn="l">
              <a:spcAft>
                <a:spcPts val="0"/>
              </a:spcAft>
            </a:pPr>
            <a:r>
              <a:rPr sz="1100" b="1" i="0">
                <a:solidFill>
                  <a:srgbClr val="BE2323"/>
                </a:solidFill>
                <a:latin typeface="Segoe UI"/>
              </a:rPr>
              <a:t>NOT DONE — THIS IS THE RAISE</a:t>
            </a:r>
          </a:p>
        </p:txBody>
      </p:sp>
      <p:sp>
        <p:nvSpPr>
          <p:cNvPr id="20" name="Rectangle 19"/>
          <p:cNvSpPr/>
          <p:nvPr/>
        </p:nvSpPr>
        <p:spPr>
          <a:xfrm>
            <a:off x="6662775" y="3374136"/>
            <a:ext cx="77724" cy="77724"/>
          </a:xfrm>
          <a:prstGeom prst="rect">
            <a:avLst/>
          </a:prstGeom>
          <a:solidFill>
            <a:srgbClr val="BE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37095" y="3282696"/>
            <a:ext cx="4084167" cy="548640"/>
          </a:xfrm>
          <a:prstGeom prst="rect">
            <a:avLst/>
          </a:prstGeom>
          <a:noFill/>
        </p:spPr>
        <p:txBody>
          <a:bodyPr wrap="square" lIns="0" tIns="0" rIns="0" bIns="0" anchor="t">
            <a:spAutoFit/>
          </a:bodyPr>
          <a:lstStyle/>
          <a:p>
            <a:pPr algn="l">
              <a:lnSpc>
                <a:spcPct val="134000"/>
              </a:lnSpc>
              <a:spcAft>
                <a:spcPts val="0"/>
              </a:spcAft>
            </a:pPr>
            <a:r>
              <a:rPr sz="1400" b="0" i="0">
                <a:solidFill>
                  <a:srgbClr val="5A544E"/>
                </a:solidFill>
                <a:latin typeface="Segoe UI"/>
              </a:rPr>
              <a:t>The execution layer. The dashboard is a simulation</a:t>
            </a:r>
          </a:p>
        </p:txBody>
      </p:sp>
      <p:sp>
        <p:nvSpPr>
          <p:cNvPr id="22" name="Rectangle 21"/>
          <p:cNvSpPr/>
          <p:nvPr/>
        </p:nvSpPr>
        <p:spPr>
          <a:xfrm>
            <a:off x="6662775" y="4087368"/>
            <a:ext cx="77724" cy="77724"/>
          </a:xfrm>
          <a:prstGeom prst="rect">
            <a:avLst/>
          </a:prstGeom>
          <a:solidFill>
            <a:srgbClr val="BE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37095" y="3995928"/>
            <a:ext cx="4084167" cy="274320"/>
          </a:xfrm>
          <a:prstGeom prst="rect">
            <a:avLst/>
          </a:prstGeom>
          <a:noFill/>
        </p:spPr>
        <p:txBody>
          <a:bodyPr wrap="square" lIns="0" tIns="0" rIns="0" bIns="0" anchor="t">
            <a:spAutoFit/>
          </a:bodyPr>
          <a:lstStyle/>
          <a:p>
            <a:pPr algn="l">
              <a:lnSpc>
                <a:spcPct val="134000"/>
              </a:lnSpc>
              <a:spcAft>
                <a:spcPts val="0"/>
              </a:spcAft>
            </a:pPr>
            <a:r>
              <a:rPr sz="1400" b="0" i="0">
                <a:solidFill>
                  <a:srgbClr val="5A544E"/>
                </a:solidFill>
                <a:latin typeface="Segoe UI"/>
              </a:rPr>
              <a:t>No database, no SSO, no stored Registry</a:t>
            </a:r>
          </a:p>
        </p:txBody>
      </p:sp>
      <p:sp>
        <p:nvSpPr>
          <p:cNvPr id="24" name="Rectangle 23"/>
          <p:cNvSpPr/>
          <p:nvPr/>
        </p:nvSpPr>
        <p:spPr>
          <a:xfrm>
            <a:off x="6662775" y="4544568"/>
            <a:ext cx="77724" cy="77724"/>
          </a:xfrm>
          <a:prstGeom prst="rect">
            <a:avLst/>
          </a:prstGeom>
          <a:solidFill>
            <a:srgbClr val="BE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37095" y="4453128"/>
            <a:ext cx="4084167" cy="274320"/>
          </a:xfrm>
          <a:prstGeom prst="rect">
            <a:avLst/>
          </a:prstGeom>
          <a:noFill/>
        </p:spPr>
        <p:txBody>
          <a:bodyPr wrap="square" lIns="0" tIns="0" rIns="0" bIns="0" anchor="t">
            <a:spAutoFit/>
          </a:bodyPr>
          <a:lstStyle/>
          <a:p>
            <a:pPr algn="l">
              <a:lnSpc>
                <a:spcPct val="134000"/>
              </a:lnSpc>
              <a:spcAft>
                <a:spcPts val="0"/>
              </a:spcAft>
            </a:pPr>
            <a:r>
              <a:rPr sz="1400" b="0" i="0">
                <a:solidFill>
                  <a:srgbClr val="5A544E"/>
                </a:solidFill>
                <a:latin typeface="Segoe UI"/>
              </a:rPr>
              <a:t>Zero revenue, zero customers, zero pilots</a:t>
            </a:r>
          </a:p>
        </p:txBody>
      </p:sp>
      <p:sp>
        <p:nvSpPr>
          <p:cNvPr id="26" name="TextBox 25"/>
          <p:cNvSpPr txBox="1"/>
          <p:nvPr/>
        </p:nvSpPr>
        <p:spPr>
          <a:xfrm>
            <a:off x="914400" y="5047488"/>
            <a:ext cx="10362895" cy="640080"/>
          </a:xfrm>
          <a:prstGeom prst="rect">
            <a:avLst/>
          </a:prstGeom>
          <a:noFill/>
        </p:spPr>
        <p:txBody>
          <a:bodyPr wrap="square" lIns="0" tIns="0" rIns="0" bIns="0" anchor="t">
            <a:spAutoFit/>
          </a:bodyPr>
          <a:lstStyle/>
          <a:p>
            <a:pPr algn="l">
              <a:lnSpc>
                <a:spcPct val="135000"/>
              </a:lnSpc>
              <a:spcAft>
                <a:spcPts val="0"/>
              </a:spcAft>
            </a:pPr>
            <a:r>
              <a:rPr sz="1500" b="0" i="0">
                <a:solidFill>
                  <a:srgbClr val="5A544E"/>
                </a:solidFill>
                <a:latin typeface="Segoe UI"/>
              </a:rPr>
              <a:t>Design partners shown in the product are illustrative, not real companies. </a:t>
            </a:r>
            <a:r>
              <a:rPr sz="1500" b="1" i="0">
                <a:solidFill>
                  <a:srgbClr val="1C1712"/>
                </a:solidFill>
                <a:latin typeface="Segoe UI"/>
              </a:rPr>
              <a:t>We will not present them as traction.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E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03504"/>
            <a:ext cx="10362895" cy="201168"/>
          </a:xfrm>
          <a:prstGeom prst="rect">
            <a:avLst/>
          </a:prstGeom>
          <a:noFill/>
        </p:spPr>
        <p:txBody>
          <a:bodyPr wrap="square" lIns="0" tIns="0" rIns="0" bIns="0" anchor="t">
            <a:spAutoFit/>
          </a:bodyPr>
          <a:lstStyle/>
          <a:p>
            <a:pPr algn="l">
              <a:spcAft>
                <a:spcPts val="0"/>
              </a:spcAft>
            </a:pPr>
            <a:r>
              <a:rPr sz="1050" b="1" i="0">
                <a:solidFill>
                  <a:srgbClr val="706B64"/>
                </a:solidFill>
                <a:latin typeface="Segoe UI"/>
              </a:rPr>
              <a:t>THE ASK</a:t>
            </a:r>
          </a:p>
        </p:txBody>
      </p:sp>
      <p:sp>
        <p:nvSpPr>
          <p:cNvPr id="4" name="TextBox 3"/>
          <p:cNvSpPr txBox="1"/>
          <p:nvPr/>
        </p:nvSpPr>
        <p:spPr>
          <a:xfrm>
            <a:off x="914400" y="950976"/>
            <a:ext cx="10362895" cy="530352"/>
          </a:xfrm>
          <a:prstGeom prst="rect">
            <a:avLst/>
          </a:prstGeom>
          <a:noFill/>
        </p:spPr>
        <p:txBody>
          <a:bodyPr wrap="square" lIns="0" tIns="0" rIns="0" bIns="0" anchor="t">
            <a:spAutoFit/>
          </a:bodyPr>
          <a:lstStyle/>
          <a:p>
            <a:pPr algn="l">
              <a:lnSpc>
                <a:spcPct val="106000"/>
              </a:lnSpc>
              <a:spcAft>
                <a:spcPts val="0"/>
              </a:spcAft>
            </a:pPr>
            <a:r>
              <a:rPr sz="3400" b="0" i="0">
                <a:solidFill>
                  <a:srgbClr val="1C1712"/>
                </a:solidFill>
                <a:latin typeface="Georgia"/>
              </a:rPr>
              <a:t>$1.5M pre-seed. Eighteen months of runway.</a:t>
            </a:r>
          </a:p>
        </p:txBody>
      </p:sp>
      <p:sp>
        <p:nvSpPr>
          <p:cNvPr id="5" name="Rectangle 4"/>
          <p:cNvSpPr/>
          <p:nvPr/>
        </p:nvSpPr>
        <p:spPr>
          <a:xfrm>
            <a:off x="914400" y="1664208"/>
            <a:ext cx="10362895" cy="0"/>
          </a:xfrm>
          <a:prstGeom prst="rect">
            <a:avLst/>
          </a:prstGeom>
          <a:noFill/>
          <a:ln w="9525">
            <a:solidFill>
              <a:srgbClr val="CDCA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7" name="TextBox 6"/>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11</a:t>
            </a:r>
          </a:p>
        </p:txBody>
      </p:sp>
      <p:sp>
        <p:nvSpPr>
          <p:cNvPr id="8" name="TextBox 7"/>
          <p:cNvSpPr txBox="1"/>
          <p:nvPr/>
        </p:nvSpPr>
        <p:spPr>
          <a:xfrm>
            <a:off x="1042416" y="2029968"/>
            <a:ext cx="2334691" cy="658368"/>
          </a:xfrm>
          <a:prstGeom prst="rect">
            <a:avLst/>
          </a:prstGeom>
          <a:noFill/>
        </p:spPr>
        <p:txBody>
          <a:bodyPr wrap="square" lIns="0" tIns="0" rIns="0" bIns="0" anchor="t">
            <a:spAutoFit/>
          </a:bodyPr>
          <a:lstStyle/>
          <a:p>
            <a:pPr algn="l">
              <a:spcAft>
                <a:spcPts val="0"/>
              </a:spcAft>
            </a:pPr>
            <a:r>
              <a:rPr sz="4000" b="0" i="0">
                <a:solidFill>
                  <a:srgbClr val="1C1712"/>
                </a:solidFill>
                <a:latin typeface="Segoe UI"/>
              </a:rPr>
              <a:t>$1.5M</a:t>
            </a:r>
          </a:p>
        </p:txBody>
      </p:sp>
      <p:sp>
        <p:nvSpPr>
          <p:cNvPr id="9" name="TextBox 8"/>
          <p:cNvSpPr txBox="1"/>
          <p:nvPr/>
        </p:nvSpPr>
        <p:spPr>
          <a:xfrm>
            <a:off x="1042416" y="2724912"/>
            <a:ext cx="2279827" cy="548640"/>
          </a:xfrm>
          <a:prstGeom prst="rect">
            <a:avLst/>
          </a:prstGeom>
          <a:noFill/>
        </p:spPr>
        <p:txBody>
          <a:bodyPr wrap="square" lIns="0" tIns="0" rIns="0" bIns="0" anchor="t">
            <a:spAutoFit/>
          </a:bodyPr>
          <a:lstStyle/>
          <a:p>
            <a:pPr algn="l">
              <a:lnSpc>
                <a:spcPct val="128000"/>
              </a:lnSpc>
              <a:spcAft>
                <a:spcPts val="0"/>
              </a:spcAft>
            </a:pPr>
            <a:r>
              <a:rPr sz="1200" b="0" i="0">
                <a:solidFill>
                  <a:srgbClr val="5A544E"/>
                </a:solidFill>
                <a:latin typeface="Segoe UI"/>
              </a:rPr>
              <a:t>pre-seed round</a:t>
            </a:r>
          </a:p>
        </p:txBody>
      </p:sp>
      <p:sp>
        <p:nvSpPr>
          <p:cNvPr id="10" name="Rectangle 9"/>
          <p:cNvSpPr/>
          <p:nvPr/>
        </p:nvSpPr>
        <p:spPr>
          <a:xfrm>
            <a:off x="3486835" y="2066544"/>
            <a:ext cx="0" cy="1005840"/>
          </a:xfrm>
          <a:prstGeom prst="rect">
            <a:avLst/>
          </a:prstGeom>
          <a:no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33139" y="2029968"/>
            <a:ext cx="2334691" cy="658368"/>
          </a:xfrm>
          <a:prstGeom prst="rect">
            <a:avLst/>
          </a:prstGeom>
          <a:noFill/>
        </p:spPr>
        <p:txBody>
          <a:bodyPr wrap="square" lIns="0" tIns="0" rIns="0" bIns="0" anchor="t">
            <a:spAutoFit/>
          </a:bodyPr>
          <a:lstStyle/>
          <a:p>
            <a:pPr algn="l">
              <a:spcAft>
                <a:spcPts val="0"/>
              </a:spcAft>
            </a:pPr>
            <a:r>
              <a:rPr sz="4000" b="0" i="0">
                <a:solidFill>
                  <a:srgbClr val="1C1712"/>
                </a:solidFill>
                <a:latin typeface="Segoe UI"/>
              </a:rPr>
              <a:t>18</a:t>
            </a:r>
          </a:p>
        </p:txBody>
      </p:sp>
      <p:sp>
        <p:nvSpPr>
          <p:cNvPr id="12" name="TextBox 11"/>
          <p:cNvSpPr txBox="1"/>
          <p:nvPr/>
        </p:nvSpPr>
        <p:spPr>
          <a:xfrm>
            <a:off x="3633139" y="2724912"/>
            <a:ext cx="2279827" cy="548640"/>
          </a:xfrm>
          <a:prstGeom prst="rect">
            <a:avLst/>
          </a:prstGeom>
          <a:noFill/>
        </p:spPr>
        <p:txBody>
          <a:bodyPr wrap="square" lIns="0" tIns="0" rIns="0" bIns="0" anchor="t">
            <a:spAutoFit/>
          </a:bodyPr>
          <a:lstStyle/>
          <a:p>
            <a:pPr algn="l">
              <a:lnSpc>
                <a:spcPct val="128000"/>
              </a:lnSpc>
              <a:spcAft>
                <a:spcPts val="0"/>
              </a:spcAft>
            </a:pPr>
            <a:r>
              <a:rPr sz="1200" b="0" i="0">
                <a:solidFill>
                  <a:srgbClr val="5A544E"/>
                </a:solidFill>
                <a:latin typeface="Segoe UI"/>
              </a:rPr>
              <a:t>months of runway</a:t>
            </a:r>
          </a:p>
        </p:txBody>
      </p:sp>
      <p:sp>
        <p:nvSpPr>
          <p:cNvPr id="13" name="Rectangle 12"/>
          <p:cNvSpPr/>
          <p:nvPr/>
        </p:nvSpPr>
        <p:spPr>
          <a:xfrm>
            <a:off x="6077559" y="2066544"/>
            <a:ext cx="0" cy="1005840"/>
          </a:xfrm>
          <a:prstGeom prst="rect">
            <a:avLst/>
          </a:prstGeom>
          <a:no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23863" y="2029968"/>
            <a:ext cx="2334691" cy="658368"/>
          </a:xfrm>
          <a:prstGeom prst="rect">
            <a:avLst/>
          </a:prstGeom>
          <a:noFill/>
        </p:spPr>
        <p:txBody>
          <a:bodyPr wrap="square" lIns="0" tIns="0" rIns="0" bIns="0" anchor="t">
            <a:spAutoFit/>
          </a:bodyPr>
          <a:lstStyle/>
          <a:p>
            <a:pPr algn="l">
              <a:spcAft>
                <a:spcPts val="0"/>
              </a:spcAft>
            </a:pPr>
            <a:r>
              <a:rPr sz="4000" b="0" i="0">
                <a:solidFill>
                  <a:srgbClr val="1C1712"/>
                </a:solidFill>
                <a:latin typeface="Segoe UI"/>
              </a:rPr>
              <a:t>3</a:t>
            </a:r>
          </a:p>
        </p:txBody>
      </p:sp>
      <p:sp>
        <p:nvSpPr>
          <p:cNvPr id="15" name="TextBox 14"/>
          <p:cNvSpPr txBox="1"/>
          <p:nvPr/>
        </p:nvSpPr>
        <p:spPr>
          <a:xfrm>
            <a:off x="6223863" y="2724912"/>
            <a:ext cx="2279827" cy="548640"/>
          </a:xfrm>
          <a:prstGeom prst="rect">
            <a:avLst/>
          </a:prstGeom>
          <a:noFill/>
        </p:spPr>
        <p:txBody>
          <a:bodyPr wrap="square" lIns="0" tIns="0" rIns="0" bIns="0" anchor="t">
            <a:spAutoFit/>
          </a:bodyPr>
          <a:lstStyle/>
          <a:p>
            <a:pPr algn="l">
              <a:lnSpc>
                <a:spcPct val="128000"/>
              </a:lnSpc>
              <a:spcAft>
                <a:spcPts val="0"/>
              </a:spcAft>
            </a:pPr>
            <a:r>
              <a:rPr sz="1200" b="0" i="0">
                <a:solidFill>
                  <a:srgbClr val="5A544E"/>
                </a:solidFill>
                <a:latin typeface="Segoe UI"/>
              </a:rPr>
              <a:t>engineering hires</a:t>
            </a:r>
          </a:p>
        </p:txBody>
      </p:sp>
      <p:sp>
        <p:nvSpPr>
          <p:cNvPr id="16" name="Rectangle 15"/>
          <p:cNvSpPr/>
          <p:nvPr/>
        </p:nvSpPr>
        <p:spPr>
          <a:xfrm>
            <a:off x="8668283" y="2066544"/>
            <a:ext cx="0" cy="1005840"/>
          </a:xfrm>
          <a:prstGeom prst="rect">
            <a:avLst/>
          </a:prstGeom>
          <a:no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14587" y="2029968"/>
            <a:ext cx="2334691" cy="658368"/>
          </a:xfrm>
          <a:prstGeom prst="rect">
            <a:avLst/>
          </a:prstGeom>
          <a:noFill/>
        </p:spPr>
        <p:txBody>
          <a:bodyPr wrap="square" lIns="0" tIns="0" rIns="0" bIns="0" anchor="t">
            <a:spAutoFit/>
          </a:bodyPr>
          <a:lstStyle/>
          <a:p>
            <a:pPr algn="l">
              <a:spcAft>
                <a:spcPts val="0"/>
              </a:spcAft>
            </a:pPr>
            <a:r>
              <a:rPr sz="4000" b="0" i="0">
                <a:solidFill>
                  <a:srgbClr val="1C1712"/>
                </a:solidFill>
                <a:latin typeface="Segoe UI"/>
              </a:rPr>
              <a:t>3</a:t>
            </a:r>
          </a:p>
        </p:txBody>
      </p:sp>
      <p:sp>
        <p:nvSpPr>
          <p:cNvPr id="18" name="TextBox 17"/>
          <p:cNvSpPr txBox="1"/>
          <p:nvPr/>
        </p:nvSpPr>
        <p:spPr>
          <a:xfrm>
            <a:off x="8814587" y="2724912"/>
            <a:ext cx="2279827" cy="548640"/>
          </a:xfrm>
          <a:prstGeom prst="rect">
            <a:avLst/>
          </a:prstGeom>
          <a:noFill/>
        </p:spPr>
        <p:txBody>
          <a:bodyPr wrap="square" lIns="0" tIns="0" rIns="0" bIns="0" anchor="t">
            <a:spAutoFit/>
          </a:bodyPr>
          <a:lstStyle/>
          <a:p>
            <a:pPr algn="l">
              <a:lnSpc>
                <a:spcPct val="128000"/>
              </a:lnSpc>
              <a:spcAft>
                <a:spcPts val="0"/>
              </a:spcAft>
            </a:pPr>
            <a:r>
              <a:rPr sz="1200" b="0" i="0">
                <a:solidFill>
                  <a:srgbClr val="5A544E"/>
                </a:solidFill>
                <a:latin typeface="Segoe UI"/>
              </a:rPr>
              <a:t>paying customers, verified</a:t>
            </a:r>
          </a:p>
        </p:txBody>
      </p:sp>
      <p:sp>
        <p:nvSpPr>
          <p:cNvPr id="19" name="Rectangle 18"/>
          <p:cNvSpPr/>
          <p:nvPr/>
        </p:nvSpPr>
        <p:spPr>
          <a:xfrm>
            <a:off x="914400" y="3584448"/>
            <a:ext cx="3271418" cy="1051560"/>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4400" y="3584448"/>
            <a:ext cx="3271418" cy="36576"/>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858768"/>
            <a:ext cx="2759354" cy="228600"/>
          </a:xfrm>
          <a:prstGeom prst="rect">
            <a:avLst/>
          </a:prstGeom>
          <a:noFill/>
        </p:spPr>
        <p:txBody>
          <a:bodyPr wrap="square" lIns="0" tIns="0" rIns="0" bIns="0" anchor="t">
            <a:spAutoFit/>
          </a:bodyPr>
          <a:lstStyle/>
          <a:p>
            <a:pPr algn="l">
              <a:spcAft>
                <a:spcPts val="0"/>
              </a:spcAft>
            </a:pPr>
            <a:r>
              <a:rPr sz="1000" b="1" i="0">
                <a:solidFill>
                  <a:srgbClr val="706B64"/>
                </a:solidFill>
                <a:latin typeface="Segoe UI"/>
              </a:rPr>
              <a:t>MONTHS 0–6</a:t>
            </a:r>
          </a:p>
        </p:txBody>
      </p:sp>
      <p:sp>
        <p:nvSpPr>
          <p:cNvPr id="22" name="TextBox 21"/>
          <p:cNvSpPr txBox="1"/>
          <p:nvPr/>
        </p:nvSpPr>
        <p:spPr>
          <a:xfrm>
            <a:off x="1170432" y="4151376"/>
            <a:ext cx="2759354" cy="365760"/>
          </a:xfrm>
          <a:prstGeom prst="rect">
            <a:avLst/>
          </a:prstGeom>
          <a:noFill/>
        </p:spPr>
        <p:txBody>
          <a:bodyPr wrap="square" lIns="0" tIns="0" rIns="0" bIns="0" anchor="t">
            <a:spAutoFit/>
          </a:bodyPr>
          <a:lstStyle/>
          <a:p>
            <a:pPr algn="l">
              <a:lnSpc>
                <a:spcPct val="125000"/>
              </a:lnSpc>
              <a:spcAft>
                <a:spcPts val="0"/>
              </a:spcAft>
            </a:pPr>
            <a:r>
              <a:rPr sz="1450" b="1" i="0">
                <a:solidFill>
                  <a:srgbClr val="1C1712"/>
                </a:solidFill>
                <a:latin typeface="Segoe UI"/>
              </a:rPr>
              <a:t>3 paid pilots live</a:t>
            </a:r>
          </a:p>
        </p:txBody>
      </p:sp>
      <p:sp>
        <p:nvSpPr>
          <p:cNvPr id="23" name="Rectangle 22"/>
          <p:cNvSpPr/>
          <p:nvPr/>
        </p:nvSpPr>
        <p:spPr>
          <a:xfrm>
            <a:off x="4460138" y="3584448"/>
            <a:ext cx="3271418" cy="1051560"/>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60138" y="3584448"/>
            <a:ext cx="3271418" cy="36576"/>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16170" y="3858768"/>
            <a:ext cx="2759354" cy="228600"/>
          </a:xfrm>
          <a:prstGeom prst="rect">
            <a:avLst/>
          </a:prstGeom>
          <a:noFill/>
        </p:spPr>
        <p:txBody>
          <a:bodyPr wrap="square" lIns="0" tIns="0" rIns="0" bIns="0" anchor="t">
            <a:spAutoFit/>
          </a:bodyPr>
          <a:lstStyle/>
          <a:p>
            <a:pPr algn="l">
              <a:spcAft>
                <a:spcPts val="0"/>
              </a:spcAft>
            </a:pPr>
            <a:r>
              <a:rPr sz="1000" b="1" i="0">
                <a:solidFill>
                  <a:srgbClr val="706B64"/>
                </a:solidFill>
                <a:latin typeface="Segoe UI"/>
              </a:rPr>
              <a:t>MONTHS 6–12</a:t>
            </a:r>
          </a:p>
        </p:txBody>
      </p:sp>
      <p:sp>
        <p:nvSpPr>
          <p:cNvPr id="26" name="TextBox 25"/>
          <p:cNvSpPr txBox="1"/>
          <p:nvPr/>
        </p:nvSpPr>
        <p:spPr>
          <a:xfrm>
            <a:off x="4716170" y="4151376"/>
            <a:ext cx="2759354" cy="365760"/>
          </a:xfrm>
          <a:prstGeom prst="rect">
            <a:avLst/>
          </a:prstGeom>
          <a:noFill/>
        </p:spPr>
        <p:txBody>
          <a:bodyPr wrap="square" lIns="0" tIns="0" rIns="0" bIns="0" anchor="t">
            <a:spAutoFit/>
          </a:bodyPr>
          <a:lstStyle/>
          <a:p>
            <a:pPr algn="l">
              <a:lnSpc>
                <a:spcPct val="125000"/>
              </a:lnSpc>
              <a:spcAft>
                <a:spcPts val="0"/>
              </a:spcAft>
            </a:pPr>
            <a:r>
              <a:rPr sz="1450" b="1" i="0">
                <a:solidFill>
                  <a:srgbClr val="1C1712"/>
                </a:solidFill>
                <a:latin typeface="Segoe UI"/>
              </a:rPr>
              <a:t>Verified saving at 3 customers</a:t>
            </a:r>
          </a:p>
        </p:txBody>
      </p:sp>
      <p:sp>
        <p:nvSpPr>
          <p:cNvPr id="27" name="Rectangle 26"/>
          <p:cNvSpPr/>
          <p:nvPr/>
        </p:nvSpPr>
        <p:spPr>
          <a:xfrm>
            <a:off x="8005876" y="3584448"/>
            <a:ext cx="3271418" cy="1051560"/>
          </a:xfrm>
          <a:prstGeom prst="rect">
            <a:avLst/>
          </a:prstGeom>
          <a:solidFill>
            <a:srgbClr val="FFFFFF"/>
          </a:solidFill>
          <a:ln w="9525">
            <a:solidFill>
              <a:srgbClr val="E3E1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005876" y="3584448"/>
            <a:ext cx="3271418" cy="36576"/>
          </a:xfrm>
          <a:prstGeom prst="rect">
            <a:avLst/>
          </a:prstGeom>
          <a:solidFill>
            <a:srgbClr val="1D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61908" y="3858768"/>
            <a:ext cx="2759354" cy="228600"/>
          </a:xfrm>
          <a:prstGeom prst="rect">
            <a:avLst/>
          </a:prstGeom>
          <a:noFill/>
        </p:spPr>
        <p:txBody>
          <a:bodyPr wrap="square" lIns="0" tIns="0" rIns="0" bIns="0" anchor="t">
            <a:spAutoFit/>
          </a:bodyPr>
          <a:lstStyle/>
          <a:p>
            <a:pPr algn="l">
              <a:spcAft>
                <a:spcPts val="0"/>
              </a:spcAft>
            </a:pPr>
            <a:r>
              <a:rPr sz="1000" b="1" i="0">
                <a:solidFill>
                  <a:srgbClr val="706B64"/>
                </a:solidFill>
                <a:latin typeface="Segoe UI"/>
              </a:rPr>
              <a:t>MONTHS 12–18</a:t>
            </a:r>
          </a:p>
        </p:txBody>
      </p:sp>
      <p:sp>
        <p:nvSpPr>
          <p:cNvPr id="30" name="TextBox 29"/>
          <p:cNvSpPr txBox="1"/>
          <p:nvPr/>
        </p:nvSpPr>
        <p:spPr>
          <a:xfrm>
            <a:off x="8261908" y="4151376"/>
            <a:ext cx="2759354" cy="365760"/>
          </a:xfrm>
          <a:prstGeom prst="rect">
            <a:avLst/>
          </a:prstGeom>
          <a:noFill/>
        </p:spPr>
        <p:txBody>
          <a:bodyPr wrap="square" lIns="0" tIns="0" rIns="0" bIns="0" anchor="t">
            <a:spAutoFit/>
          </a:bodyPr>
          <a:lstStyle/>
          <a:p>
            <a:pPr algn="l">
              <a:lnSpc>
                <a:spcPct val="125000"/>
              </a:lnSpc>
              <a:spcAft>
                <a:spcPts val="0"/>
              </a:spcAft>
            </a:pPr>
            <a:r>
              <a:rPr sz="1450" b="1" i="0">
                <a:solidFill>
                  <a:srgbClr val="1C1712"/>
                </a:solidFill>
                <a:latin typeface="Segoe UI"/>
              </a:rPr>
              <a:t>Series A metrics, or stop</a:t>
            </a:r>
          </a:p>
        </p:txBody>
      </p:sp>
      <p:sp>
        <p:nvSpPr>
          <p:cNvPr id="31" name="TextBox 30"/>
          <p:cNvSpPr txBox="1"/>
          <p:nvPr/>
        </p:nvSpPr>
        <p:spPr>
          <a:xfrm>
            <a:off x="914400" y="4892040"/>
            <a:ext cx="10362895" cy="640080"/>
          </a:xfrm>
          <a:prstGeom prst="rect">
            <a:avLst/>
          </a:prstGeom>
          <a:noFill/>
        </p:spPr>
        <p:txBody>
          <a:bodyPr wrap="square" lIns="0" tIns="0" rIns="0" bIns="0" anchor="t">
            <a:spAutoFit/>
          </a:bodyPr>
          <a:lstStyle/>
          <a:p>
            <a:pPr algn="l">
              <a:lnSpc>
                <a:spcPct val="135000"/>
              </a:lnSpc>
              <a:spcAft>
                <a:spcPts val="0"/>
              </a:spcAft>
            </a:pPr>
            <a:r>
              <a:rPr sz="1500" b="1" i="0">
                <a:solidFill>
                  <a:srgbClr val="1C1712"/>
                </a:solidFill>
                <a:latin typeface="Segoe UI"/>
              </a:rPr>
              <a:t>62% to engineering. </a:t>
            </a:r>
            <a:r>
              <a:rPr sz="1500" b="0" i="0">
                <a:solidFill>
                  <a:srgbClr val="5A544E"/>
                </a:solidFill>
                <a:latin typeface="Segoe UI"/>
              </a:rPr>
              <a:t>The rest to pilot delivery, SOC 2 Type II and infrastructure. What we want besides money: one introduction to a CFO who will run a paid pilot.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C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F53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240280"/>
            <a:ext cx="10241280" cy="1828800"/>
          </a:xfrm>
          <a:prstGeom prst="rect">
            <a:avLst/>
          </a:prstGeom>
          <a:noFill/>
        </p:spPr>
        <p:txBody>
          <a:bodyPr wrap="square" lIns="0" tIns="0" rIns="0" bIns="0" anchor="t">
            <a:spAutoFit/>
          </a:bodyPr>
          <a:lstStyle/>
          <a:p>
            <a:pPr algn="l">
              <a:lnSpc>
                <a:spcPct val="116000"/>
              </a:lnSpc>
              <a:spcAft>
                <a:spcPts val="0"/>
              </a:spcAft>
            </a:pPr>
            <a:r>
              <a:rPr sz="4200" b="0" i="0">
                <a:solidFill>
                  <a:srgbClr val="FEFDFC"/>
                </a:solidFill>
                <a:latin typeface="Georgia"/>
              </a:rPr>
              <a:t>Agents will do the work.
Somebody still has to be accountable.</a:t>
            </a:r>
          </a:p>
        </p:txBody>
      </p:sp>
      <p:sp>
        <p:nvSpPr>
          <p:cNvPr id="5" name="TextBox 4"/>
          <p:cNvSpPr txBox="1"/>
          <p:nvPr/>
        </p:nvSpPr>
        <p:spPr>
          <a:xfrm>
            <a:off x="914400" y="3977639"/>
            <a:ext cx="9326880" cy="822960"/>
          </a:xfrm>
          <a:prstGeom prst="rect">
            <a:avLst/>
          </a:prstGeom>
          <a:noFill/>
        </p:spPr>
        <p:txBody>
          <a:bodyPr wrap="square" lIns="0" tIns="0" rIns="0" bIns="0" anchor="t">
            <a:spAutoFit/>
          </a:bodyPr>
          <a:lstStyle/>
          <a:p>
            <a:pPr algn="l">
              <a:lnSpc>
                <a:spcPct val="135000"/>
              </a:lnSpc>
              <a:spcAft>
                <a:spcPts val="0"/>
              </a:spcAft>
            </a:pPr>
            <a:r>
              <a:rPr sz="1700" b="0" i="0">
                <a:solidFill>
                  <a:srgbClr val="CDCAC5"/>
                </a:solidFill>
                <a:latin typeface="Segoe UI"/>
              </a:rPr>
              <a:t>Meridian is the record of who that is — for every agent an enterprise runs, including the ones we did not build.</a:t>
            </a:r>
          </a:p>
        </p:txBody>
      </p:sp>
      <p:sp>
        <p:nvSpPr>
          <p:cNvPr id="6" name="Rectangle 5"/>
          <p:cNvSpPr/>
          <p:nvPr/>
        </p:nvSpPr>
        <p:spPr>
          <a:xfrm>
            <a:off x="914400" y="5029200"/>
            <a:ext cx="10362895" cy="0"/>
          </a:xfrm>
          <a:prstGeom prst="rect">
            <a:avLst/>
          </a:prstGeom>
          <a:noFill/>
          <a:ln w="9525">
            <a:solidFill>
              <a:srgbClr val="3A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5303520"/>
            <a:ext cx="10058400" cy="914400"/>
          </a:xfrm>
          <a:prstGeom prst="rect">
            <a:avLst/>
          </a:prstGeom>
          <a:noFill/>
        </p:spPr>
        <p:txBody>
          <a:bodyPr wrap="square" lIns="0" tIns="0" rIns="0" bIns="0" anchor="t">
            <a:spAutoFit/>
          </a:bodyPr>
          <a:lstStyle/>
          <a:p>
            <a:pPr algn="l">
              <a:spcAft>
                <a:spcPts val="800"/>
              </a:spcAft>
            </a:pPr>
            <a:r>
              <a:rPr sz="1400" b="1" i="0">
                <a:solidFill>
                  <a:srgbClr val="FEFDFC"/>
                </a:solidFill>
                <a:latin typeface="Segoe UI"/>
              </a:rPr>
              <a:t>enterprise-hr-finance.vercel.app</a:t>
            </a:r>
          </a:p>
          <a:p>
            <a:pPr algn="l">
              <a:spcAft>
                <a:spcPts val="800"/>
              </a:spcAft>
            </a:pPr>
            <a:r>
              <a:rPr sz="1300" b="0" i="0">
                <a:solidFill>
                  <a:srgbClr val="CDCAC5"/>
                </a:solidFill>
                <a:latin typeface="Segoe UI"/>
              </a:rPr>
              <a:t>Peter Alesso  ·  Founder</a:t>
            </a:r>
          </a:p>
        </p:txBody>
      </p:sp>
      <p:sp>
        <p:nvSpPr>
          <p:cNvPr id="8" name="TextBox 7"/>
          <p:cNvSpPr txBox="1"/>
          <p:nvPr/>
        </p:nvSpPr>
        <p:spPr>
          <a:xfrm>
            <a:off x="914400" y="6437376"/>
            <a:ext cx="5486400" cy="182880"/>
          </a:xfrm>
          <a:prstGeom prst="rect">
            <a:avLst/>
          </a:prstGeom>
          <a:noFill/>
        </p:spPr>
        <p:txBody>
          <a:bodyPr wrap="square" lIns="0" tIns="0" rIns="0" bIns="0" anchor="t">
            <a:spAutoFit/>
          </a:bodyPr>
          <a:lstStyle/>
          <a:p>
            <a:pPr algn="l">
              <a:spcAft>
                <a:spcPts val="0"/>
              </a:spcAft>
            </a:pPr>
            <a:r>
              <a:rPr sz="900" b="0" i="0">
                <a:solidFill>
                  <a:srgbClr val="A29E98"/>
                </a:solidFill>
                <a:latin typeface="Segoe UI"/>
              </a:rPr>
              <a:t>Meridian  ·  Confidential</a:t>
            </a:r>
          </a:p>
        </p:txBody>
      </p:sp>
      <p:sp>
        <p:nvSpPr>
          <p:cNvPr id="9" name="TextBox 8"/>
          <p:cNvSpPr txBox="1"/>
          <p:nvPr/>
        </p:nvSpPr>
        <p:spPr>
          <a:xfrm>
            <a:off x="10362895" y="6437376"/>
            <a:ext cx="914400" cy="182880"/>
          </a:xfrm>
          <a:prstGeom prst="rect">
            <a:avLst/>
          </a:prstGeom>
          <a:noFill/>
        </p:spPr>
        <p:txBody>
          <a:bodyPr wrap="square" lIns="0" tIns="0" rIns="0" bIns="0" anchor="t">
            <a:spAutoFit/>
          </a:bodyPr>
          <a:lstStyle/>
          <a:p>
            <a:pPr algn="r">
              <a:spcAft>
                <a:spcPts val="0"/>
              </a:spcAft>
            </a:pPr>
            <a:r>
              <a:rPr sz="900" b="0" i="0">
                <a:solidFill>
                  <a:srgbClr val="A29E98"/>
                </a:solidFill>
                <a:latin typeface="Segoe U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1028</Words>
  <Application>Microsoft Office PowerPoint</Application>
  <PresentationFormat>Widescreen</PresentationFormat>
  <Paragraphs>148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Harry Alesso</cp:lastModifiedBy>
  <cp:revision>3</cp:revision>
  <dcterms:created xsi:type="dcterms:W3CDTF">2013-01-27T09:14:16Z</dcterms:created>
  <dcterms:modified xsi:type="dcterms:W3CDTF">2026-09-12T16:51:06Z</dcterms:modified>
  <cp:category/>
</cp:coreProperties>
</file>
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line, then invite them to open the URL during the call. Do not start presenting the product; the next slide starts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 break. Pause. You are about to describe their world, not your company.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shift is external and undeniable: their own portfolio companies are already being told to deploy agents. Land the closing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79 versus 11 is the whole opportunity in two numbers. Let the slide 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emotional centre of the deck. Slow right down. She knows she is losing money, finds out sixty days late, and pays a firm a share to tell her. Do not name a company: this is the role, not a customer we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which of the four a chat-based vendor answers well. The answer is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Pre-empt the three alternatives before they raise them. Remember the closing line: fully in the loop, or fully out. Neither ships in finance.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promised land. This is what they are funding. Read the blue box and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 break. Now, and only now, you talk about what you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mechanic, two boxes. If they remember one slide, make it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Below the model, not in the prompt. Say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twelve names. One job, one number each, then make the narrow-scope argument: nobody says yes to a general agent with payroll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strongest commercial slide. Recovery audits prove the budget already exists; we act before the money leaves rather than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model risk and defensibility at once. Customers can swap models without renegotiating governance.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compounding argument. A suite will never govern a rival's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Offer to share your screen. A live streaming dashboard beats every slide here. Say plainly that the feed is simulated and the platform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claim incumbents cannot move. Claim what they would have to give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Two-layer pricing is the market convention, not our invention.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 break. Everything from here is the money and the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red column aloud, including that design partners are illustrative. Volunteering this is what makes the rest of the deck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'can he ship' with a number rather than an adjective. Offer the blind comparison composites.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phase ends in a gate, including one that says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number and stop talking. The CFO introduction matters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here. No thank-you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200" b="0" i="0">
                <a:solidFill>
                  <a:srgbClr val="1C1712"/>
                </a:solidFill>
                <a:latin typeface="Georgia"/>
              </a:rPr>
              <a:t>Meridian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326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000" b="0" i="0">
                <a:solidFill>
                  <a:srgbClr val="5A544E"/>
                </a:solidFill>
                <a:latin typeface="Segoe UI"/>
              </a:rPr>
              <a:t>AI agents that run HR and finance — and a named human accountable for every consequential action.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617720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8920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Pre-seed  ·  Peter Alesso, Founder  ·  September 2026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1F5390"/>
                </a:solidFill>
                <a:latin typeface="Segoe UI"/>
              </a:rPr>
              <a:t>enterprise-hr-finance.vercel.app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628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A29E98"/>
                </a:solidFill>
                <a:latin typeface="Segoe UI"/>
              </a:rPr>
              <a:t>ACT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0" i="0">
                <a:solidFill>
                  <a:srgbClr val="FEFDFC"/>
                </a:solidFill>
                <a:latin typeface="Georgia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65576"/>
            <a:ext cx="8778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CDCAC5"/>
                </a:solidFill>
                <a:latin typeface="Segoe UI"/>
              </a:rPr>
              <a:t>Enterprises have been handed a new kind of worker, and no way to hold it accountable.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Work is being handed to software that acts on its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9509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This is not a forecast. It is the operating assumption every board has already given its CFO and CHRO for the coming year.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761488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3127248"/>
            <a:ext cx="319826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 i="0">
                <a:solidFill>
                  <a:srgbClr val="1C1712"/>
                </a:solidFill>
                <a:latin typeface="Segoe UI"/>
              </a:rPr>
              <a:t>&lt;5% → 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3822192"/>
            <a:ext cx="314340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of enterprise applications embedding task-specific agents, 2025 to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" y="4315968"/>
            <a:ext cx="314340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A29E98"/>
                </a:solidFill>
                <a:latin typeface="Segoe UI"/>
              </a:rPr>
              <a:t>Gartner forecast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50410" y="3163824"/>
            <a:ext cx="0" cy="160020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6714" y="3127248"/>
            <a:ext cx="319826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 i="0">
                <a:solidFill>
                  <a:srgbClr val="1C1712"/>
                </a:solidFill>
                <a:latin typeface="Segoe UI"/>
              </a:rPr>
              <a:t>$9.9B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6714" y="3822192"/>
            <a:ext cx="314340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standalone agentic AI market in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6714" y="4315968"/>
            <a:ext cx="314340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A29E98"/>
                </a:solidFill>
                <a:latin typeface="Segoe UI"/>
              </a:rPr>
              <a:t>up from about $7B in 2025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04708" y="3163824"/>
            <a:ext cx="0" cy="160020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1012" y="3127248"/>
            <a:ext cx="3198266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0" i="0">
                <a:solidFill>
                  <a:srgbClr val="1C1712"/>
                </a:solidFill>
                <a:latin typeface="Segoe UI"/>
              </a:rPr>
              <a:t>97%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1012" y="3822192"/>
            <a:ext cx="314340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of surveyed SaaS CEOs plan to retire per-seat pricing within two years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1012" y="4315968"/>
            <a:ext cx="314340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A29E98"/>
                </a:solidFill>
                <a:latin typeface="Segoe UI"/>
              </a:rPr>
              <a:t>Cruxy, 300 CEOs, April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21808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 i="0">
                <a:solidFill>
                  <a:srgbClr val="5A544E"/>
                </a:solidFill>
                <a:latin typeface="Segoe UI"/>
              </a:rPr>
              <a:t>When software does the work, two things break at once: </a:t>
            </a:r>
            <a:r>
              <a:rPr sz="1700" b="1" i="0">
                <a:solidFill>
                  <a:srgbClr val="1C1712"/>
                </a:solidFill>
                <a:latin typeface="Segoe UI"/>
              </a:rPr>
              <a:t>how you pay for it, and who answers for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016752"/>
            <a:ext cx="103628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Sources: Gartner agentic AI forecasts 2026; agentic AI market roundups 2026; Cruxy SaaS pricing survey, April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WINNERS AND LOSERS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Almost everyone has bought. Almost nobody has shipped.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9509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The gap between adoption and production is where this market is actually being decided.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96312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62072"/>
            <a:ext cx="4937760" cy="2194560"/>
          </a:xfrm>
          <a:prstGeom prst="rect">
            <a:avLst/>
          </a:prstGeom>
          <a:solidFill>
            <a:srgbClr val="F9F7F4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209544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0" i="0">
                <a:solidFill>
                  <a:srgbClr val="1C1712"/>
                </a:solidFill>
                <a:latin typeface="Segoe UI"/>
              </a:rPr>
              <a:t>79%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215384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say they have adopted AI 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862072"/>
            <a:ext cx="4965192" cy="2194560"/>
          </a:xfrm>
          <a:prstGeom prst="rect">
            <a:avLst/>
          </a:prstGeom>
          <a:solidFill>
            <a:srgbClr val="FFFFFF"/>
          </a:solidFill>
          <a:ln w="15240">
            <a:solidFill>
              <a:srgbClr val="1F53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3209544"/>
            <a:ext cx="4206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0" i="0">
                <a:solidFill>
                  <a:srgbClr val="1F5390"/>
                </a:solidFill>
                <a:latin typeface="Segoe UI"/>
              </a:rPr>
              <a:t>11%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4215384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actually run them in 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376672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Gartner expects more than 40% of agentic projects to be cancelled by 2027. The reasons it gives are unclear value, rising cost and </a:t>
            </a:r>
            <a:r>
              <a:rPr sz="1500" b="1" i="0">
                <a:solidFill>
                  <a:srgbClr val="1C1712"/>
                </a:solidFill>
                <a:latin typeface="Segoe UI"/>
              </a:rPr>
              <a:t>weak governance</a:t>
            </a:r>
            <a:r>
              <a:rPr sz="1500" b="0" i="0">
                <a:solidFill>
                  <a:srgbClr val="5A544E"/>
                </a:solidFill>
                <a:latin typeface="Segoe UI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016752"/>
            <a:ext cx="103628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Sources: enterprise AI agent adoption surveys, 2026; Gartner,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THE BUYER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Meet the person who has to 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17904"/>
            <a:ext cx="9509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Not a persona invented for this deck. This is the job title that owns the budget we sell into.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20824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86584"/>
            <a:ext cx="603504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  <a:spcAft>
                <a:spcPts val="1400"/>
              </a:spcAft>
            </a:pPr>
            <a:r>
              <a:rPr sz="1600" b="0" i="0">
                <a:solidFill>
                  <a:srgbClr val="5A544E"/>
                </a:solidFill>
                <a:latin typeface="Segoe UI"/>
              </a:rPr>
              <a:t>The controller at a mid-market manufacturer approves about </a:t>
            </a:r>
            <a:r>
              <a:rPr sz="1600" b="1" i="0">
                <a:solidFill>
                  <a:srgbClr val="1C1712"/>
                </a:solidFill>
                <a:latin typeface="Segoe UI"/>
              </a:rPr>
              <a:t>6,000 invoices a month</a:t>
            </a:r>
            <a:r>
              <a:rPr sz="1600" b="0" i="0">
                <a:solidFill>
                  <a:srgbClr val="5A544E"/>
                </a:solidFill>
                <a:latin typeface="Segoe UI"/>
              </a:rPr>
              <a:t>.</a:t>
            </a:r>
          </a:p>
          <a:p>
            <a:pPr algn="l">
              <a:lnSpc>
                <a:spcPct val="138000"/>
              </a:lnSpc>
              <a:spcAft>
                <a:spcPts val="1400"/>
              </a:spcAft>
            </a:pPr>
            <a:r>
              <a:rPr sz="1600" b="0" i="0">
                <a:solidFill>
                  <a:srgbClr val="5A544E"/>
                </a:solidFill>
                <a:latin typeface="Segoe UI"/>
              </a:rPr>
              <a:t>She already knows some are duplicates. Benchmarking puts it between 0.1% and 2% of everything she pays out.</a:t>
            </a:r>
          </a:p>
          <a:p>
            <a:pPr algn="l">
              <a:lnSpc>
                <a:spcPct val="138000"/>
              </a:lnSpc>
              <a:spcAft>
                <a:spcPts val="1400"/>
              </a:spcAft>
            </a:pPr>
            <a:r>
              <a:rPr sz="1600" b="0" i="0">
                <a:solidFill>
                  <a:srgbClr val="5A544E"/>
                </a:solidFill>
                <a:latin typeface="Segoe UI"/>
              </a:rPr>
              <a:t>She learns which ones 60 days later, from an outside audit firm that keeps a share of whatever it recovers.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0" y="2340864"/>
            <a:ext cx="3776472" cy="2377440"/>
          </a:xfrm>
          <a:prstGeom prst="rect">
            <a:avLst/>
          </a:prstGeom>
          <a:solidFill>
            <a:srgbClr val="F9F7F4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26243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06B64"/>
                </a:solidFill>
                <a:latin typeface="Segoe UI"/>
              </a:rPr>
              <a:t>WHAT SHE IS OFFERED TODAY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3154680"/>
            <a:ext cx="77724" cy="77724"/>
          </a:xfrm>
          <a:prstGeom prst="rect">
            <a:avLst/>
          </a:prstGeom>
          <a:solidFill>
            <a:srgbClr val="99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3063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An assistant she must supervise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3611880"/>
            <a:ext cx="77724" cy="77724"/>
          </a:xfrm>
          <a:prstGeom prst="rect">
            <a:avLst/>
          </a:prstGeom>
          <a:solidFill>
            <a:srgbClr val="99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352044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A chat box with no record of who decided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4325112"/>
            <a:ext cx="77724" cy="77724"/>
          </a:xfrm>
          <a:prstGeom prst="rect">
            <a:avLst/>
          </a:prstGeom>
          <a:solidFill>
            <a:srgbClr val="99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423367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A pilot her auditors will not accept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084064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 i="0">
                <a:solidFill>
                  <a:srgbClr val="1C1712"/>
                </a:solidFill>
                <a:latin typeface="Segoe UI"/>
              </a:rPr>
              <a:t>She does not need a smarter model. She needs the money to stop leaving, and a name on the decision.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16752"/>
            <a:ext cx="103628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Duplicate payment rates: APQC Open Standards Benchmarking and AP recovery audit industry benchmarks,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THE OBSTACLE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Four questions kill every agent deal. None are about the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39696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505456"/>
            <a:ext cx="2419273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505456"/>
            <a:ext cx="2419273" cy="32004"/>
          </a:xfrm>
          <a:prstGeom prst="rect">
            <a:avLst/>
          </a:prstGeom>
          <a:solidFill>
            <a:srgbClr val="99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2144" y="2743200"/>
            <a:ext cx="19437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C1712"/>
                </a:solidFill>
                <a:latin typeface="Segoe UI"/>
              </a:rPr>
              <a:t>Who owns this agent?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145536"/>
            <a:ext cx="194378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50" b="0" i="0">
                <a:solidFill>
                  <a:srgbClr val="5A544E"/>
                </a:solidFill>
                <a:latin typeface="Segoe UI"/>
              </a:rPr>
              <a:t>There is no org chart for software that acts alone.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2273" y="2505456"/>
            <a:ext cx="2419273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62273" y="2505456"/>
            <a:ext cx="2419273" cy="32004"/>
          </a:xfrm>
          <a:prstGeom prst="rect">
            <a:avLst/>
          </a:prstGeom>
          <a:solidFill>
            <a:srgbClr val="99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0017" y="2743200"/>
            <a:ext cx="194378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C1712"/>
                </a:solidFill>
                <a:latin typeface="Segoe UI"/>
              </a:rPr>
              <a:t>What may it read?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0017" y="3145536"/>
            <a:ext cx="194378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50" b="0" i="0">
                <a:solidFill>
                  <a:srgbClr val="5A544E"/>
                </a:solidFill>
                <a:latin typeface="Segoe UI"/>
              </a:rPr>
              <a:t>Permissions live in a prompt, not in the data layer.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0147" y="2505456"/>
            <a:ext cx="2419273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2505456"/>
            <a:ext cx="2419273" cy="32004"/>
          </a:xfrm>
          <a:prstGeom prst="rect">
            <a:avLst/>
          </a:prstGeom>
          <a:solidFill>
            <a:srgbClr val="99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2743200"/>
            <a:ext cx="194378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C1712"/>
                </a:solidFill>
                <a:latin typeface="Segoe UI"/>
              </a:rPr>
              <a:t>What can it do unsupervised?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7891" y="3383280"/>
            <a:ext cx="1943785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50" b="0" i="0">
                <a:solidFill>
                  <a:srgbClr val="5A544E"/>
                </a:solidFill>
                <a:latin typeface="Segoe UI"/>
              </a:rPr>
              <a:t>The blast radius is undefined at purchase time.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58021" y="2505456"/>
            <a:ext cx="2419273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858021" y="2505456"/>
            <a:ext cx="2419273" cy="32004"/>
          </a:xfrm>
          <a:prstGeom prst="rect">
            <a:avLst/>
          </a:prstGeom>
          <a:solidFill>
            <a:srgbClr val="99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5765" y="2743200"/>
            <a:ext cx="194378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C1712"/>
                </a:solidFill>
                <a:latin typeface="Segoe UI"/>
              </a:rPr>
              <a:t>Can I give the log to an auditor?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5765" y="3383280"/>
            <a:ext cx="1943785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50" b="0" i="0">
                <a:solidFill>
                  <a:srgbClr val="5A544E"/>
                </a:solidFill>
                <a:latin typeface="Segoe UI"/>
              </a:rPr>
              <a:t>A chat transcript is not audit evidence.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74336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5A544E"/>
                </a:solidFill>
                <a:latin typeface="Segoe UI"/>
              </a:rPr>
              <a:t>Every vendor answers these with a paragraph of policy. </a:t>
            </a:r>
            <a:r>
              <a:rPr sz="1600" b="1" i="0">
                <a:solidFill>
                  <a:srgbClr val="1C1712"/>
                </a:solidFill>
                <a:latin typeface="Segoe UI"/>
              </a:rPr>
              <a:t>The buyer needs them answered by the system itself.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WHY NOTHING ON THE MARKET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Three things she can buy today, and why each one stalls.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39696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505456"/>
            <a:ext cx="10362895" cy="329184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505456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834640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596896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WHAT SHE CAN BUY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8224" y="2596896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WHY IT APPEALS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7184" y="2596896"/>
            <a:ext cx="4050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WHY IT STALLS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29535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An AI assistant or copilot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295351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Fast to try, no 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7184" y="2953512"/>
            <a:ext cx="3959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Supervises nothing. She is still the control, so it never scales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3529584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364845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A point AI tool per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364845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One sharp job, quick win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3648456"/>
            <a:ext cx="3959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Each one ungoverned. Ten tools become ten unaudited actors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4224528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43434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A recovery audit firm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8224" y="43434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Outcome-priced, trusted, no IT 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87184" y="4343400"/>
            <a:ext cx="3959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Finds the loss 60 days after the money left, on a sample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919472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020056"/>
            <a:ext cx="103628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The common failure: each one puts the human either fully in the loop, or fully out of it. Neither is deployable in finance.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THE PROMISED 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What it looks like when this is solved.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17904"/>
            <a:ext cx="9509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This is the outcome we sell. Everything in Act Two exists to reach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20824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478024"/>
            <a:ext cx="77724" cy="7772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386584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1" i="0">
                <a:solidFill>
                  <a:srgbClr val="1C1712"/>
                </a:solidFill>
                <a:latin typeface="Segoe UI"/>
              </a:rPr>
              <a:t>The work runs itself. </a:t>
            </a:r>
            <a:r>
              <a:rPr sz="1500" b="0" i="0">
                <a:solidFill>
                  <a:srgbClr val="5A544E"/>
                </a:solidFill>
                <a:latin typeface="Segoe UI"/>
              </a:rPr>
              <a:t>Invoices tested, cases answered, the close orchestrated — continuously, with nobody driving.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136392"/>
            <a:ext cx="77724" cy="7772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044952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1" i="0">
                <a:solidFill>
                  <a:srgbClr val="1C1712"/>
                </a:solidFill>
                <a:latin typeface="Segoe UI"/>
              </a:rPr>
              <a:t>Every agent has an owner. </a:t>
            </a:r>
            <a:r>
              <a:rPr sz="1500" b="0" i="0">
                <a:solidFill>
                  <a:srgbClr val="5A544E"/>
                </a:solidFill>
                <a:latin typeface="Segoe UI"/>
              </a:rPr>
              <a:t>A name, a scope and a permission set, recorded in one place, the way an employee has a manager.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794760"/>
            <a:ext cx="77724" cy="7772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3703320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1" i="0">
                <a:solidFill>
                  <a:srgbClr val="1C1712"/>
                </a:solidFill>
                <a:latin typeface="Segoe UI"/>
              </a:rPr>
              <a:t>Consequential actions stop at a person. </a:t>
            </a:r>
            <a:r>
              <a:rPr sz="1500" b="0" i="0">
                <a:solidFill>
                  <a:srgbClr val="5A544E"/>
                </a:solidFill>
                <a:latin typeface="Segoe UI"/>
              </a:rPr>
              <a:t>Not every action — only the ones that move money or affect an employee.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453128"/>
            <a:ext cx="77724" cy="7772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361688"/>
            <a:ext cx="9784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1" i="0">
                <a:solidFill>
                  <a:srgbClr val="1C1712"/>
                </a:solidFill>
                <a:latin typeface="Segoe UI"/>
              </a:rPr>
              <a:t>The log is the evidence. </a:t>
            </a:r>
            <a:r>
              <a:rPr sz="1500" b="0" i="0">
                <a:solidFill>
                  <a:srgbClr val="5A544E"/>
                </a:solidFill>
                <a:latin typeface="Segoe UI"/>
              </a:rPr>
              <a:t>When the auditor asks who approved it, the answer is a record, not a conversation.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5202936"/>
            <a:ext cx="10362895" cy="822960"/>
          </a:xfrm>
          <a:prstGeom prst="rect">
            <a:avLst/>
          </a:prstGeom>
          <a:solidFill>
            <a:srgbClr val="E7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5385816"/>
            <a:ext cx="97776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1" i="0">
                <a:solidFill>
                  <a:srgbClr val="1C1712"/>
                </a:solidFill>
                <a:latin typeface="Segoe UI"/>
              </a:rPr>
              <a:t>Machine speed, with human accountability intact. Nobody sells that today.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628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A29E98"/>
                </a:solidFill>
                <a:latin typeface="Segoe UI"/>
              </a:rPr>
              <a:t>ACT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0" i="0">
                <a:solidFill>
                  <a:srgbClr val="FEFDFC"/>
                </a:solidFill>
                <a:latin typeface="Georgia"/>
              </a:rPr>
              <a:t>How we solve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65576"/>
            <a:ext cx="8778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CDCAC5"/>
                </a:solidFill>
                <a:latin typeface="Segoe UI"/>
              </a:rPr>
              <a:t>Narrow agents that do the work, and a governance layer that makes them accountable.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Agents do the work. A question box stops at a human.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9509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That is the whole mechanic, and it is already running in the deployed product.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96312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62072"/>
            <a:ext cx="484632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862072"/>
            <a:ext cx="4846320" cy="36576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191256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C1712"/>
                </a:solidFill>
                <a:latin typeface="Segoe UI"/>
              </a:rPr>
              <a:t>Twelve agents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" y="3666744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5A544E"/>
                </a:solidFill>
                <a:latin typeface="Segoe UI"/>
              </a:rPr>
              <a:t>Each scoped to one workflow, running continuously against the customer's own systems of record.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3730752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0" i="0">
                <a:solidFill>
                  <a:srgbClr val="CDCAC5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2862072"/>
            <a:ext cx="4553712" cy="2194560"/>
          </a:xfrm>
          <a:prstGeom prst="rect">
            <a:avLst/>
          </a:prstGeom>
          <a:solidFill>
            <a:srgbClr val="FFFFFF"/>
          </a:solidFill>
          <a:ln w="15240">
            <a:solidFill>
              <a:srgbClr val="1F53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20840" y="2862072"/>
            <a:ext cx="4553712" cy="36576"/>
          </a:xfrm>
          <a:prstGeom prst="rect">
            <a:avLst/>
          </a:prstGeom>
          <a:solidFill>
            <a:srgbClr val="99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0024" y="319125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C1712"/>
                </a:solidFill>
                <a:latin typeface="Segoe UI"/>
              </a:rPr>
              <a:t>A person decides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0024" y="3666744"/>
            <a:ext cx="3931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5A544E"/>
                </a:solidFill>
                <a:latin typeface="Segoe UI"/>
              </a:rPr>
              <a:t>Anything consequential stops and waits, with the evidence attached and the decision recorded against a name.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04104"/>
            <a:ext cx="103628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5A544E"/>
                </a:solidFill>
                <a:latin typeface="Segoe UI"/>
              </a:rPr>
              <a:t>Not an assistant a human babysits. Not an autonomous agent nobody controls. </a:t>
            </a:r>
            <a:r>
              <a:rPr sz="1600" b="1" i="0">
                <a:solidFill>
                  <a:srgbClr val="1C1712"/>
                </a:solidFill>
                <a:latin typeface="Segoe UI"/>
              </a:rPr>
              <a:t>A workforce with an org chart.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HOW WE MAKE THAT SAFE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Every agent ships under the same six terms.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17904"/>
            <a:ext cx="9509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Enforced below the agent, in the data and permission layer — not written into a prompt.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20824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386584"/>
            <a:ext cx="3301898" cy="786384"/>
          </a:xfrm>
          <a:prstGeom prst="rect">
            <a:avLst/>
          </a:prstGeom>
          <a:solidFill>
            <a:srgbClr val="F9F7F4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2532888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5390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2788920"/>
            <a:ext cx="286298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C1712"/>
                </a:solidFill>
                <a:latin typeface="Segoe UI"/>
              </a:rPr>
              <a:t>Scoped to one workflow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4898" y="2386584"/>
            <a:ext cx="3301898" cy="786384"/>
          </a:xfrm>
          <a:prstGeom prst="rect">
            <a:avLst/>
          </a:prstGeom>
          <a:solidFill>
            <a:srgbClr val="F9F7F4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4354" y="2532888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5390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4354" y="2788920"/>
            <a:ext cx="286298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C1712"/>
                </a:solidFill>
                <a:latin typeface="Segoe UI"/>
              </a:rPr>
              <a:t>Reads only permitted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75396" y="2386584"/>
            <a:ext cx="3301898" cy="786384"/>
          </a:xfrm>
          <a:prstGeom prst="rect">
            <a:avLst/>
          </a:prstGeom>
          <a:solidFill>
            <a:srgbClr val="F9F7F4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4852" y="2532888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5390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4852" y="2788920"/>
            <a:ext cx="286298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C1712"/>
                </a:solidFill>
                <a:latin typeface="Segoe UI"/>
              </a:rPr>
              <a:t>Every action logged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319272"/>
            <a:ext cx="3301898" cy="786384"/>
          </a:xfrm>
          <a:prstGeom prst="rect">
            <a:avLst/>
          </a:prstGeom>
          <a:solidFill>
            <a:srgbClr val="F9F7F4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346557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5390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3721608"/>
            <a:ext cx="286298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C1712"/>
                </a:solidFill>
                <a:latin typeface="Segoe UI"/>
              </a:rPr>
              <a:t>Consequential actions need a human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44898" y="3319272"/>
            <a:ext cx="3301898" cy="786384"/>
          </a:xfrm>
          <a:prstGeom prst="rect">
            <a:avLst/>
          </a:prstGeom>
          <a:solidFill>
            <a:srgbClr val="F9F7F4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4354" y="346557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5390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4354" y="3721608"/>
            <a:ext cx="286298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C1712"/>
                </a:solidFill>
                <a:latin typeface="Segoe UI"/>
              </a:rPr>
              <a:t>Carries a measurable outcome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75396" y="3319272"/>
            <a:ext cx="3301898" cy="786384"/>
          </a:xfrm>
          <a:prstGeom prst="rect">
            <a:avLst/>
          </a:prstGeom>
          <a:solidFill>
            <a:srgbClr val="F9F7F4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4852" y="3465576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5390"/>
                </a:solidFill>
                <a:latin typeface="Consolas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4852" y="3721608"/>
            <a:ext cx="286298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C1712"/>
                </a:solidFill>
                <a:latin typeface="Segoe UI"/>
              </a:rPr>
              <a:t>Runs on your chosen model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535424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5A544E"/>
                </a:solidFill>
                <a:latin typeface="Segoe UI"/>
              </a:rPr>
              <a:t>A prompt instruction is a suggestion. A permission boundary is a control. </a:t>
            </a:r>
            <a:r>
              <a:rPr sz="1600" b="1" i="0">
                <a:solidFill>
                  <a:srgbClr val="1C1712"/>
                </a:solidFill>
                <a:latin typeface="Segoe UI"/>
              </a:rPr>
              <a:t>That distinction is the entire business.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THE WORKFORCE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Twelve agents. Each does one job and owns one number.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39696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505456"/>
            <a:ext cx="2487853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505456"/>
            <a:ext cx="27432" cy="60350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606040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C1712"/>
                </a:solidFill>
                <a:latin typeface="Segoe UI"/>
              </a:rPr>
              <a:t>Help Desk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43784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A544E"/>
                </a:solidFill>
                <a:latin typeface="Segoe UI"/>
              </a:rPr>
              <a:t>HR cases resolved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39413" y="2505456"/>
            <a:ext cx="2487853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39413" y="2505456"/>
            <a:ext cx="27432" cy="60350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22293" y="2606040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C1712"/>
                </a:solidFill>
                <a:latin typeface="Segoe UI"/>
              </a:rPr>
              <a:t>Recruiting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2293" y="2843784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A544E"/>
                </a:solidFill>
                <a:latin typeface="Segoe UI"/>
              </a:rPr>
              <a:t>Candidates screened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64427" y="2505456"/>
            <a:ext cx="2487853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64427" y="2505456"/>
            <a:ext cx="27432" cy="60350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7307" y="2606040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C1712"/>
                </a:solidFill>
                <a:latin typeface="Segoe UI"/>
              </a:rPr>
              <a:t>Payroll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307" y="2843784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A544E"/>
                </a:solidFill>
                <a:latin typeface="Segoe UI"/>
              </a:rPr>
              <a:t>Errors caught pre-run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89441" y="2505456"/>
            <a:ext cx="2487853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89441" y="2505456"/>
            <a:ext cx="27432" cy="60350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72321" y="2606040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C1712"/>
                </a:solidFill>
                <a:latin typeface="Segoe UI"/>
              </a:rPr>
              <a:t>Scheduling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2321" y="2843784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A544E"/>
                </a:solidFill>
                <a:latin typeface="Segoe UI"/>
              </a:rPr>
              <a:t>Open shifts filled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3200400"/>
            <a:ext cx="2487853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3200400"/>
            <a:ext cx="27432" cy="60350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3300984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C1712"/>
                </a:solidFill>
                <a:latin typeface="Segoe UI"/>
              </a:rPr>
              <a:t>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538728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A544E"/>
                </a:solidFill>
                <a:latin typeface="Segoe UI"/>
              </a:rPr>
              <a:t>Reviews drafted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39413" y="3200400"/>
            <a:ext cx="2487853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39413" y="3200400"/>
            <a:ext cx="27432" cy="60350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22293" y="3300984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C1712"/>
                </a:solidFill>
                <a:latin typeface="Segoe UI"/>
              </a:rPr>
              <a:t>Job Architecture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22293" y="3538728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A544E"/>
                </a:solidFill>
                <a:latin typeface="Segoe UI"/>
              </a:rPr>
              <a:t>Pay bands benchmarked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64427" y="3200400"/>
            <a:ext cx="2487853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4427" y="3200400"/>
            <a:ext cx="27432" cy="603504"/>
          </a:xfrm>
          <a:prstGeom prst="rect">
            <a:avLst/>
          </a:prstGeom>
          <a:solidFill>
            <a:srgbClr val="1C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7307" y="3300984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C1712"/>
                </a:solidFill>
                <a:latin typeface="Segoe UI"/>
              </a:rPr>
              <a:t>Audit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7307" y="3538728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A544E"/>
                </a:solidFill>
                <a:latin typeface="Segoe UI"/>
              </a:rPr>
              <a:t>Evidence packaged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89441" y="3200400"/>
            <a:ext cx="2487853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789441" y="3200400"/>
            <a:ext cx="27432" cy="603504"/>
          </a:xfrm>
          <a:prstGeom prst="rect">
            <a:avLst/>
          </a:prstGeom>
          <a:solidFill>
            <a:srgbClr val="1C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72321" y="3300984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C1712"/>
                </a:solidFill>
                <a:latin typeface="Segoe UI"/>
              </a:rPr>
              <a:t>Planning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2321" y="3538728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A544E"/>
                </a:solidFill>
                <a:latin typeface="Segoe UI"/>
              </a:rPr>
              <a:t>Variances explained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3895344"/>
            <a:ext cx="2487853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3895344"/>
            <a:ext cx="27432" cy="603504"/>
          </a:xfrm>
          <a:prstGeom prst="rect">
            <a:avLst/>
          </a:prstGeom>
          <a:solidFill>
            <a:srgbClr val="1C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3995928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C1712"/>
                </a:solidFill>
                <a:latin typeface="Segoe UI"/>
              </a:rPr>
              <a:t>Controls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233672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A544E"/>
                </a:solidFill>
                <a:latin typeface="Segoe UI"/>
              </a:rPr>
              <a:t>Transactions tested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39413" y="3895344"/>
            <a:ext cx="2487853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539413" y="3895344"/>
            <a:ext cx="27432" cy="603504"/>
          </a:xfrm>
          <a:prstGeom prst="rect">
            <a:avLst/>
          </a:prstGeom>
          <a:solidFill>
            <a:srgbClr val="1C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2293" y="3995928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C1712"/>
                </a:solidFill>
                <a:latin typeface="Segoe UI"/>
              </a:rPr>
              <a:t>Close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22293" y="4233672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A544E"/>
                </a:solidFill>
                <a:latin typeface="Segoe UI"/>
              </a:rPr>
              <a:t>Month-end orchestrated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64427" y="3895344"/>
            <a:ext cx="2487853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64427" y="3895344"/>
            <a:ext cx="27432" cy="603504"/>
          </a:xfrm>
          <a:prstGeom prst="rect">
            <a:avLst/>
          </a:prstGeom>
          <a:solidFill>
            <a:srgbClr val="1C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47307" y="3995928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C1712"/>
                </a:solidFill>
                <a:latin typeface="Segoe UI"/>
              </a:rPr>
              <a:t>Revenue Contracts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47307" y="4233672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A544E"/>
                </a:solidFill>
                <a:latin typeface="Segoe UI"/>
              </a:rPr>
              <a:t>Revenue risk flagged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89441" y="3895344"/>
            <a:ext cx="2487853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789441" y="3895344"/>
            <a:ext cx="27432" cy="603504"/>
          </a:xfrm>
          <a:prstGeom prst="rect">
            <a:avLst/>
          </a:prstGeom>
          <a:solidFill>
            <a:srgbClr val="995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72321" y="3995928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C1712"/>
                </a:solidFill>
                <a:latin typeface="Segoe UI"/>
              </a:rPr>
              <a:t>Contract Review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72321" y="4233672"/>
            <a:ext cx="212209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A544E"/>
                </a:solidFill>
                <a:latin typeface="Segoe UI"/>
              </a:rPr>
              <a:t>Paper redlined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4791456"/>
            <a:ext cx="103628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 i="0">
                <a:solidFill>
                  <a:srgbClr val="1C1712"/>
                </a:solidFill>
                <a:latin typeface="Segoe UI"/>
              </a:rPr>
              <a:t>Narrow is the deployment strategy. </a:t>
            </a:r>
            <a:r>
              <a:rPr sz="1500" b="0" i="0">
                <a:solidFill>
                  <a:srgbClr val="5A544E"/>
                </a:solidFill>
                <a:latin typeface="Segoe UI"/>
              </a:rPr>
              <a:t>A buyer can say yes to one workflow this quarter. Nobody says yes to a general-purpose agent with access to payroll.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PROOF THE WEDGE IS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One agent, against a loss the customer already knows they take.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9509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The Controls Agent tests every transaction before payment leaves, instead of recovering it afterwards.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761488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127248"/>
            <a:ext cx="10362895" cy="329184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3127248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456432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32186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21868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RECOVERY AUDIT (TODAY)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2864" y="3218688"/>
            <a:ext cx="4325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MERIDIAN (CONTINUOUS)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357530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When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3744" y="357530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After the money has left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2864" y="3575304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Before the payment run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913632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3250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3744" y="403250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45 to 90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12864" y="4032504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Continuous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370832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448970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Success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448970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60 to 70% of claims recovered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12864" y="4489704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Prevented, not recovered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4828032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0704" y="494690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Coverage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23744" y="494690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A sample, by an outside firm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2864" y="4946904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Every transaction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285232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5276088"/>
            <a:ext cx="10362895" cy="1097280"/>
          </a:xfrm>
          <a:prstGeom prst="rect">
            <a:avLst/>
          </a:prstGeom>
          <a:solidFill>
            <a:srgbClr val="F9F7F4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25296" y="5486400"/>
            <a:ext cx="9741103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1" i="0">
                <a:solidFill>
                  <a:srgbClr val="1C1712"/>
                </a:solidFill>
                <a:latin typeface="Segoe UI"/>
              </a:rPr>
              <a:t>The exposure is public and already budgeted. </a:t>
            </a:r>
            <a:r>
              <a:rPr sz="1500" b="0" i="0">
                <a:solidFill>
                  <a:srgbClr val="5A544E"/>
                </a:solidFill>
                <a:latin typeface="Segoe UI"/>
              </a:rPr>
              <a:t>At published duplicate-payment rates, an enterprise with $100M of AP spend carries $100K to $500K of annual leakage, and firms are already paid a share of it to find that money late. One agent, one workflow, pays for the platform.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6016752"/>
            <a:ext cx="103628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Sources: APQC Open Standards Benchmarking; AP recovery audit benchmarks 2026. The $100M figure is arithmetic on published rates, not a customer result.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WHY IT HOLDS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Governance sits below the model, where it cannot be talked out of.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39696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505456"/>
            <a:ext cx="4907127" cy="2194560"/>
          </a:xfrm>
          <a:prstGeom prst="rect">
            <a:avLst/>
          </a:prstGeom>
          <a:solidFill>
            <a:srgbClr val="F9F7F4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743200"/>
            <a:ext cx="43584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EVERYONE ELSE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91840"/>
            <a:ext cx="77724" cy="77724"/>
          </a:xfrm>
          <a:prstGeom prst="rect">
            <a:avLst/>
          </a:prstGeom>
          <a:solidFill>
            <a:srgbClr val="CDCA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3200400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 i="0">
                <a:solidFill>
                  <a:srgbClr val="5A544E"/>
                </a:solidFill>
                <a:latin typeface="Segoe UI"/>
              </a:rPr>
              <a:t>Guardrails written into the prompt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785616"/>
            <a:ext cx="77724" cy="77724"/>
          </a:xfrm>
          <a:prstGeom prst="rect">
            <a:avLst/>
          </a:prstGeom>
          <a:solidFill>
            <a:srgbClr val="CDCA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3694176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 i="0">
                <a:solidFill>
                  <a:srgbClr val="5A544E"/>
                </a:solidFill>
                <a:latin typeface="Segoe UI"/>
              </a:rPr>
              <a:t>Permissions of whoever opened the chat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4279392"/>
            <a:ext cx="77724" cy="77724"/>
          </a:xfrm>
          <a:prstGeom prst="rect">
            <a:avLst/>
          </a:prstGeom>
          <a:solidFill>
            <a:srgbClr val="CDCA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87952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 i="0">
                <a:solidFill>
                  <a:srgbClr val="5A544E"/>
                </a:solidFill>
                <a:latin typeface="Segoe UI"/>
              </a:rPr>
              <a:t>The model decides whether to comply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505456"/>
            <a:ext cx="4907127" cy="2194560"/>
          </a:xfrm>
          <a:prstGeom prst="rect">
            <a:avLst/>
          </a:prstGeom>
          <a:solidFill>
            <a:srgbClr val="FFFFFF"/>
          </a:solidFill>
          <a:ln w="15240">
            <a:solidFill>
              <a:srgbClr val="1F53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4487" y="2743200"/>
            <a:ext cx="43584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F5390"/>
                </a:solidFill>
                <a:latin typeface="Segoe UI"/>
              </a:rPr>
              <a:t>MERIDIAN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44487" y="3291840"/>
            <a:ext cx="77724" cy="7772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8807" y="3200400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 i="0">
                <a:solidFill>
                  <a:srgbClr val="5A544E"/>
                </a:solidFill>
                <a:latin typeface="Segoe UI"/>
              </a:rPr>
              <a:t>Scope enforced before the model sees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44487" y="3785616"/>
            <a:ext cx="77724" cy="7772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8807" y="3694176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 i="0">
                <a:solidFill>
                  <a:srgbClr val="5A544E"/>
                </a:solidFill>
                <a:latin typeface="Segoe UI"/>
              </a:rPr>
              <a:t>Permissions inherited per agent from your IdP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4487" y="4279392"/>
            <a:ext cx="77724" cy="7772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18807" y="4187952"/>
            <a:ext cx="4084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 i="0">
                <a:solidFill>
                  <a:srgbClr val="5A544E"/>
                </a:solidFill>
                <a:latin typeface="Segoe UI"/>
              </a:rPr>
              <a:t>The action cannot execute, whatever the model says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74336"/>
            <a:ext cx="103628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This is also the answer to model risk: customers can switch models, or bring their own, without renegotiating governance.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WHY IT COMPOUNDS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200" b="0" i="0">
                <a:solidFill>
                  <a:srgbClr val="1C1712"/>
                </a:solidFill>
                <a:latin typeface="Georgia"/>
              </a:rPr>
              <a:t>The Registry becomes the system of record for every agent an enterprise runs.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9509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Including agents we did not build. This is the durable position, and it appreciates as agents multiply.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761488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127248"/>
            <a:ext cx="241927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3127248"/>
            <a:ext cx="2419273" cy="3200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3856" y="338328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5390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57600"/>
            <a:ext cx="198036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C1712"/>
                </a:solidFill>
                <a:latin typeface="Segoe UI"/>
              </a:rPr>
              <a:t>Land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3995928"/>
            <a:ext cx="198036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A544E"/>
                </a:solidFill>
                <a:latin typeface="Segoe UI"/>
              </a:rPr>
              <a:t>One agent, one verifiable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0249" y="369417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CDCAC5"/>
                </a:solidFill>
                <a:latin typeface="Segoe U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2273" y="3127248"/>
            <a:ext cx="241927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62273" y="3127248"/>
            <a:ext cx="2419273" cy="3200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1729" y="338328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5390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81729" y="3657600"/>
            <a:ext cx="198036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C1712"/>
                </a:solidFill>
                <a:latin typeface="Segoe UI"/>
              </a:rPr>
              <a:t>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81729" y="3995928"/>
            <a:ext cx="198036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A544E"/>
                </a:solidFill>
                <a:latin typeface="Segoe UI"/>
              </a:rPr>
              <a:t>Owner, scope, permissions, approvals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8123" y="369417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CDCAC5"/>
                </a:solidFill>
                <a:latin typeface="Segoe U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0147" y="3127248"/>
            <a:ext cx="241927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147" y="3127248"/>
            <a:ext cx="2419273" cy="3200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9603" y="338328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5390"/>
                </a:solidFill>
                <a:latin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9603" y="3657600"/>
            <a:ext cx="198036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C1712"/>
                </a:solidFill>
                <a:latin typeface="Segoe UI"/>
              </a:rPr>
              <a:t>Expand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9603" y="3995928"/>
            <a:ext cx="198036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A544E"/>
                </a:solidFill>
                <a:latin typeface="Segoe UI"/>
              </a:rPr>
              <a:t>More agents, same guardrails, pooled credits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5997" y="369417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CDCAC5"/>
                </a:solidFill>
                <a:latin typeface="Segoe U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58021" y="3127248"/>
            <a:ext cx="2419273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858021" y="3127248"/>
            <a:ext cx="2419273" cy="3200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77477" y="3383280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F5390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77477" y="3657600"/>
            <a:ext cx="198036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C1712"/>
                </a:solidFill>
                <a:latin typeface="Segoe UI"/>
              </a:rPr>
              <a:t>Anchor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7477" y="3995928"/>
            <a:ext cx="198036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A544E"/>
                </a:solidFill>
                <a:latin typeface="Segoe UI"/>
              </a:rPr>
              <a:t>Third-party agents register here too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864608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A suite will never govern a competitor's agent — the suite exists to keep competitors out. </a:t>
            </a:r>
            <a:r>
              <a:rPr sz="1500" b="1" i="0">
                <a:solidFill>
                  <a:srgbClr val="1C1712"/>
                </a:solidFill>
                <a:latin typeface="Segoe UI"/>
              </a:rPr>
              <a:t>A neutral registry is the one thing they structurally will not build.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IT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Not a concept. Deployed, public, and open during this meeting.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39696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2505456"/>
            <a:ext cx="181654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 i="0">
                <a:solidFill>
                  <a:srgbClr val="1C1712"/>
                </a:solidFill>
                <a:latin typeface="Segoe UI"/>
              </a:rPr>
              <a:t>165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3200400"/>
            <a:ext cx="17616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pages, prerendered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68691" y="2542032"/>
            <a:ext cx="0" cy="100584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14995" y="2505456"/>
            <a:ext cx="181654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 i="0">
                <a:solidFill>
                  <a:srgbClr val="1C1712"/>
                </a:solidFill>
                <a:latin typeface="Segoe UI"/>
              </a:rPr>
              <a:t>27,400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4995" y="3200400"/>
            <a:ext cx="17616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lines of TypeScript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41270" y="2542032"/>
            <a:ext cx="0" cy="100584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7574" y="2505456"/>
            <a:ext cx="181654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 i="0">
                <a:solidFill>
                  <a:srgbClr val="1C1712"/>
                </a:solidFill>
                <a:latin typeface="Segoe UI"/>
              </a:rPr>
              <a:t>&lt;820ms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7574" y="3200400"/>
            <a:ext cx="17616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largest contentful paint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13849" y="2542032"/>
            <a:ext cx="0" cy="100584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0153" y="2505456"/>
            <a:ext cx="181654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 i="0">
                <a:solidFill>
                  <a:srgbClr val="1C1712"/>
                </a:solidFill>
                <a:latin typeface="Segoe U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0153" y="3200400"/>
            <a:ext cx="17616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layout shift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6428" y="2542032"/>
            <a:ext cx="0" cy="100584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2732" y="2505456"/>
            <a:ext cx="181654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0" i="0">
                <a:solidFill>
                  <a:srgbClr val="1C1712"/>
                </a:solidFill>
                <a:latin typeface="Segoe UI"/>
              </a:rPr>
              <a:t>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2732" y="3200400"/>
            <a:ext cx="176168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streaming operations feed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105656"/>
            <a:ext cx="77724" cy="7772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4014216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1" i="0">
                <a:solidFill>
                  <a:srgbClr val="1C1712"/>
                </a:solidFill>
                <a:latin typeface="Segoe UI"/>
              </a:rPr>
              <a:t>The live dashboard </a:t>
            </a:r>
            <a:r>
              <a:rPr sz="1400" b="0" i="0">
                <a:solidFill>
                  <a:srgbClr val="5A544E"/>
                </a:solidFill>
                <a:latin typeface="Segoe UI"/>
              </a:rPr>
              <a:t>streams an operations feed, metrics and an approvals queue over Server-Sent Events, with reconnect and a polling fallback.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818888"/>
            <a:ext cx="77724" cy="7772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8720" y="4727448"/>
            <a:ext cx="100885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1" i="0">
                <a:solidFill>
                  <a:srgbClr val="1C1712"/>
                </a:solidFill>
                <a:latin typeface="Segoe UI"/>
              </a:rPr>
              <a:t>Subscription billing </a:t>
            </a:r>
            <a:r>
              <a:rPr sz="1400" b="0" i="0">
                <a:solidFill>
                  <a:srgbClr val="5A544E"/>
                </a:solidFill>
                <a:latin typeface="Segoe UI"/>
              </a:rPr>
              <a:t>is wired end to end through Stripe, env-gated to demo mode until keys are set.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276088"/>
            <a:ext cx="77724" cy="7772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184648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1" i="0">
                <a:solidFill>
                  <a:srgbClr val="1C1712"/>
                </a:solidFill>
                <a:latin typeface="Segoe UI"/>
              </a:rPr>
              <a:t>The security posture is real: </a:t>
            </a:r>
            <a:r>
              <a:rPr sz="1400" b="0" i="0">
                <a:solidFill>
                  <a:srgbClr val="5A544E"/>
                </a:solidFill>
                <a:latin typeface="Segoe UI"/>
              </a:rPr>
              <a:t>HSTS, nosniff, frame and referrer policy on every response, with input validated at every endpoint.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6016752"/>
            <a:ext cx="103628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enterprise-hr-finance.vercel.app  ·  github.com/alessoh/enterprise-hr-finance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Who else comes at this, and what they would have to give 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39696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505456"/>
            <a:ext cx="10362895" cy="329184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2505456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834640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596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WHO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59689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THEIR ADVANTAGE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8464" y="2596896"/>
            <a:ext cx="35661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WHAT STOPS THEM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47503" y="2596896"/>
            <a:ext cx="14904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OUR 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29535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1C1712"/>
                </a:solidFill>
                <a:latin typeface="Segoe UI"/>
              </a:rPr>
              <a:t>HCM and ERP suites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9584" y="295351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A544E"/>
                </a:solidFill>
                <a:latin typeface="Segoe UI"/>
              </a:rPr>
              <a:t>The data and the budget 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2953512"/>
            <a:ext cx="3474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A544E"/>
                </a:solidFill>
                <a:latin typeface="Segoe UI"/>
              </a:rPr>
              <a:t>Agents defend the suite; they will not govern a rival's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47503" y="2953512"/>
            <a:ext cx="1399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1C1712"/>
                </a:solidFill>
                <a:latin typeface="Segoe UI"/>
              </a:rPr>
              <a:t>Neutral across vendors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3529584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6484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1C1712"/>
                </a:solidFill>
                <a:latin typeface="Segoe UI"/>
              </a:rPr>
              <a:t>Horizontal agent platforms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9584" y="364845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A544E"/>
                </a:solidFill>
                <a:latin typeface="Segoe UI"/>
              </a:rPr>
              <a:t>Models, capital, mindshare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98464" y="3648456"/>
            <a:ext cx="3474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A544E"/>
                </a:solidFill>
                <a:latin typeface="Segoe UI"/>
              </a:rPr>
              <a:t>No HR or finance domain model; governance stays generic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47503" y="3648456"/>
            <a:ext cx="1399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1C1712"/>
                </a:solidFill>
                <a:latin typeface="Segoe UI"/>
              </a:rPr>
              <a:t>Domain depth, named outcomes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224528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1C1712"/>
                </a:solidFill>
                <a:latin typeface="Segoe UI"/>
              </a:rPr>
              <a:t>Point AI tools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9584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A544E"/>
                </a:solidFill>
                <a:latin typeface="Segoe UI"/>
              </a:rPr>
              <a:t>One sharp workflow, fast to buy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98464" y="4343400"/>
            <a:ext cx="3474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A544E"/>
                </a:solidFill>
                <a:latin typeface="Segoe UI"/>
              </a:rPr>
              <a:t>Ten tools become ten ungoverned actors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47503" y="4343400"/>
            <a:ext cx="1399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1C1712"/>
                </a:solidFill>
                <a:latin typeface="Segoe UI"/>
              </a:rPr>
              <a:t>We govern the sprawl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919472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0704" y="503834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1C1712"/>
                </a:solidFill>
                <a:latin typeface="Segoe UI"/>
              </a:rPr>
              <a:t>Recovery audit firms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9584" y="503834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A544E"/>
                </a:solidFill>
                <a:latin typeface="Segoe UI"/>
              </a:rPr>
              <a:t>Outcome-priced and trusted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98464" y="5038344"/>
            <a:ext cx="3474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5A544E"/>
                </a:solidFill>
                <a:latin typeface="Segoe UI"/>
              </a:rPr>
              <a:t>Retrospective and sampled, by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7503" y="5038344"/>
            <a:ext cx="1399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 i="0">
                <a:solidFill>
                  <a:srgbClr val="1C1712"/>
                </a:solidFill>
                <a:latin typeface="Segoe UI"/>
              </a:rPr>
              <a:t>Prevention, not recovery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614416"/>
            <a:ext cx="10362895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HOW WE MAKE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Credits, not seats. You pay for work finished.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17904"/>
            <a:ext cx="9509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When software does the work, charging per human charges for the wrong thing.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20824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386584"/>
            <a:ext cx="5943600" cy="329184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386584"/>
            <a:ext cx="5943600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2715768"/>
            <a:ext cx="5943600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247802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2478024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PER 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064" y="2478024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CREDITS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283464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Starter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$499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8346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5,000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172968"/>
            <a:ext cx="5943600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329184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Growth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55264" y="32918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$2,499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32918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30,000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630168"/>
            <a:ext cx="5943600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374904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Enterprise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55264" y="37490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Custom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37490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00" b="0" i="0">
                <a:solidFill>
                  <a:srgbClr val="1C1712"/>
                </a:solidFill>
                <a:latin typeface="Segoe UI"/>
              </a:rPr>
              <a:t>Pooled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4087368"/>
            <a:ext cx="5943600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23760" y="2386584"/>
            <a:ext cx="4050791" cy="329184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23760" y="2386584"/>
            <a:ext cx="4050791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23760" y="2715768"/>
            <a:ext cx="4050791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478024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A CREDIT BUYS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21824" y="2478024"/>
            <a:ext cx="12161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CREDITS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0064" y="28346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An HR case resolved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21824" y="283464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3760" y="3172968"/>
            <a:ext cx="4050791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70064" y="32918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A candidate screened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21824" y="329184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23760" y="3630168"/>
            <a:ext cx="4050791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70064" y="37490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An invoice tested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21824" y="374904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0.05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223760" y="4087368"/>
            <a:ext cx="4050791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70064" y="42062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A contract redlined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21824" y="4206240"/>
            <a:ext cx="1124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4544568"/>
            <a:ext cx="4050791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" y="4626864"/>
            <a:ext cx="10362895" cy="914400"/>
          </a:xfrm>
          <a:prstGeom prst="rect">
            <a:avLst/>
          </a:prstGeom>
          <a:solidFill>
            <a:srgbClr val="E7F1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07008" y="4828032"/>
            <a:ext cx="9777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450" b="0" i="0">
                <a:solidFill>
                  <a:srgbClr val="5A544E"/>
                </a:solidFill>
                <a:latin typeface="Segoe UI"/>
              </a:rPr>
              <a:t>A subscription the customer budgets against, on a metered layer that tracks cost to serve. </a:t>
            </a:r>
            <a:r>
              <a:rPr sz="1450" b="1" i="0">
                <a:solidFill>
                  <a:srgbClr val="1C1712"/>
                </a:solidFill>
                <a:latin typeface="Segoe UI"/>
              </a:rPr>
              <a:t>That is the architecture this market converged on in 2026, so we are shaped for it rather than retrofitting.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6016752"/>
            <a:ext cx="10362895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Implemented in the live product, including a working calculator. Overage $0.12 per credit. Source: SaaS and AI agent pricing analyses, 2026.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628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A29E98"/>
                </a:solidFill>
                <a:latin typeface="Segoe UI"/>
              </a:rPr>
              <a:t>ACT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0" i="0">
                <a:solidFill>
                  <a:srgbClr val="FEFDFC"/>
                </a:solidFill>
                <a:latin typeface="Georgia"/>
              </a:rPr>
              <a:t>How we should be funded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65576"/>
            <a:ext cx="87782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i="0">
                <a:solidFill>
                  <a:srgbClr val="CDCAC5"/>
                </a:solidFill>
                <a:latin typeface="Segoe UI"/>
              </a:rPr>
              <a:t>What is built, what is not, and exactly what the next eighteen months buy.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Built and deployed. No revenue, no customers, no team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93392"/>
            <a:ext cx="9509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Stated first, so diligence finds nothing we did not tell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496312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862072"/>
            <a:ext cx="4907127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862072"/>
            <a:ext cx="4907127" cy="36576"/>
          </a:xfrm>
          <a:prstGeom prst="rect">
            <a:avLst/>
          </a:prstGeom>
          <a:solidFill>
            <a:srgbClr val="1D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099816"/>
            <a:ext cx="43584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1D7D3E"/>
                </a:solidFill>
                <a:latin typeface="Segoe UI"/>
              </a:rPr>
              <a:t>DONE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648456"/>
            <a:ext cx="77724" cy="77724"/>
          </a:xfrm>
          <a:prstGeom prst="rect">
            <a:avLst/>
          </a:prstGeom>
          <a:solidFill>
            <a:srgbClr val="1D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3557016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The full commercial platform, live and public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4069080"/>
            <a:ext cx="77724" cy="77724"/>
          </a:xfrm>
          <a:prstGeom prst="rect">
            <a:avLst/>
          </a:prstGeom>
          <a:solidFill>
            <a:srgbClr val="1D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977640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Twelve agents specified end to 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4489704"/>
            <a:ext cx="77724" cy="77724"/>
          </a:xfrm>
          <a:prstGeom prst="rect">
            <a:avLst/>
          </a:prstGeom>
          <a:solidFill>
            <a:srgbClr val="1D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4398264"/>
            <a:ext cx="4084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Real-time operations layer, verified in production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5166360"/>
            <a:ext cx="77724" cy="77724"/>
          </a:xfrm>
          <a:prstGeom prst="rect">
            <a:avLst/>
          </a:prstGeom>
          <a:solidFill>
            <a:srgbClr val="1D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5074920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Stripe billing scaffold and security posture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0167" y="2862072"/>
            <a:ext cx="4907127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70167" y="2862072"/>
            <a:ext cx="4907127" cy="36576"/>
          </a:xfrm>
          <a:prstGeom prst="rect">
            <a:avLst/>
          </a:prstGeom>
          <a:solidFill>
            <a:srgbClr val="BE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4487" y="3099816"/>
            <a:ext cx="435848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BE2323"/>
                </a:solidFill>
                <a:latin typeface="Segoe UI"/>
              </a:rPr>
              <a:t>NOT DONE — THIS IS THE RAISE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44487" y="3648456"/>
            <a:ext cx="77724" cy="77724"/>
          </a:xfrm>
          <a:prstGeom prst="rect">
            <a:avLst/>
          </a:prstGeom>
          <a:solidFill>
            <a:srgbClr val="BE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8807" y="3557016"/>
            <a:ext cx="4084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The agent execution layer. The dashboard is a simulation and says so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44487" y="4325112"/>
            <a:ext cx="77724" cy="77724"/>
          </a:xfrm>
          <a:prstGeom prst="rect">
            <a:avLst/>
          </a:prstGeom>
          <a:solidFill>
            <a:srgbClr val="BE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8807" y="4233672"/>
            <a:ext cx="4084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No database, no SSO. The Registry is specified, not stored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44487" y="5001768"/>
            <a:ext cx="77724" cy="77724"/>
          </a:xfrm>
          <a:prstGeom prst="rect">
            <a:avLst/>
          </a:prstGeom>
          <a:solidFill>
            <a:srgbClr val="BE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18807" y="4910328"/>
            <a:ext cx="408416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Zero revenue, zero customers, zero pilots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4487" y="5422392"/>
            <a:ext cx="77724" cy="77724"/>
          </a:xfrm>
          <a:prstGeom prst="rect">
            <a:avLst/>
          </a:prstGeom>
          <a:solidFill>
            <a:srgbClr val="BE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18807" y="5330952"/>
            <a:ext cx="408416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5A544E"/>
                </a:solidFill>
                <a:latin typeface="Segoe UI"/>
              </a:rPr>
              <a:t>Design partners in the product are illustrative, not real companies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861304"/>
            <a:ext cx="103628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We would rather argue these gaps with you now than have you find them in month nine.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WHAT IS ALREADY PROVEN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At pre-seed the question is whether the founder ships.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139696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2505456"/>
            <a:ext cx="233469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0" i="0">
                <a:solidFill>
                  <a:srgbClr val="1C1712"/>
                </a:solidFill>
                <a:latin typeface="Segoe UI"/>
              </a:rPr>
              <a:t>~2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3200400"/>
            <a:ext cx="22798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empty repository to deployed platform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542032"/>
            <a:ext cx="0" cy="114300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3139" y="2505456"/>
            <a:ext cx="233469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0" i="0">
                <a:solidFill>
                  <a:srgbClr val="1C1712"/>
                </a:solidFill>
                <a:latin typeface="Segoe UI"/>
              </a:rPr>
              <a:t>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3139" y="3200400"/>
            <a:ext cx="22798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commits, one engineer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77559" y="2542032"/>
            <a:ext cx="0" cy="114300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3863" y="2505456"/>
            <a:ext cx="233469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0" i="0">
                <a:solidFill>
                  <a:srgbClr val="1C1712"/>
                </a:solidFill>
                <a:latin typeface="Segoe UI"/>
              </a:rPr>
              <a:t>372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3200400"/>
            <a:ext cx="22798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blind design judgements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283" y="2542032"/>
            <a:ext cx="0" cy="114300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505456"/>
            <a:ext cx="233469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0" i="0">
                <a:solidFill>
                  <a:srgbClr val="1C1712"/>
                </a:solidFill>
                <a:latin typeface="Segoe UI"/>
              </a:rPr>
              <a:t>44 / 51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3200400"/>
            <a:ext cx="22798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final-round wins vs production sites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4197096"/>
            <a:ext cx="10362895" cy="1417320"/>
          </a:xfrm>
          <a:prstGeom prst="rect">
            <a:avLst/>
          </a:prstGeom>
          <a:solidFill>
            <a:srgbClr val="F9F7F4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25296" y="4407408"/>
            <a:ext cx="9741103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450" b="1" i="0">
                <a:solidFill>
                  <a:srgbClr val="1C1712"/>
                </a:solidFill>
                <a:latin typeface="Segoe UI"/>
              </a:rPr>
              <a:t>Quality was not self-assessed. </a:t>
            </a:r>
            <a:r>
              <a:rPr sz="1450" b="0" i="0">
                <a:solidFill>
                  <a:srgbClr val="5A544E"/>
                </a:solidFill>
                <a:latin typeface="Segoe UI"/>
              </a:rPr>
              <a:t>A script screenshots every page from the production build, composites it beside a page from Stripe, Attio, Ramp, Brex, Mercury, Anthropic or Harvey in random order, and hands it to a reviewer who cannot tell which is ours. Final round: 44 of 51. Asked which set to ship, the reviewer chose ours without knowing which it was.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Eighteen months, three gates.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17904"/>
            <a:ext cx="9509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Each phase ends in a number, including a gate that says stop.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20824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386584"/>
            <a:ext cx="327141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2386584"/>
            <a:ext cx="3271418" cy="36576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52144" y="2624328"/>
            <a:ext cx="28142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06B64"/>
                </a:solidFill>
                <a:latin typeface="Segoe UI"/>
              </a:rPr>
              <a:t>MONTHS 0–6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" y="2898648"/>
            <a:ext cx="281421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C1712"/>
                </a:solidFill>
                <a:latin typeface="Segoe UI"/>
              </a:rPr>
              <a:t>Make one agent real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52144" y="3392424"/>
            <a:ext cx="73152" cy="73152"/>
          </a:xfrm>
          <a:prstGeom prst="rect">
            <a:avLst/>
          </a:prstGeom>
          <a:solidFill>
            <a:srgbClr val="CDCA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319272"/>
            <a:ext cx="255818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Execution runtime and Postgres Registry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2144" y="3977640"/>
            <a:ext cx="73152" cy="73152"/>
          </a:xfrm>
          <a:prstGeom prst="rect">
            <a:avLst/>
          </a:prstGeom>
          <a:solidFill>
            <a:srgbClr val="CDCA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904488"/>
            <a:ext cx="255818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SSO, SCIM, immutable audit log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52144" y="4325112"/>
            <a:ext cx="73152" cy="73152"/>
          </a:xfrm>
          <a:prstGeom prst="rect">
            <a:avLst/>
          </a:prstGeom>
          <a:solidFill>
            <a:srgbClr val="CDCA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4251960"/>
            <a:ext cx="255818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Controls Agent on real customer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52144" y="4526280"/>
            <a:ext cx="2795930" cy="402336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8448" y="4626864"/>
            <a:ext cx="259476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C1712"/>
                </a:solidFill>
                <a:latin typeface="Segoe UI"/>
              </a:rPr>
              <a:t>Gate: 3 paid pilots live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0138" y="2386584"/>
            <a:ext cx="327141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60138" y="2386584"/>
            <a:ext cx="3271418" cy="36576"/>
          </a:xfrm>
          <a:prstGeom prst="rect">
            <a:avLst/>
          </a:prstGeom>
          <a:solidFill>
            <a:srgbClr val="1C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7882" y="2624328"/>
            <a:ext cx="28142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06B64"/>
                </a:solidFill>
                <a:latin typeface="Segoe UI"/>
              </a:rPr>
              <a:t>MONTHS 6–12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97882" y="2898648"/>
            <a:ext cx="281421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C1712"/>
                </a:solidFill>
                <a:latin typeface="Segoe UI"/>
              </a:rPr>
              <a:t>Prove the number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97882" y="3392424"/>
            <a:ext cx="73152" cy="73152"/>
          </a:xfrm>
          <a:prstGeom prst="rect">
            <a:avLst/>
          </a:prstGeom>
          <a:solidFill>
            <a:srgbClr val="CDCA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17338" y="3319272"/>
            <a:ext cx="255818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Audit and Close agents to GA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97882" y="3739896"/>
            <a:ext cx="73152" cy="73152"/>
          </a:xfrm>
          <a:prstGeom prst="rect">
            <a:avLst/>
          </a:prstGeom>
          <a:solidFill>
            <a:srgbClr val="CDCA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17338" y="3666744"/>
            <a:ext cx="255818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Evaluation sets gating promotion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97882" y="4087368"/>
            <a:ext cx="73152" cy="73152"/>
          </a:xfrm>
          <a:prstGeom prst="rect">
            <a:avLst/>
          </a:prstGeom>
          <a:solidFill>
            <a:srgbClr val="CDCA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17338" y="4014216"/>
            <a:ext cx="255818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Metered billing switched 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97882" y="4526280"/>
            <a:ext cx="2795930" cy="402336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4186" y="4626864"/>
            <a:ext cx="259476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C1712"/>
                </a:solidFill>
                <a:latin typeface="Segoe UI"/>
              </a:rPr>
              <a:t>Gate: verified saving at 3 customers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5876" y="2386584"/>
            <a:ext cx="327141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05876" y="2386584"/>
            <a:ext cx="3271418" cy="36576"/>
          </a:xfrm>
          <a:prstGeom prst="rect">
            <a:avLst/>
          </a:prstGeom>
          <a:solidFill>
            <a:srgbClr val="1D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3620" y="2624328"/>
            <a:ext cx="281421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06B64"/>
                </a:solidFill>
                <a:latin typeface="Segoe UI"/>
              </a:rPr>
              <a:t>MONTHS 12–18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3620" y="2898648"/>
            <a:ext cx="281421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C1712"/>
                </a:solidFill>
                <a:latin typeface="Segoe UI"/>
              </a:rPr>
              <a:t>Open the Registry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43620" y="3392424"/>
            <a:ext cx="73152" cy="73152"/>
          </a:xfrm>
          <a:prstGeom prst="rect">
            <a:avLst/>
          </a:prstGeom>
          <a:solidFill>
            <a:srgbClr val="CDCA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63076" y="3319272"/>
            <a:ext cx="255818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Third-party agents via the Gateway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43620" y="3977640"/>
            <a:ext cx="73152" cy="73152"/>
          </a:xfrm>
          <a:prstGeom prst="rect">
            <a:avLst/>
          </a:prstGeom>
          <a:solidFill>
            <a:srgbClr val="CDCA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63076" y="3904488"/>
            <a:ext cx="255818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SOC 2 Type II evidence pipeline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43620" y="4325112"/>
            <a:ext cx="73152" cy="73152"/>
          </a:xfrm>
          <a:prstGeom prst="rect">
            <a:avLst/>
          </a:prstGeom>
          <a:solidFill>
            <a:srgbClr val="CDCA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63076" y="4251960"/>
            <a:ext cx="255818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First non-founder sales hire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43620" y="4526280"/>
            <a:ext cx="2795930" cy="402336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89924" y="4626864"/>
            <a:ext cx="259476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C1712"/>
                </a:solidFill>
                <a:latin typeface="Segoe UI"/>
              </a:rPr>
              <a:t>Gate: Series A metrics, or stop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03504"/>
            <a:ext cx="103628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706B64"/>
                </a:solidFill>
                <a:latin typeface="Segoe U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50976"/>
            <a:ext cx="10362895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400" b="0" i="0">
                <a:solidFill>
                  <a:srgbClr val="1C1712"/>
                </a:solidFill>
                <a:latin typeface="Georgia"/>
              </a:rPr>
              <a:t>$1.5M pre-seed. Eighteen months of runway.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17904"/>
            <a:ext cx="950976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5A544E"/>
                </a:solidFill>
                <a:latin typeface="Segoe UI"/>
              </a:rPr>
              <a:t>Sized to reach the only metric that matters next: three paying customers with a saving their own finance team calculates.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286000"/>
            <a:ext cx="10362895" cy="0"/>
          </a:xfrm>
          <a:prstGeom prst="rect">
            <a:avLst/>
          </a:prstGeom>
          <a:noFill/>
          <a:ln w="9525">
            <a:solidFill>
              <a:srgbClr val="CDCA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651760"/>
            <a:ext cx="233469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0" i="0">
                <a:solidFill>
                  <a:srgbClr val="1C1712"/>
                </a:solidFill>
                <a:latin typeface="Segoe UI"/>
              </a:rPr>
              <a:t>$1.5M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3346704"/>
            <a:ext cx="22798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pre-seed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6835" y="2688336"/>
            <a:ext cx="0" cy="86868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3139" y="2651760"/>
            <a:ext cx="233469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0" i="0">
                <a:solidFill>
                  <a:srgbClr val="1C1712"/>
                </a:solidFill>
                <a:latin typeface="Segoe UI"/>
              </a:rPr>
              <a:t>18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3139" y="3346704"/>
            <a:ext cx="22798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runway to the 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7559" y="2688336"/>
            <a:ext cx="0" cy="86868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3863" y="2651760"/>
            <a:ext cx="233469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0" i="0">
                <a:solidFill>
                  <a:srgbClr val="1C1712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863" y="3346704"/>
            <a:ext cx="22798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engineering hires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68283" y="2688336"/>
            <a:ext cx="0" cy="86868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14587" y="2651760"/>
            <a:ext cx="2334691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0" i="0">
                <a:solidFill>
                  <a:srgbClr val="1C1712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587" y="3346704"/>
            <a:ext cx="22798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paying customers, verified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3977640"/>
            <a:ext cx="5943600" cy="329184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977640"/>
            <a:ext cx="5943600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4306824"/>
            <a:ext cx="5943600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60704" y="4069080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USE OF FUNDS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32704" y="4069080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706B64"/>
                </a:solidFill>
                <a:latin typeface="Segoe UI"/>
              </a:rPr>
              <a:t>SHARE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" y="442569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Engineering — runtime, data, 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32704" y="44256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62%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4764024"/>
            <a:ext cx="5943600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488289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Founder-led sales and pilot delivery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32704" y="48828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16%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5221224"/>
            <a:ext cx="5943600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0704" y="534009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SOC 2 Type II, pen testing, legal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32704" y="53400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12%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5678424"/>
            <a:ext cx="5943600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0704" y="5797296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Infrastructure and inference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32704" y="57972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0" i="0">
                <a:solidFill>
                  <a:srgbClr val="1C1712"/>
                </a:solidFill>
                <a:latin typeface="Segoe UI"/>
              </a:rPr>
              <a:t>10%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6135624"/>
            <a:ext cx="5943600" cy="0"/>
          </a:xfrm>
          <a:prstGeom prst="rect">
            <a:avLst/>
          </a:prstGeom>
          <a:noFill/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23760" y="3977640"/>
            <a:ext cx="4050791" cy="2240280"/>
          </a:xfrm>
          <a:prstGeom prst="rect">
            <a:avLst/>
          </a:prstGeom>
          <a:solidFill>
            <a:srgbClr val="F9F7F4"/>
          </a:solidFill>
          <a:ln w="9525">
            <a:solidFill>
              <a:srgbClr val="E3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0" y="418795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06B64"/>
                </a:solidFill>
                <a:latin typeface="Segoe UI"/>
              </a:rPr>
              <a:t>BEYOND THE MONEY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98080" y="4626864"/>
            <a:ext cx="77724" cy="7772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0" y="4535424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An introduction to a CFO who will run a paid pilot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98080" y="5285232"/>
            <a:ext cx="77724" cy="7772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0" y="51937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An operator who has sold governance into finance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0" y="5943600"/>
            <a:ext cx="77724" cy="77724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0" y="58521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200" b="0" i="0">
                <a:solidFill>
                  <a:srgbClr val="5A544E"/>
                </a:solidFill>
                <a:latin typeface="Segoe UI"/>
              </a:rPr>
              <a:t>Pressure on the measurement plan first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17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F53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40280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4200" b="0" i="0">
                <a:solidFill>
                  <a:srgbClr val="FEFDFC"/>
                </a:solidFill>
                <a:latin typeface="Georgia"/>
              </a:rPr>
              <a:t>Agents will do the work.
Somebody still has to be accountable.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 i="0">
                <a:solidFill>
                  <a:srgbClr val="CDCAC5"/>
                </a:solidFill>
                <a:latin typeface="Segoe UI"/>
              </a:rPr>
              <a:t>Meridian is the record of who that is — for every agent an enterprise runs, including the ones we did not build.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029200"/>
            <a:ext cx="10362895" cy="0"/>
          </a:xfrm>
          <a:prstGeom prst="rect">
            <a:avLst/>
          </a:prstGeom>
          <a:noFill/>
          <a:ln w="9525">
            <a:solidFill>
              <a:srgbClr val="3A33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FEFDFC"/>
                </a:solidFill>
                <a:latin typeface="Segoe UI"/>
              </a:rPr>
              <a:t>enterprise-hr-finance.vercel.app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CDCAC5"/>
                </a:solidFill>
                <a:latin typeface="Segoe UI"/>
              </a:rPr>
              <a:t>Peter Alesso  ·  Founder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43737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Meridian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2895" y="6437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A29E98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
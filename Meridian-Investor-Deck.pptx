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one-liner, then say the live URL out loud and invite them to open it during the call. The product being real is the strongest thing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this slide. The 79/11 gap is the whole reason the company exists. If they push on the survey, concede the number varies by source and hold the point: production deployment lags adoption badly, and Gartner names governance as a cause.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questions are what an actual CFO asked of agent vendors. Ask the investor which of the four they think a chat-based vendor answers well. None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Pre-seed is a bet on the founder, so this comes early. Read the right-hand box aloud. Volunteering what you are not claiming buys credibility for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pricing curve is the least obvious and the most useful: the market has already moved to consumption, so our billing model is not a bet, it is the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'infrastructure, not application'. The Registry governing agents we did not build is the line that separates this from a point tool.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terms are the data model as well as the pitch. If they only remember one slide, this is the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twelve names. Say: one workflow each, a number attached to each, and point at two examples. Offer to open any agent page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wedge is real and already budgeted: recovery audits are an existing paid market that works retrospectively. We prevent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Registry first, everything else supports it. The moat argument lives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share the screen. The dashboard streaming live is more persuasive than any slide. Say plainly that the feed is simulated and the platform is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below-the-model argument also answers model risk and pricing risk. Slow down on 'a prompt instruction is a suggestion, a permission boundary is a control'.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the whole HCM market. The wedge is enterprises that already own an HCM or ERP and are being told by their board to deploy agents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pilot design is the real content: the customer's own finance team computes the number. That is what makes the first ten deals worth more than their revenue.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line is that incumbents can move. What they will not do is govern a rival's agent, because the suite exists to prevent rivals.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these five. The data flywheel answer is deliberately weak because it is weak. Saying so is worth more than a fabricated answer they will test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Two-layer pricing is the market convention now, not our invention. The calculator is live in the product if they want to interrogate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'modelled' before they read it. Then make the ratio argument: low thousands of price against tens of thousands of modelled saving leaves room for discount and margin. Concede inference cost is the unknown.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for trust. Read the right-hand column out loud, including that the design partners are illustrative. Never let diligence discover this instead of hearing it from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'can this founder ship' with a number rather than an adjective. The blind gauntlet is unusual enough to be memorable; offer to show the composites.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ends in a gate, including a kill decision. Investors respond well to a founder who has pre-committed to a stop condition.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'no customers yet' rather than burying it. The mitigation column is where the thinking shows.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number and stop talking. Then the three asks beyond money - the CFO introduction is the one that actually matters.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one-line version and the live URL. Do not add a thank-you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292"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10058400" cy="365760"/>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PRE-SEED  ·  ENTERPRISE AI INFRASTRUCTURE</a:t>
            </a:r>
          </a:p>
        </p:txBody>
      </p:sp>
      <p:sp>
        <p:nvSpPr>
          <p:cNvPr id="5" name="TextBox 4"/>
          <p:cNvSpPr txBox="1"/>
          <p:nvPr/>
        </p:nvSpPr>
        <p:spPr>
          <a:xfrm>
            <a:off x="822960" y="2395728"/>
            <a:ext cx="10241280" cy="1371600"/>
          </a:xfrm>
          <a:prstGeom prst="rect">
            <a:avLst/>
          </a:prstGeom>
          <a:noFill/>
        </p:spPr>
        <p:txBody>
          <a:bodyPr wrap="square" lIns="0" rIns="0" tIns="0" bIns="0" anchor="t">
            <a:spAutoFit/>
          </a:bodyPr>
          <a:lstStyle/>
          <a:p>
            <a:pPr algn="l">
              <a:spcAft>
                <a:spcPts val="0"/>
              </a:spcAft>
            </a:pPr>
            <a:r>
              <a:rPr sz="5800" b="0" i="0">
                <a:solidFill>
                  <a:srgbClr val="1C1712"/>
                </a:solidFill>
                <a:latin typeface="Georgia"/>
              </a:rPr>
              <a:t>Meridian</a:t>
            </a:r>
          </a:p>
        </p:txBody>
      </p:sp>
      <p:sp>
        <p:nvSpPr>
          <p:cNvPr id="6" name="TextBox 5"/>
          <p:cNvSpPr txBox="1"/>
          <p:nvPr/>
        </p:nvSpPr>
        <p:spPr>
          <a:xfrm>
            <a:off x="822960" y="3401568"/>
            <a:ext cx="9509760" cy="914400"/>
          </a:xfrm>
          <a:prstGeom prst="rect">
            <a:avLst/>
          </a:prstGeom>
          <a:noFill/>
        </p:spPr>
        <p:txBody>
          <a:bodyPr wrap="square" lIns="0" rIns="0" tIns="0" bIns="0" anchor="t">
            <a:spAutoFit/>
          </a:bodyPr>
          <a:lstStyle/>
          <a:p>
            <a:pPr algn="l">
              <a:lnSpc>
                <a:spcPct val="130000"/>
              </a:lnSpc>
              <a:spcAft>
                <a:spcPts val="0"/>
              </a:spcAft>
            </a:pPr>
            <a:r>
              <a:rPr sz="1900" b="0" i="0">
                <a:solidFill>
                  <a:srgbClr val="5A544E"/>
                </a:solidFill>
                <a:latin typeface="Segoe UI"/>
              </a:rPr>
              <a:t>AI agents that run HR and finance — with a named human accountable for every consequential action.</a:t>
            </a:r>
          </a:p>
        </p:txBody>
      </p:sp>
      <p:sp>
        <p:nvSpPr>
          <p:cNvPr id="7" name="Rectangle 6"/>
          <p:cNvSpPr/>
          <p:nvPr/>
        </p:nvSpPr>
        <p:spPr>
          <a:xfrm>
            <a:off x="822960" y="449884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754880"/>
            <a:ext cx="10058400" cy="822960"/>
          </a:xfrm>
          <a:prstGeom prst="rect">
            <a:avLst/>
          </a:prstGeom>
          <a:noFill/>
        </p:spPr>
        <p:txBody>
          <a:bodyPr wrap="square" lIns="0" rIns="0" tIns="0" bIns="0" anchor="t">
            <a:spAutoFit/>
          </a:bodyPr>
          <a:lstStyle/>
          <a:p>
            <a:pPr algn="l">
              <a:spcAft>
                <a:spcPts val="600"/>
              </a:spcAft>
            </a:pPr>
            <a:r>
              <a:rPr sz="1200" b="0" i="0">
                <a:solidFill>
                  <a:srgbClr val="706B64"/>
                </a:solidFill>
                <a:latin typeface="Segoe UI"/>
              </a:rPr>
              <a:t>Working product, deployed and public:  </a:t>
            </a:r>
            <a:r>
              <a:rPr sz="1200" b="1" i="0">
                <a:solidFill>
                  <a:srgbClr val="1F5390"/>
                </a:solidFill>
                <a:latin typeface="Segoe UI"/>
              </a:rPr>
              <a:t>enterprise-hr-finance.vercel.app</a:t>
            </a:r>
          </a:p>
          <a:p>
            <a:pPr algn="l">
              <a:spcAft>
                <a:spcPts val="600"/>
              </a:spcAft>
            </a:pPr>
            <a:r>
              <a:rPr sz="1200" b="0" i="0">
                <a:solidFill>
                  <a:srgbClr val="706B64"/>
                </a:solidFill>
                <a:latin typeface="Segoe UI"/>
              </a:rPr>
              <a:t>Source:  </a:t>
            </a:r>
            <a:r>
              <a:rPr sz="1200" b="0" i="0">
                <a:solidFill>
                  <a:srgbClr val="1F5390"/>
                </a:solidFill>
                <a:latin typeface="Segoe UI"/>
              </a:rPr>
              <a:t>github.com/alessoh/enterprise-hr-finance</a:t>
            </a:r>
          </a:p>
        </p:txBody>
      </p:sp>
      <p:sp>
        <p:nvSpPr>
          <p:cNvPr id="9" name="TextBox 8"/>
          <p:cNvSpPr txBox="1"/>
          <p:nvPr/>
        </p:nvSpPr>
        <p:spPr>
          <a:xfrm>
            <a:off x="822960" y="6035040"/>
            <a:ext cx="7315200"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Peter Alesso  ·  Founder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PROBLEM</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Enterprises bought agents. Almost none run them.</a:t>
            </a:r>
          </a:p>
        </p:txBody>
      </p:sp>
      <p:sp>
        <p:nvSpPr>
          <p:cNvPr id="5" name="TextBox 4"/>
          <p:cNvSpPr txBox="1"/>
          <p:nvPr/>
        </p:nvSpPr>
        <p:spPr>
          <a:xfrm>
            <a:off x="822960" y="14447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Adoption is near-universal and production deployment is rare. The gap is not model capability — it is that nobody can answer who is accountable when software acts.</a:t>
            </a:r>
          </a:p>
        </p:txBody>
      </p:sp>
      <p:sp>
        <p:nvSpPr>
          <p:cNvPr id="6" name="Rectangle 5"/>
          <p:cNvSpPr/>
          <p:nvPr/>
        </p:nvSpPr>
        <p:spPr>
          <a:xfrm>
            <a:off x="822960" y="21396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2</a:t>
            </a:r>
          </a:p>
        </p:txBody>
      </p:sp>
      <p:sp>
        <p:nvSpPr>
          <p:cNvPr id="9" name="TextBox 8"/>
          <p:cNvSpPr txBox="1"/>
          <p:nvPr/>
        </p:nvSpPr>
        <p:spPr>
          <a:xfrm>
            <a:off x="969264" y="24140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79%</a:t>
            </a:r>
          </a:p>
        </p:txBody>
      </p:sp>
      <p:sp>
        <p:nvSpPr>
          <p:cNvPr id="10" name="TextBox 9"/>
          <p:cNvSpPr txBox="1"/>
          <p:nvPr/>
        </p:nvSpPr>
        <p:spPr>
          <a:xfrm>
            <a:off x="969264" y="30723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of enterprises say they have adopted AI agents</a:t>
            </a:r>
          </a:p>
        </p:txBody>
      </p:sp>
      <p:sp>
        <p:nvSpPr>
          <p:cNvPr id="11" name="TextBox 10"/>
          <p:cNvSpPr txBox="1"/>
          <p:nvPr/>
        </p:nvSpPr>
        <p:spPr>
          <a:xfrm>
            <a:off x="969264" y="3493008"/>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Industry survey, 2026</a:t>
            </a:r>
          </a:p>
        </p:txBody>
      </p:sp>
      <p:sp>
        <p:nvSpPr>
          <p:cNvPr id="12" name="Rectangle 11"/>
          <p:cNvSpPr/>
          <p:nvPr/>
        </p:nvSpPr>
        <p:spPr>
          <a:xfrm>
            <a:off x="3441115" y="2459736"/>
            <a:ext cx="0" cy="118872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5707" y="24140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11%</a:t>
            </a:r>
          </a:p>
        </p:txBody>
      </p:sp>
      <p:sp>
        <p:nvSpPr>
          <p:cNvPr id="14" name="TextBox 13"/>
          <p:cNvSpPr txBox="1"/>
          <p:nvPr/>
        </p:nvSpPr>
        <p:spPr>
          <a:xfrm>
            <a:off x="3605707" y="30723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actually run them in production</a:t>
            </a:r>
          </a:p>
        </p:txBody>
      </p:sp>
      <p:sp>
        <p:nvSpPr>
          <p:cNvPr id="15" name="TextBox 14"/>
          <p:cNvSpPr txBox="1"/>
          <p:nvPr/>
        </p:nvSpPr>
        <p:spPr>
          <a:xfrm>
            <a:off x="3605707" y="3493008"/>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Same survey</a:t>
            </a:r>
          </a:p>
        </p:txBody>
      </p:sp>
      <p:sp>
        <p:nvSpPr>
          <p:cNvPr id="16" name="Rectangle 15"/>
          <p:cNvSpPr/>
          <p:nvPr/>
        </p:nvSpPr>
        <p:spPr>
          <a:xfrm>
            <a:off x="6077559" y="2459736"/>
            <a:ext cx="0" cy="118872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2151" y="24140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40%+</a:t>
            </a:r>
          </a:p>
        </p:txBody>
      </p:sp>
      <p:sp>
        <p:nvSpPr>
          <p:cNvPr id="18" name="TextBox 17"/>
          <p:cNvSpPr txBox="1"/>
          <p:nvPr/>
        </p:nvSpPr>
        <p:spPr>
          <a:xfrm>
            <a:off x="6242151" y="30723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of agentic projects may be cancelled by 2027</a:t>
            </a:r>
          </a:p>
        </p:txBody>
      </p:sp>
      <p:sp>
        <p:nvSpPr>
          <p:cNvPr id="19" name="TextBox 18"/>
          <p:cNvSpPr txBox="1"/>
          <p:nvPr/>
        </p:nvSpPr>
        <p:spPr>
          <a:xfrm>
            <a:off x="6242151" y="3493008"/>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Gartner</a:t>
            </a:r>
          </a:p>
        </p:txBody>
      </p:sp>
      <p:sp>
        <p:nvSpPr>
          <p:cNvPr id="20" name="Rectangle 19"/>
          <p:cNvSpPr/>
          <p:nvPr/>
        </p:nvSpPr>
        <p:spPr>
          <a:xfrm>
            <a:off x="8714003" y="2459736"/>
            <a:ext cx="0" cy="118872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78595" y="24140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40%</a:t>
            </a:r>
          </a:p>
        </p:txBody>
      </p:sp>
      <p:sp>
        <p:nvSpPr>
          <p:cNvPr id="22" name="TextBox 21"/>
          <p:cNvSpPr txBox="1"/>
          <p:nvPr/>
        </p:nvSpPr>
        <p:spPr>
          <a:xfrm>
            <a:off x="8878595" y="30723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of enterprise apps will embed task-specific agents by end-2026</a:t>
            </a:r>
          </a:p>
        </p:txBody>
      </p:sp>
      <p:sp>
        <p:nvSpPr>
          <p:cNvPr id="23" name="TextBox 22"/>
          <p:cNvSpPr txBox="1"/>
          <p:nvPr/>
        </p:nvSpPr>
        <p:spPr>
          <a:xfrm>
            <a:off x="8878595" y="3493008"/>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up from under 5% in 2025 · Gartner</a:t>
            </a:r>
          </a:p>
        </p:txBody>
      </p:sp>
      <p:sp>
        <p:nvSpPr>
          <p:cNvPr id="24" name="TextBox 23"/>
          <p:cNvSpPr txBox="1"/>
          <p:nvPr/>
        </p:nvSpPr>
        <p:spPr>
          <a:xfrm>
            <a:off x="822960" y="4096512"/>
            <a:ext cx="10545775" cy="731520"/>
          </a:xfrm>
          <a:prstGeom prst="rect">
            <a:avLst/>
          </a:prstGeom>
          <a:noFill/>
        </p:spPr>
        <p:txBody>
          <a:bodyPr wrap="square" lIns="0" rIns="0" tIns="0" bIns="0" anchor="t">
            <a:spAutoFit/>
          </a:bodyPr>
          <a:lstStyle/>
          <a:p>
            <a:pPr algn="l">
              <a:lnSpc>
                <a:spcPct val="135000"/>
              </a:lnSpc>
              <a:spcAft>
                <a:spcPts val="0"/>
              </a:spcAft>
            </a:pPr>
            <a:r>
              <a:rPr sz="1400" b="0" i="0">
                <a:solidFill>
                  <a:srgbClr val="5A544E"/>
                </a:solidFill>
                <a:latin typeface="Segoe UI"/>
              </a:rPr>
              <a:t>Gartner attributes the cancellations to unclear value, rising costs and </a:t>
            </a:r>
            <a:r>
              <a:rPr sz="1400" b="1" i="0">
                <a:solidFill>
                  <a:srgbClr val="1C1712"/>
                </a:solidFill>
                <a:latin typeface="Segoe UI"/>
              </a:rPr>
              <a:t>weak governance</a:t>
            </a:r>
            <a:r>
              <a:rPr sz="1400" b="0" i="0">
                <a:solidFill>
                  <a:srgbClr val="5A544E"/>
                </a:solidFill>
                <a:latin typeface="Segoe UI"/>
              </a:rPr>
              <a:t>. Analysts describe the blocker as unglamorous: data quality, integration readiness and governance maturity.</a:t>
            </a:r>
          </a:p>
        </p:txBody>
      </p:sp>
      <p:sp>
        <p:nvSpPr>
          <p:cNvPr id="25" name="TextBox 24"/>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Sources: Gartner agentic AI forecasts, 2026; enterprise AI agent adoption surveys aggregated 2026. Figures are third-party and cited, not 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INSIGHT</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A CFO cannot deploy something that cannot be held accountable.</a:t>
            </a:r>
          </a:p>
        </p:txBody>
      </p:sp>
      <p:sp>
        <p:nvSpPr>
          <p:cNvPr id="5" name="TextBox 4"/>
          <p:cNvSpPr txBox="1"/>
          <p:nvPr/>
        </p:nvSpPr>
        <p:spPr>
          <a:xfrm>
            <a:off x="822960" y="19019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Every vendor ships a chat box and a promise of autonomy. Four questions kill the deal, and none of them are about the model.</a:t>
            </a:r>
          </a:p>
        </p:txBody>
      </p:sp>
      <p:sp>
        <p:nvSpPr>
          <p:cNvPr id="6" name="Rectangle 5"/>
          <p:cNvSpPr/>
          <p:nvPr/>
        </p:nvSpPr>
        <p:spPr>
          <a:xfrm>
            <a:off x="822960" y="25968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3</a:t>
            </a:r>
          </a:p>
        </p:txBody>
      </p:sp>
      <p:sp>
        <p:nvSpPr>
          <p:cNvPr id="9" name="Rectangle 8"/>
          <p:cNvSpPr/>
          <p:nvPr/>
        </p:nvSpPr>
        <p:spPr>
          <a:xfrm>
            <a:off x="822960" y="2871216"/>
            <a:ext cx="2464993" cy="18288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871216"/>
            <a:ext cx="2464993" cy="3200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3090672"/>
            <a:ext cx="2026081" cy="274320"/>
          </a:xfrm>
          <a:prstGeom prst="rect">
            <a:avLst/>
          </a:prstGeom>
          <a:noFill/>
        </p:spPr>
        <p:txBody>
          <a:bodyPr wrap="square" lIns="0" rIns="0" tIns="0" bIns="0" anchor="t">
            <a:spAutoFit/>
          </a:bodyPr>
          <a:lstStyle/>
          <a:p>
            <a:pPr algn="l">
              <a:spcAft>
                <a:spcPts val="0"/>
              </a:spcAft>
            </a:pPr>
            <a:r>
              <a:rPr sz="1350" b="1" i="0">
                <a:solidFill>
                  <a:srgbClr val="1C1712"/>
                </a:solidFill>
                <a:latin typeface="Segoe UI"/>
              </a:rPr>
              <a:t>Who owns this agent?</a:t>
            </a:r>
          </a:p>
        </p:txBody>
      </p:sp>
      <p:sp>
        <p:nvSpPr>
          <p:cNvPr id="12" name="TextBox 11"/>
          <p:cNvSpPr txBox="1"/>
          <p:nvPr/>
        </p:nvSpPr>
        <p:spPr>
          <a:xfrm>
            <a:off x="1042416" y="3438144"/>
            <a:ext cx="2026081" cy="109728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There is no org chart for software that acts on its own.</a:t>
            </a:r>
          </a:p>
        </p:txBody>
      </p:sp>
      <p:sp>
        <p:nvSpPr>
          <p:cNvPr id="13" name="Rectangle 12"/>
          <p:cNvSpPr/>
          <p:nvPr/>
        </p:nvSpPr>
        <p:spPr>
          <a:xfrm>
            <a:off x="3516553" y="2871216"/>
            <a:ext cx="2464993" cy="18288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6553" y="2871216"/>
            <a:ext cx="2464993" cy="3200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36009" y="3090672"/>
            <a:ext cx="2026081" cy="274320"/>
          </a:xfrm>
          <a:prstGeom prst="rect">
            <a:avLst/>
          </a:prstGeom>
          <a:noFill/>
        </p:spPr>
        <p:txBody>
          <a:bodyPr wrap="square" lIns="0" rIns="0" tIns="0" bIns="0" anchor="t">
            <a:spAutoFit/>
          </a:bodyPr>
          <a:lstStyle/>
          <a:p>
            <a:pPr algn="l">
              <a:spcAft>
                <a:spcPts val="0"/>
              </a:spcAft>
            </a:pPr>
            <a:r>
              <a:rPr sz="1350" b="1" i="0">
                <a:solidFill>
                  <a:srgbClr val="1C1712"/>
                </a:solidFill>
                <a:latin typeface="Segoe UI"/>
              </a:rPr>
              <a:t>What is it allowed to read?</a:t>
            </a:r>
          </a:p>
        </p:txBody>
      </p:sp>
      <p:sp>
        <p:nvSpPr>
          <p:cNvPr id="16" name="TextBox 15"/>
          <p:cNvSpPr txBox="1"/>
          <p:nvPr/>
        </p:nvSpPr>
        <p:spPr>
          <a:xfrm>
            <a:off x="3736009" y="3438144"/>
            <a:ext cx="2026081" cy="109728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Permissions are set in prompts, not in the data layer.</a:t>
            </a:r>
          </a:p>
        </p:txBody>
      </p:sp>
      <p:sp>
        <p:nvSpPr>
          <p:cNvPr id="17" name="Rectangle 16"/>
          <p:cNvSpPr/>
          <p:nvPr/>
        </p:nvSpPr>
        <p:spPr>
          <a:xfrm>
            <a:off x="6210147" y="2871216"/>
            <a:ext cx="2464993" cy="18288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0147" y="2871216"/>
            <a:ext cx="2464993" cy="3200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9603" y="3090672"/>
            <a:ext cx="2026081" cy="274320"/>
          </a:xfrm>
          <a:prstGeom prst="rect">
            <a:avLst/>
          </a:prstGeom>
          <a:noFill/>
        </p:spPr>
        <p:txBody>
          <a:bodyPr wrap="square" lIns="0" rIns="0" tIns="0" bIns="0" anchor="t">
            <a:spAutoFit/>
          </a:bodyPr>
          <a:lstStyle/>
          <a:p>
            <a:pPr algn="l">
              <a:spcAft>
                <a:spcPts val="0"/>
              </a:spcAft>
            </a:pPr>
            <a:r>
              <a:rPr sz="1350" b="1" i="0">
                <a:solidFill>
                  <a:srgbClr val="1C1712"/>
                </a:solidFill>
                <a:latin typeface="Segoe UI"/>
              </a:rPr>
              <a:t>What can it do without asking?</a:t>
            </a:r>
          </a:p>
        </p:txBody>
      </p:sp>
      <p:sp>
        <p:nvSpPr>
          <p:cNvPr id="20" name="TextBox 19"/>
          <p:cNvSpPr txBox="1"/>
          <p:nvPr/>
        </p:nvSpPr>
        <p:spPr>
          <a:xfrm>
            <a:off x="6429603" y="3438144"/>
            <a:ext cx="2026081" cy="109728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The blast radius is undefined at purchase time.</a:t>
            </a:r>
          </a:p>
        </p:txBody>
      </p:sp>
      <p:sp>
        <p:nvSpPr>
          <p:cNvPr id="21" name="Rectangle 20"/>
          <p:cNvSpPr/>
          <p:nvPr/>
        </p:nvSpPr>
        <p:spPr>
          <a:xfrm>
            <a:off x="8903741" y="2871216"/>
            <a:ext cx="2464993" cy="18288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03741" y="2871216"/>
            <a:ext cx="2464993" cy="3200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23197" y="3090672"/>
            <a:ext cx="2026081" cy="274320"/>
          </a:xfrm>
          <a:prstGeom prst="rect">
            <a:avLst/>
          </a:prstGeom>
          <a:noFill/>
        </p:spPr>
        <p:txBody>
          <a:bodyPr wrap="square" lIns="0" rIns="0" tIns="0" bIns="0" anchor="t">
            <a:spAutoFit/>
          </a:bodyPr>
          <a:lstStyle/>
          <a:p>
            <a:pPr algn="l">
              <a:spcAft>
                <a:spcPts val="0"/>
              </a:spcAft>
            </a:pPr>
            <a:r>
              <a:rPr sz="1350" b="1" i="0">
                <a:solidFill>
                  <a:srgbClr val="1C1712"/>
                </a:solidFill>
                <a:latin typeface="Segoe UI"/>
              </a:rPr>
              <a:t>Can I hand the log to an auditor?</a:t>
            </a:r>
          </a:p>
        </p:txBody>
      </p:sp>
      <p:sp>
        <p:nvSpPr>
          <p:cNvPr id="24" name="TextBox 23"/>
          <p:cNvSpPr txBox="1"/>
          <p:nvPr/>
        </p:nvSpPr>
        <p:spPr>
          <a:xfrm>
            <a:off x="9123197" y="3438144"/>
            <a:ext cx="2026081" cy="109728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Chat transcripts are not audit evidence.</a:t>
            </a:r>
          </a:p>
        </p:txBody>
      </p:sp>
      <p:sp>
        <p:nvSpPr>
          <p:cNvPr id="25" name="TextBox 24"/>
          <p:cNvSpPr txBox="1"/>
          <p:nvPr/>
        </p:nvSpPr>
        <p:spPr>
          <a:xfrm>
            <a:off x="822960" y="5020056"/>
            <a:ext cx="10545775" cy="822960"/>
          </a:xfrm>
          <a:prstGeom prst="rect">
            <a:avLst/>
          </a:prstGeom>
          <a:noFill/>
        </p:spPr>
        <p:txBody>
          <a:bodyPr wrap="square" lIns="0" rIns="0" tIns="0" bIns="0" anchor="t">
            <a:spAutoFit/>
          </a:bodyPr>
          <a:lstStyle/>
          <a:p>
            <a:pPr algn="l">
              <a:lnSpc>
                <a:spcPct val="135000"/>
              </a:lnSpc>
              <a:spcAft>
                <a:spcPts val="0"/>
              </a:spcAft>
            </a:pPr>
            <a:r>
              <a:rPr sz="1500" b="0" i="0">
                <a:solidFill>
                  <a:srgbClr val="5A544E"/>
                </a:solidFill>
                <a:latin typeface="Segoe UI"/>
              </a:rPr>
              <a:t>The market treats governance as a compliance page bolted on at the end. </a:t>
            </a:r>
            <a:r>
              <a:rPr sz="1500" b="1" i="0">
                <a:solidFill>
                  <a:srgbClr val="1C1712"/>
                </a:solidFill>
                <a:latin typeface="Segoe UI"/>
              </a:rPr>
              <a:t>We treat it as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FOUNDER</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Who is building this, and why now for me.</a:t>
            </a:r>
          </a:p>
        </p:txBody>
      </p:sp>
      <p:sp>
        <p:nvSpPr>
          <p:cNvPr id="5" name="TextBox 4"/>
          <p:cNvSpPr txBox="1"/>
          <p:nvPr/>
        </p:nvSpPr>
        <p:spPr>
          <a:xfrm>
            <a:off x="822960" y="14447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Pre-seed is a bet on the builder. Here is the evidence I can put in front of you today rather than a claim about the future.</a:t>
            </a:r>
          </a:p>
        </p:txBody>
      </p:sp>
      <p:sp>
        <p:nvSpPr>
          <p:cNvPr id="6" name="Rectangle 5"/>
          <p:cNvSpPr/>
          <p:nvPr/>
        </p:nvSpPr>
        <p:spPr>
          <a:xfrm>
            <a:off x="822960" y="21396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4</a:t>
            </a:r>
          </a:p>
        </p:txBody>
      </p:sp>
      <p:sp>
        <p:nvSpPr>
          <p:cNvPr id="9" name="Rectangle 8"/>
          <p:cNvSpPr/>
          <p:nvPr/>
        </p:nvSpPr>
        <p:spPr>
          <a:xfrm>
            <a:off x="822960" y="249631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414016"/>
            <a:ext cx="5431536" cy="548640"/>
          </a:xfrm>
          <a:prstGeom prst="rect">
            <a:avLst/>
          </a:prstGeom>
          <a:noFill/>
        </p:spPr>
        <p:txBody>
          <a:bodyPr wrap="square" lIns="0" rIns="0" tIns="0" bIns="0" anchor="t">
            <a:spAutoFit/>
          </a:bodyPr>
          <a:lstStyle/>
          <a:p>
            <a:pPr algn="l">
              <a:lnSpc>
                <a:spcPct val="132000"/>
              </a:lnSpc>
              <a:spcAft>
                <a:spcPts val="0"/>
              </a:spcAft>
            </a:pPr>
            <a:r>
              <a:rPr sz="1300" b="1" i="0">
                <a:solidFill>
                  <a:srgbClr val="1C1712"/>
                </a:solidFill>
                <a:latin typeface="Segoe UI"/>
              </a:rPr>
              <a:t>Peter Alesso — </a:t>
            </a:r>
            <a:r>
              <a:rPr sz="1300" b="0" i="0">
                <a:solidFill>
                  <a:srgbClr val="5A544E"/>
                </a:solidFill>
                <a:latin typeface="Segoe UI"/>
              </a:rPr>
              <a:t>founder and sole engineer to date. Background in enterprise AI systems and applied machine learning.</a:t>
            </a:r>
          </a:p>
        </p:txBody>
      </p:sp>
      <p:sp>
        <p:nvSpPr>
          <p:cNvPr id="11" name="Rectangle 10"/>
          <p:cNvSpPr/>
          <p:nvPr/>
        </p:nvSpPr>
        <p:spPr>
          <a:xfrm>
            <a:off x="822960" y="3099816"/>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017520"/>
            <a:ext cx="5431536" cy="822960"/>
          </a:xfrm>
          <a:prstGeom prst="rect">
            <a:avLst/>
          </a:prstGeom>
          <a:noFill/>
        </p:spPr>
        <p:txBody>
          <a:bodyPr wrap="square" lIns="0" rIns="0" tIns="0" bIns="0" anchor="t">
            <a:spAutoFit/>
          </a:bodyPr>
          <a:lstStyle/>
          <a:p>
            <a:pPr algn="l">
              <a:lnSpc>
                <a:spcPct val="132000"/>
              </a:lnSpc>
              <a:spcAft>
                <a:spcPts val="0"/>
              </a:spcAft>
            </a:pPr>
            <a:r>
              <a:rPr sz="1300" b="1" i="0">
                <a:solidFill>
                  <a:srgbClr val="1C1712"/>
                </a:solidFill>
                <a:latin typeface="Segoe UI"/>
              </a:rPr>
              <a:t>Built the entire platform solo, </a:t>
            </a:r>
            <a:r>
              <a:rPr sz="1300" b="0" i="0">
                <a:solidFill>
                  <a:srgbClr val="5A544E"/>
                </a:solidFill>
                <a:latin typeface="Segoe UI"/>
              </a:rPr>
              <a:t>orchestrating parallel AI agents against a written architecture spec — the same discipline the product sells.</a:t>
            </a:r>
          </a:p>
        </p:txBody>
      </p:sp>
      <p:sp>
        <p:nvSpPr>
          <p:cNvPr id="13" name="Rectangle 12"/>
          <p:cNvSpPr/>
          <p:nvPr/>
        </p:nvSpPr>
        <p:spPr>
          <a:xfrm>
            <a:off x="822960" y="394106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858768"/>
            <a:ext cx="5431536" cy="548640"/>
          </a:xfrm>
          <a:prstGeom prst="rect">
            <a:avLst/>
          </a:prstGeom>
          <a:noFill/>
        </p:spPr>
        <p:txBody>
          <a:bodyPr wrap="square" lIns="0" rIns="0" tIns="0" bIns="0" anchor="t">
            <a:spAutoFit/>
          </a:bodyPr>
          <a:lstStyle/>
          <a:p>
            <a:pPr algn="l">
              <a:lnSpc>
                <a:spcPct val="132000"/>
              </a:lnSpc>
              <a:spcAft>
                <a:spcPts val="0"/>
              </a:spcAft>
            </a:pPr>
            <a:r>
              <a:rPr sz="1300" b="1" i="0">
                <a:solidFill>
                  <a:srgbClr val="1C1712"/>
                </a:solidFill>
                <a:latin typeface="Segoe UI"/>
              </a:rPr>
              <a:t>Shipped to production, not to a demo folder. </a:t>
            </a:r>
            <a:r>
              <a:rPr sz="1300" b="0" i="0">
                <a:solidFill>
                  <a:srgbClr val="5A544E"/>
                </a:solidFill>
                <a:latin typeface="Segoe UI"/>
              </a:rPr>
              <a:t>165 pages, live URL, public repository, real security headers, verified performance.</a:t>
            </a:r>
          </a:p>
        </p:txBody>
      </p:sp>
      <p:sp>
        <p:nvSpPr>
          <p:cNvPr id="15" name="Rectangle 14"/>
          <p:cNvSpPr/>
          <p:nvPr/>
        </p:nvSpPr>
        <p:spPr>
          <a:xfrm>
            <a:off x="822960" y="4544568"/>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462272"/>
            <a:ext cx="5431536" cy="822960"/>
          </a:xfrm>
          <a:prstGeom prst="rect">
            <a:avLst/>
          </a:prstGeom>
          <a:noFill/>
        </p:spPr>
        <p:txBody>
          <a:bodyPr wrap="square" lIns="0" rIns="0" tIns="0" bIns="0" anchor="t">
            <a:spAutoFit/>
          </a:bodyPr>
          <a:lstStyle/>
          <a:p>
            <a:pPr algn="l">
              <a:lnSpc>
                <a:spcPct val="132000"/>
              </a:lnSpc>
              <a:spcAft>
                <a:spcPts val="0"/>
              </a:spcAft>
            </a:pPr>
            <a:r>
              <a:rPr sz="1300" b="1" i="0">
                <a:solidFill>
                  <a:srgbClr val="1C1712"/>
                </a:solidFill>
                <a:latin typeface="Segoe UI"/>
              </a:rPr>
              <a:t>Domain grounding: </a:t>
            </a:r>
            <a:r>
              <a:rPr sz="1300" b="0" i="0">
                <a:solidFill>
                  <a:srgbClr val="5A544E"/>
                </a:solidFill>
                <a:latin typeface="Segoe UI"/>
              </a:rPr>
              <a:t>the product model is derived from how HR and finance incumbents actually deploy agents, not from what AI vendors market.</a:t>
            </a:r>
          </a:p>
        </p:txBody>
      </p:sp>
      <p:sp>
        <p:nvSpPr>
          <p:cNvPr id="17" name="Rectangle 16"/>
          <p:cNvSpPr/>
          <p:nvPr/>
        </p:nvSpPr>
        <p:spPr>
          <a:xfrm>
            <a:off x="6949440" y="2368296"/>
            <a:ext cx="4419295" cy="2834640"/>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0" y="2642616"/>
            <a:ext cx="3931920" cy="274320"/>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WHAT I AM NOT CLAIMING</a:t>
            </a:r>
          </a:p>
        </p:txBody>
      </p:sp>
      <p:sp>
        <p:nvSpPr>
          <p:cNvPr id="19" name="Rectangle 18"/>
          <p:cNvSpPr/>
          <p:nvPr/>
        </p:nvSpPr>
        <p:spPr>
          <a:xfrm>
            <a:off x="7223760" y="311810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61504" y="3035808"/>
            <a:ext cx="3511295" cy="548640"/>
          </a:xfrm>
          <a:prstGeom prst="rect">
            <a:avLst/>
          </a:prstGeom>
          <a:noFill/>
        </p:spPr>
        <p:txBody>
          <a:bodyPr wrap="square" lIns="0" rIns="0" tIns="0" bIns="0" anchor="t">
            <a:spAutoFit/>
          </a:bodyPr>
          <a:lstStyle/>
          <a:p>
            <a:pPr algn="l">
              <a:lnSpc>
                <a:spcPct val="132000"/>
              </a:lnSpc>
              <a:spcAft>
                <a:spcPts val="0"/>
              </a:spcAft>
            </a:pPr>
            <a:r>
              <a:rPr sz="1200" b="0" i="0">
                <a:solidFill>
                  <a:srgbClr val="5A544E"/>
                </a:solidFill>
                <a:latin typeface="Segoe UI"/>
              </a:rPr>
              <a:t>No revenue. No paying customers. No prior exits claimed here.</a:t>
            </a:r>
          </a:p>
        </p:txBody>
      </p:sp>
      <p:sp>
        <p:nvSpPr>
          <p:cNvPr id="21" name="Rectangle 20"/>
          <p:cNvSpPr/>
          <p:nvPr/>
        </p:nvSpPr>
        <p:spPr>
          <a:xfrm>
            <a:off x="7223760" y="3721608"/>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61504" y="3639312"/>
            <a:ext cx="3511295" cy="548640"/>
          </a:xfrm>
          <a:prstGeom prst="rect">
            <a:avLst/>
          </a:prstGeom>
          <a:noFill/>
        </p:spPr>
        <p:txBody>
          <a:bodyPr wrap="square" lIns="0" rIns="0" tIns="0" bIns="0" anchor="t">
            <a:spAutoFit/>
          </a:bodyPr>
          <a:lstStyle/>
          <a:p>
            <a:pPr algn="l">
              <a:lnSpc>
                <a:spcPct val="132000"/>
              </a:lnSpc>
              <a:spcAft>
                <a:spcPts val="0"/>
              </a:spcAft>
            </a:pPr>
            <a:r>
              <a:rPr sz="1200" b="0" i="0">
                <a:solidFill>
                  <a:srgbClr val="5A544E"/>
                </a:solidFill>
                <a:latin typeface="Segoe UI"/>
              </a:rPr>
              <a:t>No team yet — the first three hires are in the ask.</a:t>
            </a:r>
          </a:p>
        </p:txBody>
      </p:sp>
      <p:sp>
        <p:nvSpPr>
          <p:cNvPr id="23" name="Rectangle 22"/>
          <p:cNvSpPr/>
          <p:nvPr/>
        </p:nvSpPr>
        <p:spPr>
          <a:xfrm>
            <a:off x="7223760" y="432511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1504" y="4242816"/>
            <a:ext cx="3511295" cy="548640"/>
          </a:xfrm>
          <a:prstGeom prst="rect">
            <a:avLst/>
          </a:prstGeom>
          <a:noFill/>
        </p:spPr>
        <p:txBody>
          <a:bodyPr wrap="square" lIns="0" rIns="0" tIns="0" bIns="0" anchor="t">
            <a:spAutoFit/>
          </a:bodyPr>
          <a:lstStyle/>
          <a:p>
            <a:pPr algn="l">
              <a:lnSpc>
                <a:spcPct val="132000"/>
              </a:lnSpc>
              <a:spcAft>
                <a:spcPts val="0"/>
              </a:spcAft>
            </a:pPr>
            <a:r>
              <a:rPr sz="1200" b="0" i="0">
                <a:solidFill>
                  <a:srgbClr val="5A544E"/>
                </a:solidFill>
                <a:latin typeface="Segoe UI"/>
              </a:rPr>
              <a:t>The agent execution layer is not built. The platform around it is.</a:t>
            </a:r>
          </a:p>
        </p:txBody>
      </p:sp>
      <p:sp>
        <p:nvSpPr>
          <p:cNvPr id="25" name="TextBox 24"/>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This slide is deliberately blunt. Everything on the following slides is either measurable in the repository, cited to a public source, or labelled as modelled.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WHY NOW</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Three curves crossed in 2026.</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This company was not buildable in 2024 and will be crowded by 2028.</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5</a:t>
            </a:r>
          </a:p>
        </p:txBody>
      </p:sp>
      <p:sp>
        <p:nvSpPr>
          <p:cNvPr id="9" name="Rectangle 8"/>
          <p:cNvSpPr/>
          <p:nvPr/>
        </p:nvSpPr>
        <p:spPr>
          <a:xfrm>
            <a:off x="822960" y="2167128"/>
            <a:ext cx="10545775"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6712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496312"/>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2258568"/>
            <a:ext cx="137160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CURVE</a:t>
            </a:r>
          </a:p>
        </p:txBody>
      </p:sp>
      <p:sp>
        <p:nvSpPr>
          <p:cNvPr id="13" name="TextBox 12"/>
          <p:cNvSpPr txBox="1"/>
          <p:nvPr/>
        </p:nvSpPr>
        <p:spPr>
          <a:xfrm>
            <a:off x="2505456" y="2258568"/>
            <a:ext cx="548640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WHAT CHANGED</a:t>
            </a:r>
          </a:p>
        </p:txBody>
      </p:sp>
      <p:sp>
        <p:nvSpPr>
          <p:cNvPr id="14" name="TextBox 13"/>
          <p:cNvSpPr txBox="1"/>
          <p:nvPr/>
        </p:nvSpPr>
        <p:spPr>
          <a:xfrm>
            <a:off x="8174736" y="2258568"/>
            <a:ext cx="3136392"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WHAT IT UNLOCKS</a:t>
            </a:r>
          </a:p>
        </p:txBody>
      </p:sp>
      <p:sp>
        <p:nvSpPr>
          <p:cNvPr id="15" name="TextBox 14"/>
          <p:cNvSpPr txBox="1"/>
          <p:nvPr/>
        </p:nvSpPr>
        <p:spPr>
          <a:xfrm>
            <a:off x="950976" y="2596896"/>
            <a:ext cx="137160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Capability</a:t>
            </a:r>
          </a:p>
        </p:txBody>
      </p:sp>
      <p:sp>
        <p:nvSpPr>
          <p:cNvPr id="16" name="TextBox 15"/>
          <p:cNvSpPr txBox="1"/>
          <p:nvPr/>
        </p:nvSpPr>
        <p:spPr>
          <a:xfrm>
            <a:off x="2505456" y="2596896"/>
            <a:ext cx="548640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Frontier models became reliable enough for narrow, bounded workflows — not open-ended autonomy.</a:t>
            </a:r>
          </a:p>
        </p:txBody>
      </p:sp>
      <p:sp>
        <p:nvSpPr>
          <p:cNvPr id="17" name="TextBox 16"/>
          <p:cNvSpPr txBox="1"/>
          <p:nvPr/>
        </p:nvSpPr>
        <p:spPr>
          <a:xfrm>
            <a:off x="8174736" y="2596896"/>
            <a:ext cx="313639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Agents can finally finish a scoped job.</a:t>
            </a:r>
          </a:p>
        </p:txBody>
      </p:sp>
      <p:sp>
        <p:nvSpPr>
          <p:cNvPr id="18" name="Rectangle 17"/>
          <p:cNvSpPr/>
          <p:nvPr/>
        </p:nvSpPr>
        <p:spPr>
          <a:xfrm>
            <a:off x="822960" y="320954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3310128"/>
            <a:ext cx="137160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Standards</a:t>
            </a:r>
          </a:p>
        </p:txBody>
      </p:sp>
      <p:sp>
        <p:nvSpPr>
          <p:cNvPr id="20" name="TextBox 19"/>
          <p:cNvSpPr txBox="1"/>
          <p:nvPr/>
        </p:nvSpPr>
        <p:spPr>
          <a:xfrm>
            <a:off x="2505456" y="3310128"/>
            <a:ext cx="548640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Model Context Protocol and agent-to-agent protocols turned tool access into an interoperable layer.</a:t>
            </a:r>
          </a:p>
        </p:txBody>
      </p:sp>
      <p:sp>
        <p:nvSpPr>
          <p:cNvPr id="21" name="TextBox 20"/>
          <p:cNvSpPr txBox="1"/>
          <p:nvPr/>
        </p:nvSpPr>
        <p:spPr>
          <a:xfrm>
            <a:off x="8174736" y="3310128"/>
            <a:ext cx="313639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A governance layer can sit above any vendor.</a:t>
            </a:r>
          </a:p>
        </p:txBody>
      </p:sp>
      <p:sp>
        <p:nvSpPr>
          <p:cNvPr id="22" name="Rectangle 21"/>
          <p:cNvSpPr/>
          <p:nvPr/>
        </p:nvSpPr>
        <p:spPr>
          <a:xfrm>
            <a:off x="822960" y="392277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 y="4023360"/>
            <a:ext cx="137160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Pricing</a:t>
            </a:r>
          </a:p>
        </p:txBody>
      </p:sp>
      <p:sp>
        <p:nvSpPr>
          <p:cNvPr id="24" name="TextBox 23"/>
          <p:cNvSpPr txBox="1"/>
          <p:nvPr/>
        </p:nvSpPr>
        <p:spPr>
          <a:xfrm>
            <a:off x="2505456" y="4023360"/>
            <a:ext cx="548640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97% of surveyed SaaS CEOs plan to retire seat-based pricing within two years; seat-based fell 21% to 15% in 12 months.</a:t>
            </a:r>
          </a:p>
        </p:txBody>
      </p:sp>
      <p:sp>
        <p:nvSpPr>
          <p:cNvPr id="25" name="TextBox 24"/>
          <p:cNvSpPr txBox="1"/>
          <p:nvPr/>
        </p:nvSpPr>
        <p:spPr>
          <a:xfrm>
            <a:off x="8174736" y="4023360"/>
            <a:ext cx="313639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Consumption billing is now the expected shape.</a:t>
            </a:r>
          </a:p>
        </p:txBody>
      </p:sp>
      <p:sp>
        <p:nvSpPr>
          <p:cNvPr id="26" name="Rectangle 25"/>
          <p:cNvSpPr/>
          <p:nvPr/>
        </p:nvSpPr>
        <p:spPr>
          <a:xfrm>
            <a:off x="822960" y="463600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10328"/>
            <a:ext cx="10545775" cy="640080"/>
          </a:xfrm>
          <a:prstGeom prst="rect">
            <a:avLst/>
          </a:prstGeom>
          <a:noFill/>
        </p:spPr>
        <p:txBody>
          <a:bodyPr wrap="square" lIns="0" rIns="0" tIns="0" bIns="0" anchor="t">
            <a:spAutoFit/>
          </a:bodyPr>
          <a:lstStyle/>
          <a:p>
            <a:pPr algn="l">
              <a:lnSpc>
                <a:spcPct val="135000"/>
              </a:lnSpc>
              <a:spcAft>
                <a:spcPts val="0"/>
              </a:spcAft>
            </a:pPr>
            <a:r>
              <a:rPr sz="1400" b="0" i="0">
                <a:solidFill>
                  <a:srgbClr val="5A544E"/>
                </a:solidFill>
                <a:latin typeface="Segoe UI"/>
              </a:rPr>
              <a:t>The window: agents are credible, the plumbing is standard, and the buyer has budget — but governance is still missing. That is a narrow opening.</a:t>
            </a:r>
          </a:p>
        </p:txBody>
      </p:sp>
      <p:sp>
        <p:nvSpPr>
          <p:cNvPr id="28" name="TextBox 27"/>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Source: Cruxy survey of 300 SaaS CEOs, April 2026; SaaS pricing model share data,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PRODUCT</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Twelve narrow agents, one governance layer, metered by completed work.</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Not an assistant. A workforce with an org chart, permissions and an audit trail.</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6</a:t>
            </a:r>
          </a:p>
        </p:txBody>
      </p:sp>
      <p:sp>
        <p:nvSpPr>
          <p:cNvPr id="9" name="Rectangle 8"/>
          <p:cNvSpPr/>
          <p:nvPr/>
        </p:nvSpPr>
        <p:spPr>
          <a:xfrm>
            <a:off x="822960" y="2624328"/>
            <a:ext cx="3332378" cy="214884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24328"/>
            <a:ext cx="3332378" cy="32004"/>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843784"/>
            <a:ext cx="2893466" cy="274320"/>
          </a:xfrm>
          <a:prstGeom prst="rect">
            <a:avLst/>
          </a:prstGeom>
          <a:noFill/>
        </p:spPr>
        <p:txBody>
          <a:bodyPr wrap="square" lIns="0" rIns="0" tIns="0" bIns="0" anchor="t">
            <a:spAutoFit/>
          </a:bodyPr>
          <a:lstStyle/>
          <a:p>
            <a:pPr algn="l">
              <a:spcAft>
                <a:spcPts val="0"/>
              </a:spcAft>
            </a:pPr>
            <a:r>
              <a:rPr sz="1600" b="1" i="0">
                <a:solidFill>
                  <a:srgbClr val="1C1712"/>
                </a:solidFill>
                <a:latin typeface="Segoe UI"/>
              </a:rPr>
              <a:t>Agents</a:t>
            </a:r>
          </a:p>
        </p:txBody>
      </p:sp>
      <p:sp>
        <p:nvSpPr>
          <p:cNvPr id="12" name="TextBox 11"/>
          <p:cNvSpPr txBox="1"/>
          <p:nvPr/>
        </p:nvSpPr>
        <p:spPr>
          <a:xfrm>
            <a:off x="1042416" y="3191256"/>
            <a:ext cx="2893466" cy="1417320"/>
          </a:xfrm>
          <a:prstGeom prst="rect">
            <a:avLst/>
          </a:prstGeom>
          <a:noFill/>
        </p:spPr>
        <p:txBody>
          <a:bodyPr wrap="square" lIns="0" rIns="0" tIns="0" bIns="0" anchor="t">
            <a:spAutoFit/>
          </a:bodyPr>
          <a:lstStyle/>
          <a:p>
            <a:pPr algn="l">
              <a:lnSpc>
                <a:spcPct val="132000"/>
              </a:lnSpc>
              <a:spcAft>
                <a:spcPts val="0"/>
              </a:spcAft>
            </a:pPr>
            <a:r>
              <a:rPr sz="1200" b="0" i="0">
                <a:solidFill>
                  <a:srgbClr val="5A544E"/>
                </a:solidFill>
                <a:latin typeface="Segoe UI"/>
              </a:rPr>
              <a:t>Twelve agents, each scoped to exactly one workflow: HR cases, payroll pre-checks, shift coverage, month-end close, audit evidence, contract redlines and six more.</a:t>
            </a:r>
          </a:p>
        </p:txBody>
      </p:sp>
      <p:sp>
        <p:nvSpPr>
          <p:cNvPr id="13" name="Rectangle 12"/>
          <p:cNvSpPr/>
          <p:nvPr/>
        </p:nvSpPr>
        <p:spPr>
          <a:xfrm>
            <a:off x="4429658" y="2624328"/>
            <a:ext cx="3332378" cy="214884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29658" y="2624328"/>
            <a:ext cx="3332378" cy="32004"/>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9114" y="2843784"/>
            <a:ext cx="2893466" cy="274320"/>
          </a:xfrm>
          <a:prstGeom prst="rect">
            <a:avLst/>
          </a:prstGeom>
          <a:noFill/>
        </p:spPr>
        <p:txBody>
          <a:bodyPr wrap="square" lIns="0" rIns="0" tIns="0" bIns="0" anchor="t">
            <a:spAutoFit/>
          </a:bodyPr>
          <a:lstStyle/>
          <a:p>
            <a:pPr algn="l">
              <a:spcAft>
                <a:spcPts val="0"/>
              </a:spcAft>
            </a:pPr>
            <a:r>
              <a:rPr sz="1600" b="1" i="0">
                <a:solidFill>
                  <a:srgbClr val="1C1712"/>
                </a:solidFill>
                <a:latin typeface="Segoe UI"/>
              </a:rPr>
              <a:t>Governance</a:t>
            </a:r>
          </a:p>
        </p:txBody>
      </p:sp>
      <p:sp>
        <p:nvSpPr>
          <p:cNvPr id="16" name="TextBox 15"/>
          <p:cNvSpPr txBox="1"/>
          <p:nvPr/>
        </p:nvSpPr>
        <p:spPr>
          <a:xfrm>
            <a:off x="4649114" y="3191256"/>
            <a:ext cx="2893466" cy="1417320"/>
          </a:xfrm>
          <a:prstGeom prst="rect">
            <a:avLst/>
          </a:prstGeom>
          <a:noFill/>
        </p:spPr>
        <p:txBody>
          <a:bodyPr wrap="square" lIns="0" rIns="0" tIns="0" bIns="0" anchor="t">
            <a:spAutoFit/>
          </a:bodyPr>
          <a:lstStyle/>
          <a:p>
            <a:pPr algn="l">
              <a:lnSpc>
                <a:spcPct val="132000"/>
              </a:lnSpc>
              <a:spcAft>
                <a:spcPts val="0"/>
              </a:spcAft>
            </a:pPr>
            <a:r>
              <a:rPr sz="1200" b="0" i="0">
                <a:solidFill>
                  <a:srgbClr val="5A544E"/>
                </a:solidFill>
                <a:latin typeface="Segoe UI"/>
              </a:rPr>
              <a:t>Registry, Gateway, Data Fabric, Studio, Assist and Trust — the layer that records who owns each agent, what it may read and what needs a human.</a:t>
            </a:r>
          </a:p>
        </p:txBody>
      </p:sp>
      <p:sp>
        <p:nvSpPr>
          <p:cNvPr id="17" name="Rectangle 16"/>
          <p:cNvSpPr/>
          <p:nvPr/>
        </p:nvSpPr>
        <p:spPr>
          <a:xfrm>
            <a:off x="8036356" y="2624328"/>
            <a:ext cx="3332378" cy="214884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6356" y="2624328"/>
            <a:ext cx="3332378" cy="32004"/>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5812" y="2843784"/>
            <a:ext cx="2893466" cy="274320"/>
          </a:xfrm>
          <a:prstGeom prst="rect">
            <a:avLst/>
          </a:prstGeom>
          <a:noFill/>
        </p:spPr>
        <p:txBody>
          <a:bodyPr wrap="square" lIns="0" rIns="0" tIns="0" bIns="0" anchor="t">
            <a:spAutoFit/>
          </a:bodyPr>
          <a:lstStyle/>
          <a:p>
            <a:pPr algn="l">
              <a:spcAft>
                <a:spcPts val="0"/>
              </a:spcAft>
            </a:pPr>
            <a:r>
              <a:rPr sz="1600" b="1" i="0">
                <a:solidFill>
                  <a:srgbClr val="1C1712"/>
                </a:solidFill>
                <a:latin typeface="Segoe UI"/>
              </a:rPr>
              <a:t>Metering</a:t>
            </a:r>
          </a:p>
        </p:txBody>
      </p:sp>
      <p:sp>
        <p:nvSpPr>
          <p:cNvPr id="20" name="TextBox 19"/>
          <p:cNvSpPr txBox="1"/>
          <p:nvPr/>
        </p:nvSpPr>
        <p:spPr>
          <a:xfrm>
            <a:off x="8255812" y="3191256"/>
            <a:ext cx="2893466" cy="1417320"/>
          </a:xfrm>
          <a:prstGeom prst="rect">
            <a:avLst/>
          </a:prstGeom>
          <a:noFill/>
        </p:spPr>
        <p:txBody>
          <a:bodyPr wrap="square" lIns="0" rIns="0" tIns="0" bIns="0" anchor="t">
            <a:spAutoFit/>
          </a:bodyPr>
          <a:lstStyle/>
          <a:p>
            <a:pPr algn="l">
              <a:lnSpc>
                <a:spcPct val="132000"/>
              </a:lnSpc>
              <a:spcAft>
                <a:spcPts val="0"/>
              </a:spcAft>
            </a:pPr>
            <a:r>
              <a:rPr sz="1200" b="0" i="0">
                <a:solidFill>
                  <a:srgbClr val="5A544E"/>
                </a:solidFill>
                <a:latin typeface="Segoe UI"/>
              </a:rPr>
              <a:t>Consumption credits priced per completed action, so the buyer pays for work finished rather than seats occupied.</a:t>
            </a:r>
          </a:p>
        </p:txBody>
      </p:sp>
      <p:sp>
        <p:nvSpPr>
          <p:cNvPr id="21" name="TextBox 20"/>
          <p:cNvSpPr txBox="1"/>
          <p:nvPr/>
        </p:nvSpPr>
        <p:spPr>
          <a:xfrm>
            <a:off x="822960" y="5093208"/>
            <a:ext cx="10545775" cy="731520"/>
          </a:xfrm>
          <a:prstGeom prst="rect">
            <a:avLst/>
          </a:prstGeom>
          <a:noFill/>
        </p:spPr>
        <p:txBody>
          <a:bodyPr wrap="square" lIns="0" rIns="0" tIns="0" bIns="0" anchor="t">
            <a:spAutoFit/>
          </a:bodyPr>
          <a:lstStyle/>
          <a:p>
            <a:pPr algn="l">
              <a:lnSpc>
                <a:spcPct val="135000"/>
              </a:lnSpc>
              <a:spcAft>
                <a:spcPts val="0"/>
              </a:spcAft>
            </a:pPr>
            <a:r>
              <a:rPr sz="1400" b="1" i="0">
                <a:solidFill>
                  <a:srgbClr val="1C1712"/>
                </a:solidFill>
                <a:latin typeface="Segoe UI"/>
              </a:rPr>
              <a:t>Positioning: </a:t>
            </a:r>
            <a:r>
              <a:rPr sz="1400" b="0" i="0">
                <a:solidFill>
                  <a:srgbClr val="5A544E"/>
                </a:solidFill>
                <a:latin typeface="Segoe UI"/>
              </a:rPr>
              <a:t>infrastructure beneath the agents an enterprise runs — including agents we did not build. The Registry is the system of record; that is the durable position.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MECHANIC</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Every agent ships under the same six terms.</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This contract is printed on every agent page and enforced below the agent, not inside its prompt.</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7</a:t>
            </a:r>
          </a:p>
        </p:txBody>
      </p:sp>
      <p:sp>
        <p:nvSpPr>
          <p:cNvPr id="9" name="Rectangle 8"/>
          <p:cNvSpPr/>
          <p:nvPr/>
        </p:nvSpPr>
        <p:spPr>
          <a:xfrm>
            <a:off x="822960" y="2167128"/>
            <a:ext cx="3362858" cy="80467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322576"/>
            <a:ext cx="457200" cy="27432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01</a:t>
            </a:r>
          </a:p>
        </p:txBody>
      </p:sp>
      <p:sp>
        <p:nvSpPr>
          <p:cNvPr id="11" name="TextBox 10"/>
          <p:cNvSpPr txBox="1"/>
          <p:nvPr/>
        </p:nvSpPr>
        <p:spPr>
          <a:xfrm>
            <a:off x="1024128" y="2569464"/>
            <a:ext cx="2960522" cy="365760"/>
          </a:xfrm>
          <a:prstGeom prst="rect">
            <a:avLst/>
          </a:prstGeom>
          <a:noFill/>
        </p:spPr>
        <p:txBody>
          <a:bodyPr wrap="square" lIns="0" rIns="0" tIns="0" bIns="0" anchor="t">
            <a:spAutoFit/>
          </a:bodyPr>
          <a:lstStyle/>
          <a:p>
            <a:pPr algn="l">
              <a:lnSpc>
                <a:spcPct val="125000"/>
              </a:lnSpc>
              <a:spcAft>
                <a:spcPts val="0"/>
              </a:spcAft>
            </a:pPr>
            <a:r>
              <a:rPr sz="1250" b="0" i="0">
                <a:solidFill>
                  <a:srgbClr val="1C1712"/>
                </a:solidFill>
                <a:latin typeface="Segoe UI"/>
              </a:rPr>
              <a:t>Scoped to one workflow</a:t>
            </a:r>
          </a:p>
        </p:txBody>
      </p:sp>
      <p:sp>
        <p:nvSpPr>
          <p:cNvPr id="12" name="Rectangle 11"/>
          <p:cNvSpPr/>
          <p:nvPr/>
        </p:nvSpPr>
        <p:spPr>
          <a:xfrm>
            <a:off x="4414418" y="2167128"/>
            <a:ext cx="3362858" cy="80467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5586" y="2322576"/>
            <a:ext cx="457200" cy="27432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02</a:t>
            </a:r>
          </a:p>
        </p:txBody>
      </p:sp>
      <p:sp>
        <p:nvSpPr>
          <p:cNvPr id="14" name="TextBox 13"/>
          <p:cNvSpPr txBox="1"/>
          <p:nvPr/>
        </p:nvSpPr>
        <p:spPr>
          <a:xfrm>
            <a:off x="4615586" y="2569464"/>
            <a:ext cx="2960522" cy="365760"/>
          </a:xfrm>
          <a:prstGeom prst="rect">
            <a:avLst/>
          </a:prstGeom>
          <a:noFill/>
        </p:spPr>
        <p:txBody>
          <a:bodyPr wrap="square" lIns="0" rIns="0" tIns="0" bIns="0" anchor="t">
            <a:spAutoFit/>
          </a:bodyPr>
          <a:lstStyle/>
          <a:p>
            <a:pPr algn="l">
              <a:lnSpc>
                <a:spcPct val="125000"/>
              </a:lnSpc>
              <a:spcAft>
                <a:spcPts val="0"/>
              </a:spcAft>
            </a:pPr>
            <a:r>
              <a:rPr sz="1250" b="0" i="0">
                <a:solidFill>
                  <a:srgbClr val="1C1712"/>
                </a:solidFill>
                <a:latin typeface="Segoe UI"/>
              </a:rPr>
              <a:t>Reads only permitted data</a:t>
            </a:r>
          </a:p>
        </p:txBody>
      </p:sp>
      <p:sp>
        <p:nvSpPr>
          <p:cNvPr id="15" name="Rectangle 14"/>
          <p:cNvSpPr/>
          <p:nvPr/>
        </p:nvSpPr>
        <p:spPr>
          <a:xfrm>
            <a:off x="8005876" y="2167128"/>
            <a:ext cx="3362858" cy="80467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07044" y="2322576"/>
            <a:ext cx="457200" cy="27432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03</a:t>
            </a:r>
          </a:p>
        </p:txBody>
      </p:sp>
      <p:sp>
        <p:nvSpPr>
          <p:cNvPr id="17" name="TextBox 16"/>
          <p:cNvSpPr txBox="1"/>
          <p:nvPr/>
        </p:nvSpPr>
        <p:spPr>
          <a:xfrm>
            <a:off x="8207044" y="2569464"/>
            <a:ext cx="2960522" cy="365760"/>
          </a:xfrm>
          <a:prstGeom prst="rect">
            <a:avLst/>
          </a:prstGeom>
          <a:noFill/>
        </p:spPr>
        <p:txBody>
          <a:bodyPr wrap="square" lIns="0" rIns="0" tIns="0" bIns="0" anchor="t">
            <a:spAutoFit/>
          </a:bodyPr>
          <a:lstStyle/>
          <a:p>
            <a:pPr algn="l">
              <a:lnSpc>
                <a:spcPct val="125000"/>
              </a:lnSpc>
              <a:spcAft>
                <a:spcPts val="0"/>
              </a:spcAft>
            </a:pPr>
            <a:r>
              <a:rPr sz="1250" b="0" i="0">
                <a:solidFill>
                  <a:srgbClr val="1C1712"/>
                </a:solidFill>
                <a:latin typeface="Segoe UI"/>
              </a:rPr>
              <a:t>Every action logged</a:t>
            </a:r>
          </a:p>
        </p:txBody>
      </p:sp>
      <p:sp>
        <p:nvSpPr>
          <p:cNvPr id="18" name="Rectangle 17"/>
          <p:cNvSpPr/>
          <p:nvPr/>
        </p:nvSpPr>
        <p:spPr>
          <a:xfrm>
            <a:off x="822960" y="3127248"/>
            <a:ext cx="3362858" cy="80467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3282696"/>
            <a:ext cx="457200" cy="27432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04</a:t>
            </a:r>
          </a:p>
        </p:txBody>
      </p:sp>
      <p:sp>
        <p:nvSpPr>
          <p:cNvPr id="20" name="TextBox 19"/>
          <p:cNvSpPr txBox="1"/>
          <p:nvPr/>
        </p:nvSpPr>
        <p:spPr>
          <a:xfrm>
            <a:off x="1024128" y="3529584"/>
            <a:ext cx="2960522" cy="365760"/>
          </a:xfrm>
          <a:prstGeom prst="rect">
            <a:avLst/>
          </a:prstGeom>
          <a:noFill/>
        </p:spPr>
        <p:txBody>
          <a:bodyPr wrap="square" lIns="0" rIns="0" tIns="0" bIns="0" anchor="t">
            <a:spAutoFit/>
          </a:bodyPr>
          <a:lstStyle/>
          <a:p>
            <a:pPr algn="l">
              <a:lnSpc>
                <a:spcPct val="125000"/>
              </a:lnSpc>
              <a:spcAft>
                <a:spcPts val="0"/>
              </a:spcAft>
            </a:pPr>
            <a:r>
              <a:rPr sz="1250" b="0" i="0">
                <a:solidFill>
                  <a:srgbClr val="1C1712"/>
                </a:solidFill>
                <a:latin typeface="Segoe UI"/>
              </a:rPr>
              <a:t>Consequential actions require human approval</a:t>
            </a:r>
          </a:p>
        </p:txBody>
      </p:sp>
      <p:sp>
        <p:nvSpPr>
          <p:cNvPr id="21" name="Rectangle 20"/>
          <p:cNvSpPr/>
          <p:nvPr/>
        </p:nvSpPr>
        <p:spPr>
          <a:xfrm>
            <a:off x="4414418" y="3127248"/>
            <a:ext cx="3362858" cy="80467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5586" y="3282696"/>
            <a:ext cx="457200" cy="27432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05</a:t>
            </a:r>
          </a:p>
        </p:txBody>
      </p:sp>
      <p:sp>
        <p:nvSpPr>
          <p:cNvPr id="23" name="TextBox 22"/>
          <p:cNvSpPr txBox="1"/>
          <p:nvPr/>
        </p:nvSpPr>
        <p:spPr>
          <a:xfrm>
            <a:off x="4615586" y="3529584"/>
            <a:ext cx="2960522" cy="365760"/>
          </a:xfrm>
          <a:prstGeom prst="rect">
            <a:avLst/>
          </a:prstGeom>
          <a:noFill/>
        </p:spPr>
        <p:txBody>
          <a:bodyPr wrap="square" lIns="0" rIns="0" tIns="0" bIns="0" anchor="t">
            <a:spAutoFit/>
          </a:bodyPr>
          <a:lstStyle/>
          <a:p>
            <a:pPr algn="l">
              <a:lnSpc>
                <a:spcPct val="125000"/>
              </a:lnSpc>
              <a:spcAft>
                <a:spcPts val="0"/>
              </a:spcAft>
            </a:pPr>
            <a:r>
              <a:rPr sz="1250" b="0" i="0">
                <a:solidFill>
                  <a:srgbClr val="1C1712"/>
                </a:solidFill>
                <a:latin typeface="Segoe UI"/>
              </a:rPr>
              <a:t>Carries a measurable outcome</a:t>
            </a:r>
          </a:p>
        </p:txBody>
      </p:sp>
      <p:sp>
        <p:nvSpPr>
          <p:cNvPr id="24" name="Rectangle 23"/>
          <p:cNvSpPr/>
          <p:nvPr/>
        </p:nvSpPr>
        <p:spPr>
          <a:xfrm>
            <a:off x="8005876" y="3127248"/>
            <a:ext cx="3362858" cy="80467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7044" y="3282696"/>
            <a:ext cx="457200" cy="27432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06</a:t>
            </a:r>
          </a:p>
        </p:txBody>
      </p:sp>
      <p:sp>
        <p:nvSpPr>
          <p:cNvPr id="26" name="TextBox 25"/>
          <p:cNvSpPr txBox="1"/>
          <p:nvPr/>
        </p:nvSpPr>
        <p:spPr>
          <a:xfrm>
            <a:off x="8207044" y="3529584"/>
            <a:ext cx="2960522" cy="365760"/>
          </a:xfrm>
          <a:prstGeom prst="rect">
            <a:avLst/>
          </a:prstGeom>
          <a:noFill/>
        </p:spPr>
        <p:txBody>
          <a:bodyPr wrap="square" lIns="0" rIns="0" tIns="0" bIns="0" anchor="t">
            <a:spAutoFit/>
          </a:bodyPr>
          <a:lstStyle/>
          <a:p>
            <a:pPr algn="l">
              <a:lnSpc>
                <a:spcPct val="125000"/>
              </a:lnSpc>
              <a:spcAft>
                <a:spcPts val="0"/>
              </a:spcAft>
            </a:pPr>
            <a:r>
              <a:rPr sz="1250" b="0" i="0">
                <a:solidFill>
                  <a:srgbClr val="1C1712"/>
                </a:solidFill>
                <a:latin typeface="Segoe UI"/>
              </a:rPr>
              <a:t>Runs on your chosen model</a:t>
            </a:r>
          </a:p>
        </p:txBody>
      </p:sp>
      <p:sp>
        <p:nvSpPr>
          <p:cNvPr id="27" name="Rectangle 26"/>
          <p:cNvSpPr/>
          <p:nvPr/>
        </p:nvSpPr>
        <p:spPr>
          <a:xfrm>
            <a:off x="822960" y="4288536"/>
            <a:ext cx="10545775" cy="932688"/>
          </a:xfrm>
          <a:prstGeom prst="rect">
            <a:avLst/>
          </a:prstGeom>
          <a:solidFill>
            <a:srgbClr val="E7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471416"/>
            <a:ext cx="9997135" cy="640080"/>
          </a:xfrm>
          <a:prstGeom prst="rect">
            <a:avLst/>
          </a:prstGeom>
          <a:noFill/>
        </p:spPr>
        <p:txBody>
          <a:bodyPr wrap="square" lIns="0" rIns="0" tIns="0" bIns="0" anchor="t">
            <a:spAutoFit/>
          </a:bodyPr>
          <a:lstStyle/>
          <a:p>
            <a:pPr algn="l">
              <a:lnSpc>
                <a:spcPct val="132000"/>
              </a:lnSpc>
              <a:spcAft>
                <a:spcPts val="0"/>
              </a:spcAft>
            </a:pPr>
            <a:r>
              <a:rPr sz="1350" b="1" i="0">
                <a:solidFill>
                  <a:srgbClr val="1C1712"/>
                </a:solidFill>
                <a:latin typeface="Segoe UI"/>
              </a:rPr>
              <a:t>Why this is the wedge: </a:t>
            </a:r>
            <a:r>
              <a:rPr sz="1350" b="0" i="0">
                <a:solidFill>
                  <a:srgbClr val="5A544E"/>
                </a:solidFill>
                <a:latin typeface="Segoe UI"/>
              </a:rPr>
              <a:t>the six terms are what a procurement reviewer needs and what no chat-based vendor can produce. They also define the data model — owner, scope, permission, approval, outcome, model — which is exactly what the Registry stores.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PRODUCT DEPTH</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Twelve agents, each with a number attached.</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Narrow scope is the deployment strategy: one workflow, one owner, one measurable result.</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8</a:t>
            </a:r>
          </a:p>
        </p:txBody>
      </p:sp>
      <p:sp>
        <p:nvSpPr>
          <p:cNvPr id="9" name="Rectangle 8"/>
          <p:cNvSpPr/>
          <p:nvPr/>
        </p:nvSpPr>
        <p:spPr>
          <a:xfrm>
            <a:off x="822960" y="2167128"/>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67128"/>
            <a:ext cx="27432" cy="62179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267712"/>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Help Desk</a:t>
            </a:r>
          </a:p>
        </p:txBody>
      </p:sp>
      <p:sp>
        <p:nvSpPr>
          <p:cNvPr id="12" name="TextBox 11"/>
          <p:cNvSpPr txBox="1"/>
          <p:nvPr/>
        </p:nvSpPr>
        <p:spPr>
          <a:xfrm>
            <a:off x="1005840" y="2505456"/>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HR cases resolved from policy</a:t>
            </a:r>
          </a:p>
        </p:txBody>
      </p:sp>
      <p:sp>
        <p:nvSpPr>
          <p:cNvPr id="13" name="Rectangle 12"/>
          <p:cNvSpPr/>
          <p:nvPr/>
        </p:nvSpPr>
        <p:spPr>
          <a:xfrm>
            <a:off x="3493693" y="2167128"/>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3693" y="2167128"/>
            <a:ext cx="27432" cy="62179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6573" y="2267712"/>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Recruiting</a:t>
            </a:r>
          </a:p>
        </p:txBody>
      </p:sp>
      <p:sp>
        <p:nvSpPr>
          <p:cNvPr id="16" name="TextBox 15"/>
          <p:cNvSpPr txBox="1"/>
          <p:nvPr/>
        </p:nvSpPr>
        <p:spPr>
          <a:xfrm>
            <a:off x="3676573" y="2505456"/>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Screens and shortlists candidates</a:t>
            </a:r>
          </a:p>
        </p:txBody>
      </p:sp>
      <p:sp>
        <p:nvSpPr>
          <p:cNvPr id="17" name="Rectangle 16"/>
          <p:cNvSpPr/>
          <p:nvPr/>
        </p:nvSpPr>
        <p:spPr>
          <a:xfrm>
            <a:off x="6164427" y="2167128"/>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4427" y="2167128"/>
            <a:ext cx="27432" cy="62179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7307" y="2267712"/>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Payroll</a:t>
            </a:r>
          </a:p>
        </p:txBody>
      </p:sp>
      <p:sp>
        <p:nvSpPr>
          <p:cNvPr id="20" name="TextBox 19"/>
          <p:cNvSpPr txBox="1"/>
          <p:nvPr/>
        </p:nvSpPr>
        <p:spPr>
          <a:xfrm>
            <a:off x="6347307" y="2505456"/>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Catches errors before the run</a:t>
            </a:r>
          </a:p>
        </p:txBody>
      </p:sp>
      <p:sp>
        <p:nvSpPr>
          <p:cNvPr id="21" name="Rectangle 20"/>
          <p:cNvSpPr/>
          <p:nvPr/>
        </p:nvSpPr>
        <p:spPr>
          <a:xfrm>
            <a:off x="8835161" y="2167128"/>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35161" y="2167128"/>
            <a:ext cx="27432" cy="62179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8041" y="2267712"/>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Scheduling</a:t>
            </a:r>
          </a:p>
        </p:txBody>
      </p:sp>
      <p:sp>
        <p:nvSpPr>
          <p:cNvPr id="24" name="TextBox 23"/>
          <p:cNvSpPr txBox="1"/>
          <p:nvPr/>
        </p:nvSpPr>
        <p:spPr>
          <a:xfrm>
            <a:off x="9018041" y="2505456"/>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Fills open shifts</a:t>
            </a:r>
          </a:p>
        </p:txBody>
      </p:sp>
      <p:sp>
        <p:nvSpPr>
          <p:cNvPr id="25" name="Rectangle 24"/>
          <p:cNvSpPr/>
          <p:nvPr/>
        </p:nvSpPr>
        <p:spPr>
          <a:xfrm>
            <a:off x="822960" y="2880360"/>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 y="2880360"/>
            <a:ext cx="27432" cy="62179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2980944"/>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Performance</a:t>
            </a:r>
          </a:p>
        </p:txBody>
      </p:sp>
      <p:sp>
        <p:nvSpPr>
          <p:cNvPr id="28" name="TextBox 27"/>
          <p:cNvSpPr txBox="1"/>
          <p:nvPr/>
        </p:nvSpPr>
        <p:spPr>
          <a:xfrm>
            <a:off x="1005840" y="3218688"/>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Drafts evidence-based reviews</a:t>
            </a:r>
          </a:p>
        </p:txBody>
      </p:sp>
      <p:sp>
        <p:nvSpPr>
          <p:cNvPr id="29" name="Rectangle 28"/>
          <p:cNvSpPr/>
          <p:nvPr/>
        </p:nvSpPr>
        <p:spPr>
          <a:xfrm>
            <a:off x="3493693" y="2880360"/>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493693" y="2880360"/>
            <a:ext cx="27432" cy="62179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76573" y="2980944"/>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Job Architecture</a:t>
            </a:r>
          </a:p>
        </p:txBody>
      </p:sp>
      <p:sp>
        <p:nvSpPr>
          <p:cNvPr id="32" name="TextBox 31"/>
          <p:cNvSpPr txBox="1"/>
          <p:nvPr/>
        </p:nvSpPr>
        <p:spPr>
          <a:xfrm>
            <a:off x="3676573" y="3218688"/>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Benchmarks roles and pay bands</a:t>
            </a:r>
          </a:p>
        </p:txBody>
      </p:sp>
      <p:sp>
        <p:nvSpPr>
          <p:cNvPr id="33" name="Rectangle 32"/>
          <p:cNvSpPr/>
          <p:nvPr/>
        </p:nvSpPr>
        <p:spPr>
          <a:xfrm>
            <a:off x="6164427" y="2880360"/>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64427" y="2880360"/>
            <a:ext cx="27432" cy="621792"/>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7307" y="2980944"/>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Audit</a:t>
            </a:r>
          </a:p>
        </p:txBody>
      </p:sp>
      <p:sp>
        <p:nvSpPr>
          <p:cNvPr id="36" name="TextBox 35"/>
          <p:cNvSpPr txBox="1"/>
          <p:nvPr/>
        </p:nvSpPr>
        <p:spPr>
          <a:xfrm>
            <a:off x="6347307" y="3218688"/>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Packages audit evidence</a:t>
            </a:r>
          </a:p>
        </p:txBody>
      </p:sp>
      <p:sp>
        <p:nvSpPr>
          <p:cNvPr id="37" name="Rectangle 36"/>
          <p:cNvSpPr/>
          <p:nvPr/>
        </p:nvSpPr>
        <p:spPr>
          <a:xfrm>
            <a:off x="8835161" y="2880360"/>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35161" y="2880360"/>
            <a:ext cx="27432" cy="621792"/>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18041" y="2980944"/>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Planning</a:t>
            </a:r>
          </a:p>
        </p:txBody>
      </p:sp>
      <p:sp>
        <p:nvSpPr>
          <p:cNvPr id="40" name="TextBox 39"/>
          <p:cNvSpPr txBox="1"/>
          <p:nvPr/>
        </p:nvSpPr>
        <p:spPr>
          <a:xfrm>
            <a:off x="9018041" y="3218688"/>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Explains variances</a:t>
            </a:r>
          </a:p>
        </p:txBody>
      </p:sp>
      <p:sp>
        <p:nvSpPr>
          <p:cNvPr id="41" name="Rectangle 40"/>
          <p:cNvSpPr/>
          <p:nvPr/>
        </p:nvSpPr>
        <p:spPr>
          <a:xfrm>
            <a:off x="822960" y="3593592"/>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2960" y="3593592"/>
            <a:ext cx="27432" cy="621792"/>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5840" y="3694176"/>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Controls</a:t>
            </a:r>
          </a:p>
        </p:txBody>
      </p:sp>
      <p:sp>
        <p:nvSpPr>
          <p:cNvPr id="44" name="TextBox 43"/>
          <p:cNvSpPr txBox="1"/>
          <p:nvPr/>
        </p:nvSpPr>
        <p:spPr>
          <a:xfrm>
            <a:off x="1005840" y="3931920"/>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Tests every transaction</a:t>
            </a:r>
          </a:p>
        </p:txBody>
      </p:sp>
      <p:sp>
        <p:nvSpPr>
          <p:cNvPr id="45" name="Rectangle 44"/>
          <p:cNvSpPr/>
          <p:nvPr/>
        </p:nvSpPr>
        <p:spPr>
          <a:xfrm>
            <a:off x="3493693" y="3593592"/>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3693" y="3593592"/>
            <a:ext cx="27432" cy="621792"/>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76573" y="3694176"/>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Close</a:t>
            </a:r>
          </a:p>
        </p:txBody>
      </p:sp>
      <p:sp>
        <p:nvSpPr>
          <p:cNvPr id="48" name="TextBox 47"/>
          <p:cNvSpPr txBox="1"/>
          <p:nvPr/>
        </p:nvSpPr>
        <p:spPr>
          <a:xfrm>
            <a:off x="3676573" y="3931920"/>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Orchestrates month-end</a:t>
            </a:r>
          </a:p>
        </p:txBody>
      </p:sp>
      <p:sp>
        <p:nvSpPr>
          <p:cNvPr id="49" name="Rectangle 48"/>
          <p:cNvSpPr/>
          <p:nvPr/>
        </p:nvSpPr>
        <p:spPr>
          <a:xfrm>
            <a:off x="6164427" y="3593592"/>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64427" y="3593592"/>
            <a:ext cx="27432" cy="621792"/>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47307" y="3694176"/>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Revenue Contracts</a:t>
            </a:r>
          </a:p>
        </p:txBody>
      </p:sp>
      <p:sp>
        <p:nvSpPr>
          <p:cNvPr id="52" name="TextBox 51"/>
          <p:cNvSpPr txBox="1"/>
          <p:nvPr/>
        </p:nvSpPr>
        <p:spPr>
          <a:xfrm>
            <a:off x="6347307" y="3931920"/>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Flags revenue risk</a:t>
            </a:r>
          </a:p>
        </p:txBody>
      </p:sp>
      <p:sp>
        <p:nvSpPr>
          <p:cNvPr id="53" name="Rectangle 52"/>
          <p:cNvSpPr/>
          <p:nvPr/>
        </p:nvSpPr>
        <p:spPr>
          <a:xfrm>
            <a:off x="8835161" y="3593592"/>
            <a:ext cx="2533573" cy="621792"/>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35161" y="3593592"/>
            <a:ext cx="27432" cy="621792"/>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18041" y="3694176"/>
            <a:ext cx="2167813" cy="219456"/>
          </a:xfrm>
          <a:prstGeom prst="rect">
            <a:avLst/>
          </a:prstGeom>
          <a:noFill/>
        </p:spPr>
        <p:txBody>
          <a:bodyPr wrap="square" lIns="0" rIns="0" tIns="0" bIns="0" anchor="t">
            <a:spAutoFit/>
          </a:bodyPr>
          <a:lstStyle/>
          <a:p>
            <a:pPr algn="l">
              <a:spcAft>
                <a:spcPts val="0"/>
              </a:spcAft>
            </a:pPr>
            <a:r>
              <a:rPr sz="1200" b="1" i="0">
                <a:solidFill>
                  <a:srgbClr val="1C1712"/>
                </a:solidFill>
                <a:latin typeface="Segoe UI"/>
              </a:rPr>
              <a:t>Contract Review</a:t>
            </a:r>
          </a:p>
        </p:txBody>
      </p:sp>
      <p:sp>
        <p:nvSpPr>
          <p:cNvPr id="56" name="TextBox 55"/>
          <p:cNvSpPr txBox="1"/>
          <p:nvPr/>
        </p:nvSpPr>
        <p:spPr>
          <a:xfrm>
            <a:off x="9018041" y="3931920"/>
            <a:ext cx="2167813" cy="219456"/>
          </a:xfrm>
          <a:prstGeom prst="rect">
            <a:avLst/>
          </a:prstGeom>
          <a:noFill/>
        </p:spPr>
        <p:txBody>
          <a:bodyPr wrap="square" lIns="0" rIns="0" tIns="0" bIns="0" anchor="t">
            <a:spAutoFit/>
          </a:bodyPr>
          <a:lstStyle/>
          <a:p>
            <a:pPr algn="l">
              <a:spcAft>
                <a:spcPts val="0"/>
              </a:spcAft>
            </a:pPr>
            <a:r>
              <a:rPr sz="1000" b="0" i="0">
                <a:solidFill>
                  <a:srgbClr val="5A544E"/>
                </a:solidFill>
                <a:latin typeface="Segoe UI"/>
              </a:rPr>
              <a:t>Redlines third-party paper</a:t>
            </a:r>
          </a:p>
        </p:txBody>
      </p:sp>
      <p:sp>
        <p:nvSpPr>
          <p:cNvPr id="57" name="TextBox 56"/>
          <p:cNvSpPr txBox="1"/>
          <p:nvPr/>
        </p:nvSpPr>
        <p:spPr>
          <a:xfrm>
            <a:off x="822960" y="4471416"/>
            <a:ext cx="10545775" cy="457200"/>
          </a:xfrm>
          <a:prstGeom prst="rect">
            <a:avLst/>
          </a:prstGeom>
          <a:noFill/>
        </p:spPr>
        <p:txBody>
          <a:bodyPr wrap="square" lIns="0" rIns="0" tIns="0" bIns="0" anchor="t">
            <a:spAutoFit/>
          </a:bodyPr>
          <a:lstStyle/>
          <a:p>
            <a:pPr algn="l">
              <a:spcAft>
                <a:spcPts val="0"/>
              </a:spcAft>
            </a:pPr>
            <a:r>
              <a:rPr sz="1100" b="0" i="0">
                <a:solidFill>
                  <a:srgbClr val="706B64"/>
                </a:solidFill>
                <a:latin typeface="Segoe UI"/>
              </a:rPr>
              <a:t>Blue: HR      Ink: Finance      Amber: Legal and operations          </a:t>
            </a:r>
            <a:r>
              <a:rPr sz="1100" b="0" i="0">
                <a:solidFill>
                  <a:srgbClr val="A29E98"/>
                </a:solidFill>
                <a:latin typeface="Segoe UI"/>
              </a:rPr>
              <a:t>All twelve are specified in the repository with data sources, guardrails, credit costs and FAQs.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ONE AGENT IN DEPTH</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The Controls Agent, and why the market validates it.</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It tests every transaction for duplicates, anomalies and policy breaches before payment leaves.</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9</a:t>
            </a:r>
          </a:p>
        </p:txBody>
      </p:sp>
      <p:sp>
        <p:nvSpPr>
          <p:cNvPr id="9" name="Rectangle 8"/>
          <p:cNvSpPr/>
          <p:nvPr/>
        </p:nvSpPr>
        <p:spPr>
          <a:xfrm>
            <a:off x="822960" y="2624328"/>
            <a:ext cx="10545775"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2432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953512"/>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2715768"/>
            <a:ext cx="11887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
            </a:r>
          </a:p>
        </p:txBody>
      </p:sp>
      <p:sp>
        <p:nvSpPr>
          <p:cNvPr id="13" name="TextBox 12"/>
          <p:cNvSpPr txBox="1"/>
          <p:nvPr/>
        </p:nvSpPr>
        <p:spPr>
          <a:xfrm>
            <a:off x="2322576" y="2715768"/>
            <a:ext cx="43891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TODAY: RECOVERY AUDIT</a:t>
            </a:r>
          </a:p>
        </p:txBody>
      </p:sp>
      <p:sp>
        <p:nvSpPr>
          <p:cNvPr id="14" name="TextBox 13"/>
          <p:cNvSpPr txBox="1"/>
          <p:nvPr/>
        </p:nvSpPr>
        <p:spPr>
          <a:xfrm>
            <a:off x="6894576" y="2715768"/>
            <a:ext cx="4416552"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MERIDIAN: CONTINUOUS CONTROL</a:t>
            </a:r>
          </a:p>
        </p:txBody>
      </p:sp>
      <p:sp>
        <p:nvSpPr>
          <p:cNvPr id="15" name="TextBox 14"/>
          <p:cNvSpPr txBox="1"/>
          <p:nvPr/>
        </p:nvSpPr>
        <p:spPr>
          <a:xfrm>
            <a:off x="950976" y="3054096"/>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When</a:t>
            </a:r>
          </a:p>
        </p:txBody>
      </p:sp>
      <p:sp>
        <p:nvSpPr>
          <p:cNvPr id="16" name="TextBox 15"/>
          <p:cNvSpPr txBox="1"/>
          <p:nvPr/>
        </p:nvSpPr>
        <p:spPr>
          <a:xfrm>
            <a:off x="2322576" y="3054096"/>
            <a:ext cx="438912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After the money has left</a:t>
            </a:r>
          </a:p>
        </p:txBody>
      </p:sp>
      <p:sp>
        <p:nvSpPr>
          <p:cNvPr id="17" name="TextBox 16"/>
          <p:cNvSpPr txBox="1"/>
          <p:nvPr/>
        </p:nvSpPr>
        <p:spPr>
          <a:xfrm>
            <a:off x="6894576" y="3054096"/>
            <a:ext cx="44165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Before the payment run</a:t>
            </a:r>
          </a:p>
        </p:txBody>
      </p:sp>
      <p:sp>
        <p:nvSpPr>
          <p:cNvPr id="18" name="Rectangle 17"/>
          <p:cNvSpPr/>
          <p:nvPr/>
        </p:nvSpPr>
        <p:spPr>
          <a:xfrm>
            <a:off x="822960" y="337413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3474720"/>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Cycle</a:t>
            </a:r>
          </a:p>
        </p:txBody>
      </p:sp>
      <p:sp>
        <p:nvSpPr>
          <p:cNvPr id="20" name="TextBox 19"/>
          <p:cNvSpPr txBox="1"/>
          <p:nvPr/>
        </p:nvSpPr>
        <p:spPr>
          <a:xfrm>
            <a:off x="2322576" y="3474720"/>
            <a:ext cx="438912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45 to 90 days to recover</a:t>
            </a:r>
          </a:p>
        </p:txBody>
      </p:sp>
      <p:sp>
        <p:nvSpPr>
          <p:cNvPr id="21" name="TextBox 20"/>
          <p:cNvSpPr txBox="1"/>
          <p:nvPr/>
        </p:nvSpPr>
        <p:spPr>
          <a:xfrm>
            <a:off x="6894576" y="3474720"/>
            <a:ext cx="44165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Continuous</a:t>
            </a:r>
          </a:p>
        </p:txBody>
      </p:sp>
      <p:sp>
        <p:nvSpPr>
          <p:cNvPr id="22" name="Rectangle 21"/>
          <p:cNvSpPr/>
          <p:nvPr/>
        </p:nvSpPr>
        <p:spPr>
          <a:xfrm>
            <a:off x="822960" y="379476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 y="3895344"/>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Success</a:t>
            </a:r>
          </a:p>
        </p:txBody>
      </p:sp>
      <p:sp>
        <p:nvSpPr>
          <p:cNvPr id="24" name="TextBox 23"/>
          <p:cNvSpPr txBox="1"/>
          <p:nvPr/>
        </p:nvSpPr>
        <p:spPr>
          <a:xfrm>
            <a:off x="2322576" y="3895344"/>
            <a:ext cx="438912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60 to 70% of claims recovered</a:t>
            </a:r>
          </a:p>
        </p:txBody>
      </p:sp>
      <p:sp>
        <p:nvSpPr>
          <p:cNvPr id="25" name="TextBox 24"/>
          <p:cNvSpPr txBox="1"/>
          <p:nvPr/>
        </p:nvSpPr>
        <p:spPr>
          <a:xfrm>
            <a:off x="6894576" y="3895344"/>
            <a:ext cx="44165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Prevented, not recovered</a:t>
            </a:r>
          </a:p>
        </p:txBody>
      </p:sp>
      <p:sp>
        <p:nvSpPr>
          <p:cNvPr id="26" name="Rectangle 25"/>
          <p:cNvSpPr/>
          <p:nvPr/>
        </p:nvSpPr>
        <p:spPr>
          <a:xfrm>
            <a:off x="822960" y="421538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0976" y="4315968"/>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Coverage</a:t>
            </a:r>
          </a:p>
        </p:txBody>
      </p:sp>
      <p:sp>
        <p:nvSpPr>
          <p:cNvPr id="28" name="TextBox 27"/>
          <p:cNvSpPr txBox="1"/>
          <p:nvPr/>
        </p:nvSpPr>
        <p:spPr>
          <a:xfrm>
            <a:off x="2322576" y="4315968"/>
            <a:ext cx="4389120" cy="274320"/>
          </a:xfrm>
          <a:prstGeom prst="rect">
            <a:avLst/>
          </a:prstGeom>
          <a:noFill/>
        </p:spPr>
        <p:txBody>
          <a:bodyPr wrap="square" lIns="0" rIns="0" tIns="0" bIns="0" anchor="t">
            <a:spAutoFit/>
          </a:bodyPr>
          <a:lstStyle/>
          <a:p>
            <a:pPr algn="l">
              <a:spcAft>
                <a:spcPts val="0"/>
              </a:spcAft>
            </a:pPr>
            <a:r>
              <a:rPr sz="1200" b="0" i="0">
                <a:solidFill>
                  <a:srgbClr val="5A544E"/>
                </a:solidFill>
                <a:latin typeface="Segoe UI"/>
              </a:rPr>
              <a:t>Sampled, by an external firm</a:t>
            </a:r>
          </a:p>
        </p:txBody>
      </p:sp>
      <p:sp>
        <p:nvSpPr>
          <p:cNvPr id="29" name="TextBox 28"/>
          <p:cNvSpPr txBox="1"/>
          <p:nvPr/>
        </p:nvSpPr>
        <p:spPr>
          <a:xfrm>
            <a:off x="6894576" y="4315968"/>
            <a:ext cx="44165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Every transaction</a:t>
            </a:r>
          </a:p>
        </p:txBody>
      </p:sp>
      <p:sp>
        <p:nvSpPr>
          <p:cNvPr id="30" name="Rectangle 29"/>
          <p:cNvSpPr/>
          <p:nvPr/>
        </p:nvSpPr>
        <p:spPr>
          <a:xfrm>
            <a:off x="822960" y="463600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910328"/>
            <a:ext cx="10545775" cy="1298448"/>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093208"/>
            <a:ext cx="4937760" cy="914400"/>
          </a:xfrm>
          <a:prstGeom prst="rect">
            <a:avLst/>
          </a:prstGeom>
          <a:noFill/>
        </p:spPr>
        <p:txBody>
          <a:bodyPr wrap="square" lIns="0" rIns="0" tIns="0" bIns="0" anchor="t">
            <a:spAutoFit/>
          </a:bodyPr>
          <a:lstStyle/>
          <a:p>
            <a:pPr algn="l">
              <a:lnSpc>
                <a:spcPct val="130000"/>
              </a:lnSpc>
              <a:spcAft>
                <a:spcPts val="0"/>
              </a:spcAft>
            </a:pPr>
            <a:r>
              <a:rPr sz="1300" b="1" i="0">
                <a:solidFill>
                  <a:srgbClr val="1C1712"/>
                </a:solidFill>
                <a:latin typeface="Segoe UI"/>
              </a:rPr>
              <a:t>The size of the problem is public. </a:t>
            </a:r>
            <a:r>
              <a:rPr sz="1300" b="0" i="0">
                <a:solidFill>
                  <a:srgbClr val="5A544E"/>
                </a:solidFill>
                <a:latin typeface="Segoe UI"/>
              </a:rPr>
              <a:t>Duplicate payments run 0.1% to 0.5% of AP spend in controlled environments and above 1% in weak ones. APQC benchmarking puts the range at 0.8% to 2%.</a:t>
            </a:r>
          </a:p>
        </p:txBody>
      </p:sp>
      <p:sp>
        <p:nvSpPr>
          <p:cNvPr id="33" name="TextBox 32"/>
          <p:cNvSpPr txBox="1"/>
          <p:nvPr/>
        </p:nvSpPr>
        <p:spPr>
          <a:xfrm>
            <a:off x="6492240" y="5093208"/>
            <a:ext cx="4754880" cy="914400"/>
          </a:xfrm>
          <a:prstGeom prst="rect">
            <a:avLst/>
          </a:prstGeom>
          <a:noFill/>
        </p:spPr>
        <p:txBody>
          <a:bodyPr wrap="square" lIns="0" rIns="0" tIns="0" bIns="0" anchor="t">
            <a:spAutoFit/>
          </a:bodyPr>
          <a:lstStyle/>
          <a:p>
            <a:pPr algn="l">
              <a:lnSpc>
                <a:spcPct val="130000"/>
              </a:lnSpc>
              <a:spcAft>
                <a:spcPts val="0"/>
              </a:spcAft>
            </a:pPr>
            <a:r>
              <a:rPr sz="1300" b="1" i="0">
                <a:solidFill>
                  <a:srgbClr val="1C1712"/>
                </a:solidFill>
                <a:latin typeface="Segoe UI"/>
              </a:rPr>
              <a:t>What that means per customer. </a:t>
            </a:r>
            <a:r>
              <a:rPr sz="1300" b="0" i="0">
                <a:solidFill>
                  <a:srgbClr val="5A544E"/>
                </a:solidFill>
                <a:latin typeface="Segoe UI"/>
              </a:rPr>
              <a:t>An enterprise with $100M of AP spend carries $100K to $500K of annual exposure. One agent, one workflow, pays for the platform.</a:t>
            </a:r>
          </a:p>
        </p:txBody>
      </p:sp>
      <p:sp>
        <p:nvSpPr>
          <p:cNvPr id="34" name="TextBox 33"/>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Sources: APQC Open Standards Benchmarking; AP recovery audit industry benchmarks, 2026. The $100M example is arithmetic on those published rates, not a customer result.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PLATFORM</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The layer that makes twelve agents governable — and any other agent too.</a:t>
            </a:r>
          </a:p>
        </p:txBody>
      </p:sp>
      <p:sp>
        <p:nvSpPr>
          <p:cNvPr id="5" name="TextBox 4"/>
          <p:cNvSpPr txBox="1"/>
          <p:nvPr/>
        </p:nvSpPr>
        <p:spPr>
          <a:xfrm>
            <a:off x="822960" y="19019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This is the infrastructure position. It appreciates as the number of agents in an enterprise grows, whoever built them.</a:t>
            </a:r>
          </a:p>
        </p:txBody>
      </p:sp>
      <p:sp>
        <p:nvSpPr>
          <p:cNvPr id="6" name="Rectangle 5"/>
          <p:cNvSpPr/>
          <p:nvPr/>
        </p:nvSpPr>
        <p:spPr>
          <a:xfrm>
            <a:off x="822960" y="25968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10</a:t>
            </a:r>
          </a:p>
        </p:txBody>
      </p:sp>
      <p:sp>
        <p:nvSpPr>
          <p:cNvPr id="9" name="Rectangle 8"/>
          <p:cNvSpPr/>
          <p:nvPr/>
        </p:nvSpPr>
        <p:spPr>
          <a:xfrm>
            <a:off x="822960" y="2871216"/>
            <a:ext cx="3362858" cy="11155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871216"/>
            <a:ext cx="3362858" cy="32004"/>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3090672"/>
            <a:ext cx="2923946" cy="274320"/>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Registry</a:t>
            </a:r>
          </a:p>
        </p:txBody>
      </p:sp>
      <p:sp>
        <p:nvSpPr>
          <p:cNvPr id="12" name="TextBox 11"/>
          <p:cNvSpPr txBox="1"/>
          <p:nvPr/>
        </p:nvSpPr>
        <p:spPr>
          <a:xfrm>
            <a:off x="1042416" y="3438144"/>
            <a:ext cx="2923946" cy="384048"/>
          </a:xfrm>
          <a:prstGeom prst="rect">
            <a:avLst/>
          </a:prstGeom>
          <a:noFill/>
        </p:spPr>
        <p:txBody>
          <a:bodyPr wrap="square" lIns="0" rIns="0" tIns="0" bIns="0" anchor="t">
            <a:spAutoFit/>
          </a:bodyPr>
          <a:lstStyle/>
          <a:p>
            <a:pPr algn="l">
              <a:lnSpc>
                <a:spcPct val="132000"/>
              </a:lnSpc>
              <a:spcAft>
                <a:spcPts val="0"/>
              </a:spcAft>
            </a:pPr>
            <a:r>
              <a:rPr sz="1050" b="0" i="0">
                <a:solidFill>
                  <a:srgbClr val="5A544E"/>
                </a:solidFill>
                <a:latin typeface="Segoe UI"/>
              </a:rPr>
              <a:t>System of record for every agent: owner, role, permission scope, data touched.</a:t>
            </a:r>
          </a:p>
        </p:txBody>
      </p:sp>
      <p:sp>
        <p:nvSpPr>
          <p:cNvPr id="13" name="Rectangle 12"/>
          <p:cNvSpPr/>
          <p:nvPr/>
        </p:nvSpPr>
        <p:spPr>
          <a:xfrm>
            <a:off x="4414418" y="2871216"/>
            <a:ext cx="3362858" cy="11155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3874" y="3090672"/>
            <a:ext cx="2923946" cy="274320"/>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Gateway</a:t>
            </a:r>
          </a:p>
        </p:txBody>
      </p:sp>
      <p:sp>
        <p:nvSpPr>
          <p:cNvPr id="15" name="TextBox 14"/>
          <p:cNvSpPr txBox="1"/>
          <p:nvPr/>
        </p:nvSpPr>
        <p:spPr>
          <a:xfrm>
            <a:off x="4633874" y="3438144"/>
            <a:ext cx="2923946" cy="384048"/>
          </a:xfrm>
          <a:prstGeom prst="rect">
            <a:avLst/>
          </a:prstGeom>
          <a:noFill/>
        </p:spPr>
        <p:txBody>
          <a:bodyPr wrap="square" lIns="0" rIns="0" tIns="0" bIns="0" anchor="t">
            <a:spAutoFit/>
          </a:bodyPr>
          <a:lstStyle/>
          <a:p>
            <a:pPr algn="l">
              <a:lnSpc>
                <a:spcPct val="132000"/>
              </a:lnSpc>
              <a:spcAft>
                <a:spcPts val="0"/>
              </a:spcAft>
            </a:pPr>
            <a:r>
              <a:rPr sz="1050" b="0" i="0">
                <a:solidFill>
                  <a:srgbClr val="5A544E"/>
                </a:solidFill>
                <a:latin typeface="Segoe UI"/>
              </a:rPr>
              <a:t>Third-party agents connect through open standards: MCP, OpenTelemetry, your IdP.</a:t>
            </a:r>
          </a:p>
        </p:txBody>
      </p:sp>
      <p:sp>
        <p:nvSpPr>
          <p:cNvPr id="16" name="Rectangle 15"/>
          <p:cNvSpPr/>
          <p:nvPr/>
        </p:nvSpPr>
        <p:spPr>
          <a:xfrm>
            <a:off x="8005876" y="2871216"/>
            <a:ext cx="3362858" cy="11155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5332" y="3090672"/>
            <a:ext cx="2923946" cy="274320"/>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Data Fabric</a:t>
            </a:r>
          </a:p>
        </p:txBody>
      </p:sp>
      <p:sp>
        <p:nvSpPr>
          <p:cNvPr id="18" name="TextBox 17"/>
          <p:cNvSpPr txBox="1"/>
          <p:nvPr/>
        </p:nvSpPr>
        <p:spPr>
          <a:xfrm>
            <a:off x="8225332" y="3438144"/>
            <a:ext cx="2923946" cy="384048"/>
          </a:xfrm>
          <a:prstGeom prst="rect">
            <a:avLst/>
          </a:prstGeom>
          <a:noFill/>
        </p:spPr>
        <p:txBody>
          <a:bodyPr wrap="square" lIns="0" rIns="0" tIns="0" bIns="0" anchor="t">
            <a:spAutoFit/>
          </a:bodyPr>
          <a:lstStyle/>
          <a:p>
            <a:pPr algn="l">
              <a:lnSpc>
                <a:spcPct val="132000"/>
              </a:lnSpc>
              <a:spcAft>
                <a:spcPts val="0"/>
              </a:spcAft>
            </a:pPr>
            <a:r>
              <a:rPr sz="1050" b="0" i="0">
                <a:solidFill>
                  <a:srgbClr val="5A544E"/>
                </a:solidFill>
                <a:latin typeface="Segoe UI"/>
              </a:rPr>
              <a:t>Zero-copy reads against the warehouse. No second copy of your data to secure.</a:t>
            </a:r>
          </a:p>
        </p:txBody>
      </p:sp>
      <p:sp>
        <p:nvSpPr>
          <p:cNvPr id="19" name="Rectangle 18"/>
          <p:cNvSpPr/>
          <p:nvPr/>
        </p:nvSpPr>
        <p:spPr>
          <a:xfrm>
            <a:off x="822960" y="4133088"/>
            <a:ext cx="3362858" cy="11155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4352544"/>
            <a:ext cx="2923946" cy="274320"/>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Studio</a:t>
            </a:r>
          </a:p>
        </p:txBody>
      </p:sp>
      <p:sp>
        <p:nvSpPr>
          <p:cNvPr id="21" name="TextBox 20"/>
          <p:cNvSpPr txBox="1"/>
          <p:nvPr/>
        </p:nvSpPr>
        <p:spPr>
          <a:xfrm>
            <a:off x="1042416" y="4700016"/>
            <a:ext cx="2923946" cy="384048"/>
          </a:xfrm>
          <a:prstGeom prst="rect">
            <a:avLst/>
          </a:prstGeom>
          <a:noFill/>
        </p:spPr>
        <p:txBody>
          <a:bodyPr wrap="square" lIns="0" rIns="0" tIns="0" bIns="0" anchor="t">
            <a:spAutoFit/>
          </a:bodyPr>
          <a:lstStyle/>
          <a:p>
            <a:pPr algn="l">
              <a:lnSpc>
                <a:spcPct val="132000"/>
              </a:lnSpc>
              <a:spcAft>
                <a:spcPts val="0"/>
              </a:spcAft>
            </a:pPr>
            <a:r>
              <a:rPr sz="1050" b="0" i="0">
                <a:solidFill>
                  <a:srgbClr val="5A544E"/>
                </a:solidFill>
                <a:latin typeface="Segoe UI"/>
              </a:rPr>
              <a:t>Low-code builder: customers create their own agents inside the same guardrails.</a:t>
            </a:r>
          </a:p>
        </p:txBody>
      </p:sp>
      <p:sp>
        <p:nvSpPr>
          <p:cNvPr id="22" name="Rectangle 21"/>
          <p:cNvSpPr/>
          <p:nvPr/>
        </p:nvSpPr>
        <p:spPr>
          <a:xfrm>
            <a:off x="4414418" y="4133088"/>
            <a:ext cx="3362858" cy="11155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3874" y="4352544"/>
            <a:ext cx="2923946" cy="274320"/>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Assist</a:t>
            </a:r>
          </a:p>
        </p:txBody>
      </p:sp>
      <p:sp>
        <p:nvSpPr>
          <p:cNvPr id="24" name="TextBox 23"/>
          <p:cNvSpPr txBox="1"/>
          <p:nvPr/>
        </p:nvSpPr>
        <p:spPr>
          <a:xfrm>
            <a:off x="4633874" y="4700016"/>
            <a:ext cx="2923946" cy="384048"/>
          </a:xfrm>
          <a:prstGeom prst="rect">
            <a:avLst/>
          </a:prstGeom>
          <a:noFill/>
        </p:spPr>
        <p:txBody>
          <a:bodyPr wrap="square" lIns="0" rIns="0" tIns="0" bIns="0" anchor="t">
            <a:spAutoFit/>
          </a:bodyPr>
          <a:lstStyle/>
          <a:p>
            <a:pPr algn="l">
              <a:lnSpc>
                <a:spcPct val="132000"/>
              </a:lnSpc>
              <a:spcAft>
                <a:spcPts val="0"/>
              </a:spcAft>
            </a:pPr>
            <a:r>
              <a:rPr sz="1050" b="0" i="0">
                <a:solidFill>
                  <a:srgbClr val="5A544E"/>
                </a:solidFill>
                <a:latin typeface="Segoe UI"/>
              </a:rPr>
              <a:t>Conversational front door across Meridian and connected systems.</a:t>
            </a:r>
          </a:p>
        </p:txBody>
      </p:sp>
      <p:sp>
        <p:nvSpPr>
          <p:cNvPr id="25" name="Rectangle 24"/>
          <p:cNvSpPr/>
          <p:nvPr/>
        </p:nvSpPr>
        <p:spPr>
          <a:xfrm>
            <a:off x="8005876" y="4133088"/>
            <a:ext cx="3362858" cy="11155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5332" y="4352544"/>
            <a:ext cx="2923946" cy="274320"/>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Trust</a:t>
            </a:r>
          </a:p>
        </p:txBody>
      </p:sp>
      <p:sp>
        <p:nvSpPr>
          <p:cNvPr id="27" name="TextBox 26"/>
          <p:cNvSpPr txBox="1"/>
          <p:nvPr/>
        </p:nvSpPr>
        <p:spPr>
          <a:xfrm>
            <a:off x="8225332" y="4700016"/>
            <a:ext cx="2923946" cy="384048"/>
          </a:xfrm>
          <a:prstGeom prst="rect">
            <a:avLst/>
          </a:prstGeom>
          <a:noFill/>
        </p:spPr>
        <p:txBody>
          <a:bodyPr wrap="square" lIns="0" rIns="0" tIns="0" bIns="0" anchor="t">
            <a:spAutoFit/>
          </a:bodyPr>
          <a:lstStyle/>
          <a:p>
            <a:pPr algn="l">
              <a:lnSpc>
                <a:spcPct val="132000"/>
              </a:lnSpc>
              <a:spcAft>
                <a:spcPts val="0"/>
              </a:spcAft>
            </a:pPr>
            <a:r>
              <a:rPr sz="1050" b="0" i="0">
                <a:solidFill>
                  <a:srgbClr val="5A544E"/>
                </a:solidFill>
                <a:latin typeface="Segoe UI"/>
              </a:rPr>
              <a:t>Approvals, immutable audit trail, RBAC, data residency, model choice.</a:t>
            </a:r>
          </a:p>
        </p:txBody>
      </p:sp>
      <p:sp>
        <p:nvSpPr>
          <p:cNvPr id="28" name="TextBox 27"/>
          <p:cNvSpPr txBox="1"/>
          <p:nvPr/>
        </p:nvSpPr>
        <p:spPr>
          <a:xfrm>
            <a:off x="822960" y="5541264"/>
            <a:ext cx="10545775" cy="640080"/>
          </a:xfrm>
          <a:prstGeom prst="rect">
            <a:avLst/>
          </a:prstGeom>
          <a:noFill/>
        </p:spPr>
        <p:txBody>
          <a:bodyPr wrap="square" lIns="0" rIns="0" tIns="0" bIns="0" anchor="t">
            <a:spAutoFit/>
          </a:bodyPr>
          <a:lstStyle/>
          <a:p>
            <a:pPr algn="l">
              <a:lnSpc>
                <a:spcPct val="132000"/>
              </a:lnSpc>
              <a:spcAft>
                <a:spcPts val="0"/>
              </a:spcAft>
            </a:pPr>
            <a:r>
              <a:rPr sz="1350" b="1" i="0">
                <a:solidFill>
                  <a:srgbClr val="1C1712"/>
                </a:solidFill>
                <a:latin typeface="Segoe UI"/>
              </a:rPr>
              <a:t>The Registry is the wedge that becomes the moat. </a:t>
            </a:r>
            <a:r>
              <a:rPr sz="1350" b="0" i="0">
                <a:solidFill>
                  <a:srgbClr val="5A544E"/>
                </a:solidFill>
                <a:latin typeface="Segoe UI"/>
              </a:rPr>
              <a:t>Once an enterprise records its agents, owners and approval rules in one place, that record is the thing everything else has to integrate with.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EVIDENCE</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This is not a mockup. It is deployed and you can open it now.</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Every number here is measured from the production build and the public repository.</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11</a:t>
            </a:r>
          </a:p>
        </p:txBody>
      </p:sp>
      <p:sp>
        <p:nvSpPr>
          <p:cNvPr id="9" name="TextBox 8"/>
          <p:cNvSpPr txBox="1"/>
          <p:nvPr/>
        </p:nvSpPr>
        <p:spPr>
          <a:xfrm>
            <a:off x="969264" y="2624328"/>
            <a:ext cx="1834835" cy="640080"/>
          </a:xfrm>
          <a:prstGeom prst="rect">
            <a:avLst/>
          </a:prstGeom>
          <a:noFill/>
        </p:spPr>
        <p:txBody>
          <a:bodyPr wrap="square" lIns="0" rIns="0" tIns="0" bIns="0" anchor="t">
            <a:spAutoFit/>
          </a:bodyPr>
          <a:lstStyle/>
          <a:p>
            <a:pPr algn="l">
              <a:spcAft>
                <a:spcPts val="0"/>
              </a:spcAft>
            </a:pPr>
            <a:r>
              <a:rPr sz="3100" b="0" i="0">
                <a:solidFill>
                  <a:srgbClr val="1C1712"/>
                </a:solidFill>
                <a:latin typeface="Segoe UI"/>
              </a:rPr>
              <a:t>165</a:t>
            </a:r>
          </a:p>
        </p:txBody>
      </p:sp>
      <p:sp>
        <p:nvSpPr>
          <p:cNvPr id="10" name="TextBox 9"/>
          <p:cNvSpPr txBox="1"/>
          <p:nvPr/>
        </p:nvSpPr>
        <p:spPr>
          <a:xfrm>
            <a:off x="969264" y="3282696"/>
            <a:ext cx="1798259"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pages prerendered at build time</a:t>
            </a:r>
          </a:p>
        </p:txBody>
      </p:sp>
      <p:sp>
        <p:nvSpPr>
          <p:cNvPr id="11" name="Rectangle 10"/>
          <p:cNvSpPr/>
          <p:nvPr/>
        </p:nvSpPr>
        <p:spPr>
          <a:xfrm>
            <a:off x="2913827" y="2670048"/>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78419" y="2624328"/>
            <a:ext cx="1834835" cy="640080"/>
          </a:xfrm>
          <a:prstGeom prst="rect">
            <a:avLst/>
          </a:prstGeom>
          <a:noFill/>
        </p:spPr>
        <p:txBody>
          <a:bodyPr wrap="square" lIns="0" rIns="0" tIns="0" bIns="0" anchor="t">
            <a:spAutoFit/>
          </a:bodyPr>
          <a:lstStyle/>
          <a:p>
            <a:pPr algn="l">
              <a:spcAft>
                <a:spcPts val="0"/>
              </a:spcAft>
            </a:pPr>
            <a:r>
              <a:rPr sz="3100" b="0" i="0">
                <a:solidFill>
                  <a:srgbClr val="1C1712"/>
                </a:solidFill>
                <a:latin typeface="Segoe UI"/>
              </a:rPr>
              <a:t>27,400</a:t>
            </a:r>
          </a:p>
        </p:txBody>
      </p:sp>
      <p:sp>
        <p:nvSpPr>
          <p:cNvPr id="13" name="TextBox 12"/>
          <p:cNvSpPr txBox="1"/>
          <p:nvPr/>
        </p:nvSpPr>
        <p:spPr>
          <a:xfrm>
            <a:off x="3078419" y="3282696"/>
            <a:ext cx="1798259"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lines of TypeScript, strict mode</a:t>
            </a:r>
          </a:p>
        </p:txBody>
      </p:sp>
      <p:sp>
        <p:nvSpPr>
          <p:cNvPr id="14" name="Rectangle 13"/>
          <p:cNvSpPr/>
          <p:nvPr/>
        </p:nvSpPr>
        <p:spPr>
          <a:xfrm>
            <a:off x="5022982" y="2670048"/>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7574" y="2624328"/>
            <a:ext cx="1834835" cy="640080"/>
          </a:xfrm>
          <a:prstGeom prst="rect">
            <a:avLst/>
          </a:prstGeom>
          <a:noFill/>
        </p:spPr>
        <p:txBody>
          <a:bodyPr wrap="square" lIns="0" rIns="0" tIns="0" bIns="0" anchor="t">
            <a:spAutoFit/>
          </a:bodyPr>
          <a:lstStyle/>
          <a:p>
            <a:pPr algn="l">
              <a:spcAft>
                <a:spcPts val="0"/>
              </a:spcAft>
            </a:pPr>
            <a:r>
              <a:rPr sz="3100" b="0" i="0">
                <a:solidFill>
                  <a:srgbClr val="1C1712"/>
                </a:solidFill>
                <a:latin typeface="Segoe UI"/>
              </a:rPr>
              <a:t>~50,000</a:t>
            </a:r>
          </a:p>
        </p:txBody>
      </p:sp>
      <p:sp>
        <p:nvSpPr>
          <p:cNvPr id="16" name="TextBox 15"/>
          <p:cNvSpPr txBox="1"/>
          <p:nvPr/>
        </p:nvSpPr>
        <p:spPr>
          <a:xfrm>
            <a:off x="5187574" y="3282696"/>
            <a:ext cx="1798259"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words of original domain content</a:t>
            </a:r>
          </a:p>
        </p:txBody>
      </p:sp>
      <p:sp>
        <p:nvSpPr>
          <p:cNvPr id="17" name="Rectangle 16"/>
          <p:cNvSpPr/>
          <p:nvPr/>
        </p:nvSpPr>
        <p:spPr>
          <a:xfrm>
            <a:off x="7132137" y="2670048"/>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96729" y="2624328"/>
            <a:ext cx="1834835" cy="640080"/>
          </a:xfrm>
          <a:prstGeom prst="rect">
            <a:avLst/>
          </a:prstGeom>
          <a:noFill/>
        </p:spPr>
        <p:txBody>
          <a:bodyPr wrap="square" lIns="0" rIns="0" tIns="0" bIns="0" anchor="t">
            <a:spAutoFit/>
          </a:bodyPr>
          <a:lstStyle/>
          <a:p>
            <a:pPr algn="l">
              <a:spcAft>
                <a:spcPts val="0"/>
              </a:spcAft>
            </a:pPr>
            <a:r>
              <a:rPr sz="3100" b="0" i="0">
                <a:solidFill>
                  <a:srgbClr val="1C1712"/>
                </a:solidFill>
                <a:latin typeface="Segoe UI"/>
              </a:rPr>
              <a:t>0</a:t>
            </a:r>
          </a:p>
        </p:txBody>
      </p:sp>
      <p:sp>
        <p:nvSpPr>
          <p:cNvPr id="19" name="TextBox 18"/>
          <p:cNvSpPr txBox="1"/>
          <p:nvPr/>
        </p:nvSpPr>
        <p:spPr>
          <a:xfrm>
            <a:off x="7296729" y="3282696"/>
            <a:ext cx="1798259"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cumulative layout shift measured</a:t>
            </a:r>
          </a:p>
        </p:txBody>
      </p:sp>
      <p:sp>
        <p:nvSpPr>
          <p:cNvPr id="20" name="Rectangle 19"/>
          <p:cNvSpPr/>
          <p:nvPr/>
        </p:nvSpPr>
        <p:spPr>
          <a:xfrm>
            <a:off x="9241292" y="2670048"/>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05884" y="2624328"/>
            <a:ext cx="1834835" cy="640080"/>
          </a:xfrm>
          <a:prstGeom prst="rect">
            <a:avLst/>
          </a:prstGeom>
          <a:noFill/>
        </p:spPr>
        <p:txBody>
          <a:bodyPr wrap="square" lIns="0" rIns="0" tIns="0" bIns="0" anchor="t">
            <a:spAutoFit/>
          </a:bodyPr>
          <a:lstStyle/>
          <a:p>
            <a:pPr algn="l">
              <a:spcAft>
                <a:spcPts val="0"/>
              </a:spcAft>
            </a:pPr>
            <a:r>
              <a:rPr sz="3100" b="0" i="0">
                <a:solidFill>
                  <a:srgbClr val="1C1712"/>
                </a:solidFill>
                <a:latin typeface="Segoe UI"/>
              </a:rPr>
              <a:t>&lt;820ms</a:t>
            </a:r>
          </a:p>
        </p:txBody>
      </p:sp>
      <p:sp>
        <p:nvSpPr>
          <p:cNvPr id="22" name="TextBox 21"/>
          <p:cNvSpPr txBox="1"/>
          <p:nvPr/>
        </p:nvSpPr>
        <p:spPr>
          <a:xfrm>
            <a:off x="9405884" y="3282696"/>
            <a:ext cx="1798259"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largest contentful paint, production</a:t>
            </a:r>
          </a:p>
        </p:txBody>
      </p:sp>
      <p:sp>
        <p:nvSpPr>
          <p:cNvPr id="23" name="Rectangle 22"/>
          <p:cNvSpPr/>
          <p:nvPr/>
        </p:nvSpPr>
        <p:spPr>
          <a:xfrm>
            <a:off x="822960" y="4151376"/>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0704" y="4069080"/>
            <a:ext cx="10308031" cy="548640"/>
          </a:xfrm>
          <a:prstGeom prst="rect">
            <a:avLst/>
          </a:prstGeom>
          <a:noFill/>
        </p:spPr>
        <p:txBody>
          <a:bodyPr wrap="square" lIns="0" rIns="0" tIns="0" bIns="0" anchor="t">
            <a:spAutoFit/>
          </a:bodyPr>
          <a:lstStyle/>
          <a:p>
            <a:pPr algn="l">
              <a:lnSpc>
                <a:spcPct val="132000"/>
              </a:lnSpc>
              <a:spcAft>
                <a:spcPts val="0"/>
              </a:spcAft>
            </a:pPr>
            <a:r>
              <a:rPr sz="1250" b="1" i="0">
                <a:solidFill>
                  <a:srgbClr val="1C1712"/>
                </a:solidFill>
                <a:latin typeface="Segoe UI"/>
              </a:rPr>
              <a:t>Live real-time layer. </a:t>
            </a:r>
            <a:r>
              <a:rPr sz="1250" b="0" i="0">
                <a:solidFill>
                  <a:srgbClr val="5A544E"/>
                </a:solidFill>
                <a:latin typeface="Segoe UI"/>
              </a:rPr>
              <a:t>Server-Sent Events endpoint streaming an operations feed, metrics and an approvals queue, with reconnect, backoff and a polling fallback.</a:t>
            </a:r>
          </a:p>
        </p:txBody>
      </p:sp>
      <p:sp>
        <p:nvSpPr>
          <p:cNvPr id="25" name="Rectangle 24"/>
          <p:cNvSpPr/>
          <p:nvPr/>
        </p:nvSpPr>
        <p:spPr>
          <a:xfrm>
            <a:off x="822960" y="480974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0704" y="4727448"/>
            <a:ext cx="10308031" cy="274320"/>
          </a:xfrm>
          <a:prstGeom prst="rect">
            <a:avLst/>
          </a:prstGeom>
          <a:noFill/>
        </p:spPr>
        <p:txBody>
          <a:bodyPr wrap="square" lIns="0" rIns="0" tIns="0" bIns="0" anchor="t">
            <a:spAutoFit/>
          </a:bodyPr>
          <a:lstStyle/>
          <a:p>
            <a:pPr algn="l">
              <a:lnSpc>
                <a:spcPct val="132000"/>
              </a:lnSpc>
              <a:spcAft>
                <a:spcPts val="0"/>
              </a:spcAft>
            </a:pPr>
            <a:r>
              <a:rPr sz="1250" b="1" i="0">
                <a:solidFill>
                  <a:srgbClr val="1C1712"/>
                </a:solidFill>
                <a:latin typeface="Segoe UI"/>
              </a:rPr>
              <a:t>Working subscription scaffold. </a:t>
            </a:r>
            <a:r>
              <a:rPr sz="1250" b="0" i="0">
                <a:solidFill>
                  <a:srgbClr val="5A544E"/>
                </a:solidFill>
                <a:latin typeface="Segoe UI"/>
              </a:rPr>
              <a:t>Stripe checkout wired end to end, env-gated, running in explicit demo mode until keys are set.</a:t>
            </a:r>
          </a:p>
        </p:txBody>
      </p:sp>
      <p:sp>
        <p:nvSpPr>
          <p:cNvPr id="27" name="Rectangle 26"/>
          <p:cNvSpPr/>
          <p:nvPr/>
        </p:nvSpPr>
        <p:spPr>
          <a:xfrm>
            <a:off x="822960" y="5230368"/>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5148072"/>
            <a:ext cx="10308031" cy="548640"/>
          </a:xfrm>
          <a:prstGeom prst="rect">
            <a:avLst/>
          </a:prstGeom>
          <a:noFill/>
        </p:spPr>
        <p:txBody>
          <a:bodyPr wrap="square" lIns="0" rIns="0" tIns="0" bIns="0" anchor="t">
            <a:spAutoFit/>
          </a:bodyPr>
          <a:lstStyle/>
          <a:p>
            <a:pPr algn="l">
              <a:lnSpc>
                <a:spcPct val="132000"/>
              </a:lnSpc>
              <a:spcAft>
                <a:spcPts val="0"/>
              </a:spcAft>
            </a:pPr>
            <a:r>
              <a:rPr sz="1250" b="1" i="0">
                <a:solidFill>
                  <a:srgbClr val="1C1712"/>
                </a:solidFill>
                <a:latin typeface="Segoe UI"/>
              </a:rPr>
              <a:t>Real security posture. </a:t>
            </a:r>
            <a:r>
              <a:rPr sz="1250" b="0" i="0">
                <a:solidFill>
                  <a:srgbClr val="5A544E"/>
                </a:solidFill>
                <a:latin typeface="Segoe UI"/>
              </a:rPr>
              <a:t>HSTS with preload, nosniff, frame and referrer policy on every response; input validated at every endpoint.</a:t>
            </a:r>
          </a:p>
        </p:txBody>
      </p:sp>
      <p:sp>
        <p:nvSpPr>
          <p:cNvPr id="29" name="Rectangle 28"/>
          <p:cNvSpPr/>
          <p:nvPr/>
        </p:nvSpPr>
        <p:spPr>
          <a:xfrm>
            <a:off x="822960" y="5888736"/>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0704" y="5806440"/>
            <a:ext cx="10308031" cy="548640"/>
          </a:xfrm>
          <a:prstGeom prst="rect">
            <a:avLst/>
          </a:prstGeom>
          <a:noFill/>
        </p:spPr>
        <p:txBody>
          <a:bodyPr wrap="square" lIns="0" rIns="0" tIns="0" bIns="0" anchor="t">
            <a:spAutoFit/>
          </a:bodyPr>
          <a:lstStyle/>
          <a:p>
            <a:pPr algn="l">
              <a:lnSpc>
                <a:spcPct val="132000"/>
              </a:lnSpc>
              <a:spcAft>
                <a:spcPts val="0"/>
              </a:spcAft>
            </a:pPr>
            <a:r>
              <a:rPr sz="1250" b="1" i="0">
                <a:solidFill>
                  <a:srgbClr val="1C1712"/>
                </a:solidFill>
                <a:latin typeface="Segoe UI"/>
              </a:rPr>
              <a:t>Machine-readable for AI search. </a:t>
            </a:r>
            <a:r>
              <a:rPr sz="1250" b="0" i="0">
                <a:solidFill>
                  <a:srgbClr val="5A544E"/>
                </a:solidFill>
                <a:latin typeface="Segoe UI"/>
              </a:rPr>
              <a:t>Structured data across eleven schema types, plus llms.txt and a 252 KB full-content file for generative engines.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DEFENSIBILITY</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Governance is enforced below the agent, not inside a prompt.</a:t>
            </a:r>
          </a:p>
        </p:txBody>
      </p:sp>
      <p:sp>
        <p:nvSpPr>
          <p:cNvPr id="5" name="TextBox 4"/>
          <p:cNvSpPr txBox="1"/>
          <p:nvPr/>
        </p:nvSpPr>
        <p:spPr>
          <a:xfrm>
            <a:off x="822960" y="19019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A prompt instruction is a suggestion. A permission boundary is a control. The distinction is the whole business.</a:t>
            </a:r>
          </a:p>
        </p:txBody>
      </p:sp>
      <p:sp>
        <p:nvSpPr>
          <p:cNvPr id="6" name="Rectangle 5"/>
          <p:cNvSpPr/>
          <p:nvPr/>
        </p:nvSpPr>
        <p:spPr>
          <a:xfrm>
            <a:off x="822960" y="25968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12</a:t>
            </a:r>
          </a:p>
        </p:txBody>
      </p:sp>
      <p:sp>
        <p:nvSpPr>
          <p:cNvPr id="9" name="Rectangle 8"/>
          <p:cNvSpPr/>
          <p:nvPr/>
        </p:nvSpPr>
        <p:spPr>
          <a:xfrm>
            <a:off x="822960" y="2871216"/>
            <a:ext cx="4998567" cy="2395728"/>
          </a:xfrm>
          <a:prstGeom prst="rect">
            <a:avLst/>
          </a:prstGeom>
          <a:solidFill>
            <a:srgbClr val="F2F0EC"/>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3072384"/>
            <a:ext cx="4486503" cy="274320"/>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WHAT COMPETITORS DO</a:t>
            </a:r>
          </a:p>
        </p:txBody>
      </p:sp>
      <p:sp>
        <p:nvSpPr>
          <p:cNvPr id="11" name="Rectangle 10"/>
          <p:cNvSpPr/>
          <p:nvPr/>
        </p:nvSpPr>
        <p:spPr>
          <a:xfrm>
            <a:off x="1078992" y="357530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16736" y="3493008"/>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Guardrails written into the system prompt</a:t>
            </a:r>
          </a:p>
        </p:txBody>
      </p:sp>
      <p:sp>
        <p:nvSpPr>
          <p:cNvPr id="13" name="Rectangle 12"/>
          <p:cNvSpPr/>
          <p:nvPr/>
        </p:nvSpPr>
        <p:spPr>
          <a:xfrm>
            <a:off x="1078992" y="394106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6736" y="3858768"/>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Permissions inherited from whoever ran the chat</a:t>
            </a:r>
          </a:p>
        </p:txBody>
      </p:sp>
      <p:sp>
        <p:nvSpPr>
          <p:cNvPr id="15" name="Rectangle 14"/>
          <p:cNvSpPr/>
          <p:nvPr/>
        </p:nvSpPr>
        <p:spPr>
          <a:xfrm>
            <a:off x="1078992" y="430682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16736" y="4224528"/>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Audit trail is a conversation transcript</a:t>
            </a:r>
          </a:p>
        </p:txBody>
      </p:sp>
      <p:sp>
        <p:nvSpPr>
          <p:cNvPr id="17" name="Rectangle 16"/>
          <p:cNvSpPr/>
          <p:nvPr/>
        </p:nvSpPr>
        <p:spPr>
          <a:xfrm>
            <a:off x="1078992" y="467258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16736" y="4590288"/>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Failure mode: the model decides whether to comply</a:t>
            </a:r>
          </a:p>
        </p:txBody>
      </p:sp>
      <p:sp>
        <p:nvSpPr>
          <p:cNvPr id="19" name="Rectangle 18"/>
          <p:cNvSpPr/>
          <p:nvPr/>
        </p:nvSpPr>
        <p:spPr>
          <a:xfrm>
            <a:off x="6370167" y="2871216"/>
            <a:ext cx="4998567" cy="2395728"/>
          </a:xfrm>
          <a:prstGeom prst="rect">
            <a:avLst/>
          </a:prstGeom>
          <a:solidFill>
            <a:srgbClr val="FFFFFF"/>
          </a:solidFill>
          <a:ln w="13970">
            <a:solidFill>
              <a:srgbClr val="1F53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6199" y="3072384"/>
            <a:ext cx="4486503" cy="274320"/>
          </a:xfrm>
          <a:prstGeom prst="rect">
            <a:avLst/>
          </a:prstGeom>
          <a:noFill/>
        </p:spPr>
        <p:txBody>
          <a:bodyPr wrap="square" lIns="0" rIns="0" tIns="0" bIns="0" anchor="t">
            <a:spAutoFit/>
          </a:bodyPr>
          <a:lstStyle/>
          <a:p>
            <a:pPr algn="l">
              <a:spcAft>
                <a:spcPts val="0"/>
              </a:spcAft>
            </a:pPr>
            <a:r>
              <a:rPr sz="1050" b="1" i="0">
                <a:solidFill>
                  <a:srgbClr val="1F5390"/>
                </a:solidFill>
                <a:latin typeface="Segoe UI"/>
              </a:rPr>
              <a:t>WHAT MERIDIAN DOES</a:t>
            </a:r>
          </a:p>
        </p:txBody>
      </p:sp>
      <p:sp>
        <p:nvSpPr>
          <p:cNvPr id="21" name="Rectangle 20"/>
          <p:cNvSpPr/>
          <p:nvPr/>
        </p:nvSpPr>
        <p:spPr>
          <a:xfrm>
            <a:off x="6626199" y="357530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63943" y="3493008"/>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Scope enforced at the data layer, before the model sees anything</a:t>
            </a:r>
          </a:p>
        </p:txBody>
      </p:sp>
      <p:sp>
        <p:nvSpPr>
          <p:cNvPr id="23" name="Rectangle 22"/>
          <p:cNvSpPr/>
          <p:nvPr/>
        </p:nvSpPr>
        <p:spPr>
          <a:xfrm>
            <a:off x="6626199" y="4178808"/>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63943" y="4096512"/>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Permissions inherited from the enterprise IdP, per agent</a:t>
            </a:r>
          </a:p>
        </p:txBody>
      </p:sp>
      <p:sp>
        <p:nvSpPr>
          <p:cNvPr id="25" name="Rectangle 24"/>
          <p:cNvSpPr/>
          <p:nvPr/>
        </p:nvSpPr>
        <p:spPr>
          <a:xfrm>
            <a:off x="6626199" y="4544568"/>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63943" y="4462272"/>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Hash-chained log of every action, exportable as evidence</a:t>
            </a:r>
          </a:p>
        </p:txBody>
      </p:sp>
      <p:sp>
        <p:nvSpPr>
          <p:cNvPr id="27" name="Rectangle 26"/>
          <p:cNvSpPr/>
          <p:nvPr/>
        </p:nvSpPr>
        <p:spPr>
          <a:xfrm>
            <a:off x="6626199" y="4910328"/>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63943" y="4828032"/>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Failure mode: the action cannot execute, whatever the model says</a:t>
            </a:r>
          </a:p>
        </p:txBody>
      </p:sp>
      <p:sp>
        <p:nvSpPr>
          <p:cNvPr id="29" name="TextBox 28"/>
          <p:cNvSpPr txBox="1"/>
          <p:nvPr/>
        </p:nvSpPr>
        <p:spPr>
          <a:xfrm>
            <a:off x="822960" y="5541264"/>
            <a:ext cx="10545775" cy="548640"/>
          </a:xfrm>
          <a:prstGeom prst="rect">
            <a:avLst/>
          </a:prstGeom>
          <a:noFill/>
        </p:spPr>
        <p:txBody>
          <a:bodyPr wrap="square" lIns="0" rIns="0" tIns="0" bIns="0" anchor="t">
            <a:spAutoFit/>
          </a:bodyPr>
          <a:lstStyle/>
          <a:p>
            <a:pPr algn="l">
              <a:lnSpc>
                <a:spcPct val="132000"/>
              </a:lnSpc>
              <a:spcAft>
                <a:spcPts val="0"/>
              </a:spcAft>
            </a:pPr>
            <a:r>
              <a:rPr sz="1300" b="0" i="0">
                <a:solidFill>
                  <a:srgbClr val="5A544E"/>
                </a:solidFill>
                <a:latin typeface="Segoe UI"/>
              </a:rPr>
              <a:t>This is also the answer to model risk: because the controls sit below the model, the customer can swap models — or bring their own — without renegotiating governance.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MARKET</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A large, budgeted market with an adjacent one arriving fast.</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We do not need to create a category or a budget line. Both exist.</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13</a:t>
            </a:r>
          </a:p>
        </p:txBody>
      </p:sp>
      <p:sp>
        <p:nvSpPr>
          <p:cNvPr id="9" name="TextBox 8"/>
          <p:cNvSpPr txBox="1"/>
          <p:nvPr/>
        </p:nvSpPr>
        <p:spPr>
          <a:xfrm>
            <a:off x="969264"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$37.5B</a:t>
            </a:r>
          </a:p>
        </p:txBody>
      </p:sp>
      <p:sp>
        <p:nvSpPr>
          <p:cNvPr id="10" name="TextBox 9"/>
          <p:cNvSpPr txBox="1"/>
          <p:nvPr/>
        </p:nvSpPr>
        <p:spPr>
          <a:xfrm>
            <a:off x="969264"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human capital management market, 2026</a:t>
            </a:r>
          </a:p>
        </p:txBody>
      </p:sp>
      <p:sp>
        <p:nvSpPr>
          <p:cNvPr id="11" name="TextBox 10"/>
          <p:cNvSpPr txBox="1"/>
          <p:nvPr/>
        </p:nvSpPr>
        <p:spPr>
          <a:xfrm>
            <a:off x="969264" y="3703320"/>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growing to $77.4B by 2034</a:t>
            </a:r>
          </a:p>
        </p:txBody>
      </p:sp>
      <p:sp>
        <p:nvSpPr>
          <p:cNvPr id="12" name="Rectangle 11"/>
          <p:cNvSpPr/>
          <p:nvPr/>
        </p:nvSpPr>
        <p:spPr>
          <a:xfrm>
            <a:off x="3441115" y="2670048"/>
            <a:ext cx="0" cy="128016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5707"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$34.3B</a:t>
            </a:r>
          </a:p>
        </p:txBody>
      </p:sp>
      <p:sp>
        <p:nvSpPr>
          <p:cNvPr id="14" name="TextBox 13"/>
          <p:cNvSpPr txBox="1"/>
          <p:nvPr/>
        </p:nvSpPr>
        <p:spPr>
          <a:xfrm>
            <a:off x="3605707"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HCM spend in the next 12 months</a:t>
            </a:r>
          </a:p>
        </p:txBody>
      </p:sp>
      <p:sp>
        <p:nvSpPr>
          <p:cNvPr id="15" name="TextBox 14"/>
          <p:cNvSpPr txBox="1"/>
          <p:nvPr/>
        </p:nvSpPr>
        <p:spPr>
          <a:xfrm>
            <a:off x="3605707" y="3703320"/>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across 362,000 companies</a:t>
            </a:r>
          </a:p>
        </p:txBody>
      </p:sp>
      <p:sp>
        <p:nvSpPr>
          <p:cNvPr id="16" name="Rectangle 15"/>
          <p:cNvSpPr/>
          <p:nvPr/>
        </p:nvSpPr>
        <p:spPr>
          <a:xfrm>
            <a:off x="6077559" y="2670048"/>
            <a:ext cx="0" cy="128016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2151"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$9.9B</a:t>
            </a:r>
          </a:p>
        </p:txBody>
      </p:sp>
      <p:sp>
        <p:nvSpPr>
          <p:cNvPr id="18" name="TextBox 17"/>
          <p:cNvSpPr txBox="1"/>
          <p:nvPr/>
        </p:nvSpPr>
        <p:spPr>
          <a:xfrm>
            <a:off x="6242151"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standalone agentic AI market, 2026</a:t>
            </a:r>
          </a:p>
        </p:txBody>
      </p:sp>
      <p:sp>
        <p:nvSpPr>
          <p:cNvPr id="19" name="TextBox 18"/>
          <p:cNvSpPr txBox="1"/>
          <p:nvPr/>
        </p:nvSpPr>
        <p:spPr>
          <a:xfrm>
            <a:off x="6242151" y="3703320"/>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up from ~$7B in 2025</a:t>
            </a:r>
          </a:p>
        </p:txBody>
      </p:sp>
      <p:sp>
        <p:nvSpPr>
          <p:cNvPr id="20" name="Rectangle 19"/>
          <p:cNvSpPr/>
          <p:nvPr/>
        </p:nvSpPr>
        <p:spPr>
          <a:xfrm>
            <a:off x="8714003" y="2670048"/>
            <a:ext cx="0" cy="128016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78595"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$8.0B</a:t>
            </a:r>
          </a:p>
        </p:txBody>
      </p:sp>
      <p:sp>
        <p:nvSpPr>
          <p:cNvPr id="22" name="TextBox 21"/>
          <p:cNvSpPr txBox="1"/>
          <p:nvPr/>
        </p:nvSpPr>
        <p:spPr>
          <a:xfrm>
            <a:off x="8878595"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Workday subscription revenue, FY2026</a:t>
            </a:r>
          </a:p>
        </p:txBody>
      </p:sp>
      <p:sp>
        <p:nvSpPr>
          <p:cNvPr id="23" name="TextBox 22"/>
          <p:cNvSpPr txBox="1"/>
          <p:nvPr/>
        </p:nvSpPr>
        <p:spPr>
          <a:xfrm>
            <a:off x="8878595" y="3703320"/>
            <a:ext cx="2325547" cy="365760"/>
          </a:xfrm>
          <a:prstGeom prst="rect">
            <a:avLst/>
          </a:prstGeom>
          <a:noFill/>
        </p:spPr>
        <p:txBody>
          <a:bodyPr wrap="square" lIns="0" rIns="0" tIns="0" bIns="0" anchor="t">
            <a:spAutoFit/>
          </a:bodyPr>
          <a:lstStyle/>
          <a:p>
            <a:pPr algn="l">
              <a:lnSpc>
                <a:spcPct val="120000"/>
              </a:lnSpc>
              <a:spcAft>
                <a:spcPts val="0"/>
              </a:spcAft>
            </a:pPr>
            <a:r>
              <a:rPr sz="950" b="0" i="0">
                <a:solidFill>
                  <a:srgbClr val="A29E98"/>
                </a:solidFill>
                <a:latin typeface="Segoe UI"/>
              </a:rPr>
              <a:t>+16% year over year</a:t>
            </a:r>
          </a:p>
        </p:txBody>
      </p:sp>
      <p:sp>
        <p:nvSpPr>
          <p:cNvPr id="24" name="TextBox 23"/>
          <p:cNvSpPr txBox="1"/>
          <p:nvPr/>
        </p:nvSpPr>
        <p:spPr>
          <a:xfrm>
            <a:off x="822960" y="4407408"/>
            <a:ext cx="10545775" cy="1005840"/>
          </a:xfrm>
          <a:prstGeom prst="rect">
            <a:avLst/>
          </a:prstGeom>
          <a:noFill/>
        </p:spPr>
        <p:txBody>
          <a:bodyPr wrap="square" lIns="0" rIns="0" tIns="0" bIns="0" anchor="t">
            <a:spAutoFit/>
          </a:bodyPr>
          <a:lstStyle/>
          <a:p>
            <a:pPr algn="l">
              <a:lnSpc>
                <a:spcPct val="135000"/>
              </a:lnSpc>
              <a:spcAft>
                <a:spcPts val="0"/>
              </a:spcAft>
            </a:pPr>
            <a:r>
              <a:rPr sz="1350" b="1" i="0">
                <a:solidFill>
                  <a:srgbClr val="1C1712"/>
                </a:solidFill>
                <a:latin typeface="Segoe UI"/>
              </a:rPr>
              <a:t>How we think about our slice. </a:t>
            </a:r>
            <a:r>
              <a:rPr sz="1350" b="0" i="0">
                <a:solidFill>
                  <a:srgbClr val="5A544E"/>
                </a:solidFill>
                <a:latin typeface="Segoe UI"/>
              </a:rPr>
              <a:t>We are not selling an HRIS. We sell the governance and execution layer on top of one. The serviceable wedge is enterprises that already own an HCM or ERP system and are now being asked by their board to deploy agents against it — the same buyers, the same budget cycle, a new line item.</a:t>
            </a:r>
          </a:p>
        </p:txBody>
      </p:sp>
      <p:sp>
        <p:nvSpPr>
          <p:cNvPr id="25" name="TextBox 24"/>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Sources: Fortune Business Insights HCM market report; HG Insights HCM spend data; agentic AI market roundups, 2026; Workday FY2026 reported results.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GO TO MARKET</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Land on one agent with a hard number. Expand to the Registry.</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The wedge is chosen for measurability, not for size.</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14</a:t>
            </a:r>
          </a:p>
        </p:txBody>
      </p:sp>
      <p:sp>
        <p:nvSpPr>
          <p:cNvPr id="9" name="Rectangle 8"/>
          <p:cNvSpPr/>
          <p:nvPr/>
        </p:nvSpPr>
        <p:spPr>
          <a:xfrm>
            <a:off x="822960" y="2624328"/>
            <a:ext cx="2464993" cy="20574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24328"/>
            <a:ext cx="2464993" cy="32004"/>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862072"/>
            <a:ext cx="914400" cy="22860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01</a:t>
            </a:r>
          </a:p>
        </p:txBody>
      </p:sp>
      <p:sp>
        <p:nvSpPr>
          <p:cNvPr id="12" name="TextBox 11"/>
          <p:cNvSpPr txBox="1"/>
          <p:nvPr/>
        </p:nvSpPr>
        <p:spPr>
          <a:xfrm>
            <a:off x="1024128" y="3127248"/>
            <a:ext cx="2062657"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Land</a:t>
            </a:r>
          </a:p>
        </p:txBody>
      </p:sp>
      <p:sp>
        <p:nvSpPr>
          <p:cNvPr id="13" name="TextBox 12"/>
          <p:cNvSpPr txBox="1"/>
          <p:nvPr/>
        </p:nvSpPr>
        <p:spPr>
          <a:xfrm>
            <a:off x="1024128" y="3465576"/>
            <a:ext cx="2062657" cy="1097280"/>
          </a:xfrm>
          <a:prstGeom prst="rect">
            <a:avLst/>
          </a:prstGeom>
          <a:noFill/>
        </p:spPr>
        <p:txBody>
          <a:bodyPr wrap="square" lIns="0" rIns="0" tIns="0" bIns="0" anchor="t">
            <a:spAutoFit/>
          </a:bodyPr>
          <a:lstStyle/>
          <a:p>
            <a:pPr algn="l">
              <a:lnSpc>
                <a:spcPct val="130000"/>
              </a:lnSpc>
              <a:spcAft>
                <a:spcPts val="0"/>
              </a:spcAft>
            </a:pPr>
            <a:r>
              <a:rPr sz="1100" b="0" i="0">
                <a:solidFill>
                  <a:srgbClr val="5A544E"/>
                </a:solidFill>
                <a:latin typeface="Segoe UI"/>
              </a:rPr>
              <a:t>Controls Agent or Audit Agent — the two where the customer can verify the saving from their own ledger within one quarter.</a:t>
            </a:r>
          </a:p>
        </p:txBody>
      </p:sp>
      <p:sp>
        <p:nvSpPr>
          <p:cNvPr id="14" name="Rectangle 13"/>
          <p:cNvSpPr/>
          <p:nvPr/>
        </p:nvSpPr>
        <p:spPr>
          <a:xfrm>
            <a:off x="3516553" y="2624328"/>
            <a:ext cx="2464993" cy="20574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16553" y="2624328"/>
            <a:ext cx="2464993" cy="32004"/>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7721" y="2862072"/>
            <a:ext cx="914400" cy="22860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02</a:t>
            </a:r>
          </a:p>
        </p:txBody>
      </p:sp>
      <p:sp>
        <p:nvSpPr>
          <p:cNvPr id="17" name="TextBox 16"/>
          <p:cNvSpPr txBox="1"/>
          <p:nvPr/>
        </p:nvSpPr>
        <p:spPr>
          <a:xfrm>
            <a:off x="3717721" y="3127248"/>
            <a:ext cx="2062657"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Prove</a:t>
            </a:r>
          </a:p>
        </p:txBody>
      </p:sp>
      <p:sp>
        <p:nvSpPr>
          <p:cNvPr id="18" name="TextBox 17"/>
          <p:cNvSpPr txBox="1"/>
          <p:nvPr/>
        </p:nvSpPr>
        <p:spPr>
          <a:xfrm>
            <a:off x="3717721" y="3465576"/>
            <a:ext cx="2062657" cy="1097280"/>
          </a:xfrm>
          <a:prstGeom prst="rect">
            <a:avLst/>
          </a:prstGeom>
          <a:noFill/>
        </p:spPr>
        <p:txBody>
          <a:bodyPr wrap="square" lIns="0" rIns="0" tIns="0" bIns="0" anchor="t">
            <a:spAutoFit/>
          </a:bodyPr>
          <a:lstStyle/>
          <a:p>
            <a:pPr algn="l">
              <a:lnSpc>
                <a:spcPct val="130000"/>
              </a:lnSpc>
              <a:spcAft>
                <a:spcPts val="0"/>
              </a:spcAft>
            </a:pPr>
            <a:r>
              <a:rPr sz="1100" b="0" i="0">
                <a:solidFill>
                  <a:srgbClr val="5A544E"/>
                </a:solidFill>
                <a:latin typeface="Segoe UI"/>
              </a:rPr>
              <a:t>A 90-day paid pilot with a pre-agreed measurement plan. Success is a number the customer's own finance team calculates, not ours.</a:t>
            </a:r>
          </a:p>
        </p:txBody>
      </p:sp>
      <p:sp>
        <p:nvSpPr>
          <p:cNvPr id="19" name="Rectangle 18"/>
          <p:cNvSpPr/>
          <p:nvPr/>
        </p:nvSpPr>
        <p:spPr>
          <a:xfrm>
            <a:off x="6210147" y="2624328"/>
            <a:ext cx="2464993" cy="20574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0147" y="2624328"/>
            <a:ext cx="2464993" cy="32004"/>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1315" y="2862072"/>
            <a:ext cx="914400" cy="22860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03</a:t>
            </a:r>
          </a:p>
        </p:txBody>
      </p:sp>
      <p:sp>
        <p:nvSpPr>
          <p:cNvPr id="22" name="TextBox 21"/>
          <p:cNvSpPr txBox="1"/>
          <p:nvPr/>
        </p:nvSpPr>
        <p:spPr>
          <a:xfrm>
            <a:off x="6411315" y="3127248"/>
            <a:ext cx="2062657"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Expand</a:t>
            </a:r>
          </a:p>
        </p:txBody>
      </p:sp>
      <p:sp>
        <p:nvSpPr>
          <p:cNvPr id="23" name="TextBox 22"/>
          <p:cNvSpPr txBox="1"/>
          <p:nvPr/>
        </p:nvSpPr>
        <p:spPr>
          <a:xfrm>
            <a:off x="6411315" y="3465576"/>
            <a:ext cx="2062657" cy="1097280"/>
          </a:xfrm>
          <a:prstGeom prst="rect">
            <a:avLst/>
          </a:prstGeom>
          <a:noFill/>
        </p:spPr>
        <p:txBody>
          <a:bodyPr wrap="square" lIns="0" rIns="0" tIns="0" bIns="0" anchor="t">
            <a:spAutoFit/>
          </a:bodyPr>
          <a:lstStyle/>
          <a:p>
            <a:pPr algn="l">
              <a:lnSpc>
                <a:spcPct val="130000"/>
              </a:lnSpc>
              <a:spcAft>
                <a:spcPts val="0"/>
              </a:spcAft>
            </a:pPr>
            <a:r>
              <a:rPr sz="1100" b="0" i="0">
                <a:solidFill>
                  <a:srgbClr val="5A544E"/>
                </a:solidFill>
                <a:latin typeface="Segoe UI"/>
              </a:rPr>
              <a:t>Second and third agents in the same function, then across into HR. Credits pool across the account, so expansion is a budget change, not a new contract.</a:t>
            </a:r>
          </a:p>
        </p:txBody>
      </p:sp>
      <p:sp>
        <p:nvSpPr>
          <p:cNvPr id="24" name="Rectangle 23"/>
          <p:cNvSpPr/>
          <p:nvPr/>
        </p:nvSpPr>
        <p:spPr>
          <a:xfrm>
            <a:off x="8903741" y="2624328"/>
            <a:ext cx="2464993" cy="20574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03741" y="2624328"/>
            <a:ext cx="2464993" cy="32004"/>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04909" y="2862072"/>
            <a:ext cx="914400" cy="228600"/>
          </a:xfrm>
          <a:prstGeom prst="rect">
            <a:avLst/>
          </a:prstGeom>
          <a:noFill/>
        </p:spPr>
        <p:txBody>
          <a:bodyPr wrap="square" lIns="0" rIns="0" tIns="0" bIns="0" anchor="t">
            <a:spAutoFit/>
          </a:bodyPr>
          <a:lstStyle/>
          <a:p>
            <a:pPr algn="l">
              <a:spcAft>
                <a:spcPts val="0"/>
              </a:spcAft>
            </a:pPr>
            <a:r>
              <a:rPr sz="1100" b="0" i="0">
                <a:solidFill>
                  <a:srgbClr val="1F5390"/>
                </a:solidFill>
                <a:latin typeface="Consolas"/>
              </a:rPr>
              <a:t>04</a:t>
            </a:r>
          </a:p>
        </p:txBody>
      </p:sp>
      <p:sp>
        <p:nvSpPr>
          <p:cNvPr id="27" name="TextBox 26"/>
          <p:cNvSpPr txBox="1"/>
          <p:nvPr/>
        </p:nvSpPr>
        <p:spPr>
          <a:xfrm>
            <a:off x="9104909" y="3127248"/>
            <a:ext cx="2062657"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Anchor</a:t>
            </a:r>
          </a:p>
        </p:txBody>
      </p:sp>
      <p:sp>
        <p:nvSpPr>
          <p:cNvPr id="28" name="TextBox 27"/>
          <p:cNvSpPr txBox="1"/>
          <p:nvPr/>
        </p:nvSpPr>
        <p:spPr>
          <a:xfrm>
            <a:off x="9104909" y="3465576"/>
            <a:ext cx="2062657" cy="1097280"/>
          </a:xfrm>
          <a:prstGeom prst="rect">
            <a:avLst/>
          </a:prstGeom>
          <a:noFill/>
        </p:spPr>
        <p:txBody>
          <a:bodyPr wrap="square" lIns="0" rIns="0" tIns="0" bIns="0" anchor="t">
            <a:spAutoFit/>
          </a:bodyPr>
          <a:lstStyle/>
          <a:p>
            <a:pPr algn="l">
              <a:lnSpc>
                <a:spcPct val="130000"/>
              </a:lnSpc>
              <a:spcAft>
                <a:spcPts val="0"/>
              </a:spcAft>
            </a:pPr>
            <a:r>
              <a:rPr sz="1100" b="0" i="0">
                <a:solidFill>
                  <a:srgbClr val="5A544E"/>
                </a:solidFill>
                <a:latin typeface="Segoe UI"/>
              </a:rPr>
              <a:t>The Registry becomes the system of record for every agent the enterprise runs — including competitors' agents. That is the renewal lock.</a:t>
            </a:r>
          </a:p>
        </p:txBody>
      </p:sp>
      <p:sp>
        <p:nvSpPr>
          <p:cNvPr id="29" name="TextBox 28"/>
          <p:cNvSpPr txBox="1"/>
          <p:nvPr/>
        </p:nvSpPr>
        <p:spPr>
          <a:xfrm>
            <a:off x="822960" y="4956048"/>
            <a:ext cx="10545775" cy="640080"/>
          </a:xfrm>
          <a:prstGeom prst="rect">
            <a:avLst/>
          </a:prstGeom>
          <a:noFill/>
        </p:spPr>
        <p:txBody>
          <a:bodyPr wrap="square" lIns="0" rIns="0" tIns="0" bIns="0" anchor="t">
            <a:spAutoFit/>
          </a:bodyPr>
          <a:lstStyle/>
          <a:p>
            <a:pPr algn="l">
              <a:lnSpc>
                <a:spcPct val="132000"/>
              </a:lnSpc>
              <a:spcAft>
                <a:spcPts val="0"/>
              </a:spcAft>
            </a:pPr>
            <a:r>
              <a:rPr sz="1300" b="0" i="0">
                <a:solidFill>
                  <a:srgbClr val="5A544E"/>
                </a:solidFill>
                <a:latin typeface="Segoe UI"/>
              </a:rPr>
              <a:t>First motion is founder-led, direct to the CFO organisation, because the first ten deals are about learning what the measurement plan must say — not about volume.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COMPETITION</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Three groups will come at this, and each has a structural gap.</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We are not claiming they cannot move. We are claiming what they would have to give up to.</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15</a:t>
            </a:r>
          </a:p>
        </p:txBody>
      </p:sp>
      <p:sp>
        <p:nvSpPr>
          <p:cNvPr id="9" name="Rectangle 8"/>
          <p:cNvSpPr/>
          <p:nvPr/>
        </p:nvSpPr>
        <p:spPr>
          <a:xfrm>
            <a:off x="822960" y="2624328"/>
            <a:ext cx="10545775"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2432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953512"/>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2715768"/>
            <a:ext cx="228600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WHO</a:t>
            </a:r>
          </a:p>
        </p:txBody>
      </p:sp>
      <p:sp>
        <p:nvSpPr>
          <p:cNvPr id="13" name="TextBox 12"/>
          <p:cNvSpPr txBox="1"/>
          <p:nvPr/>
        </p:nvSpPr>
        <p:spPr>
          <a:xfrm>
            <a:off x="3419856" y="2715768"/>
            <a:ext cx="25603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WHAT THEY HAVE</a:t>
            </a:r>
          </a:p>
        </p:txBody>
      </p:sp>
      <p:sp>
        <p:nvSpPr>
          <p:cNvPr id="14" name="TextBox 13"/>
          <p:cNvSpPr txBox="1"/>
          <p:nvPr/>
        </p:nvSpPr>
        <p:spPr>
          <a:xfrm>
            <a:off x="6163056" y="2715768"/>
            <a:ext cx="34747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STRUCTURAL GAP</a:t>
            </a:r>
          </a:p>
        </p:txBody>
      </p:sp>
      <p:sp>
        <p:nvSpPr>
          <p:cNvPr id="15" name="TextBox 14"/>
          <p:cNvSpPr txBox="1"/>
          <p:nvPr/>
        </p:nvSpPr>
        <p:spPr>
          <a:xfrm>
            <a:off x="9820656" y="2715768"/>
            <a:ext cx="1490472"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OUR POSITION</a:t>
            </a:r>
          </a:p>
        </p:txBody>
      </p:sp>
      <p:sp>
        <p:nvSpPr>
          <p:cNvPr id="16" name="TextBox 15"/>
          <p:cNvSpPr txBox="1"/>
          <p:nvPr/>
        </p:nvSpPr>
        <p:spPr>
          <a:xfrm>
            <a:off x="950976" y="3054096"/>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HCM and ERP incumbents</a:t>
            </a:r>
          </a:p>
        </p:txBody>
      </p:sp>
      <p:sp>
        <p:nvSpPr>
          <p:cNvPr id="17" name="TextBox 16"/>
          <p:cNvSpPr txBox="1"/>
          <p:nvPr/>
        </p:nvSpPr>
        <p:spPr>
          <a:xfrm>
            <a:off x="3419856" y="3054096"/>
            <a:ext cx="25603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The data, the install base, the budget line</a:t>
            </a:r>
          </a:p>
        </p:txBody>
      </p:sp>
      <p:sp>
        <p:nvSpPr>
          <p:cNvPr id="18" name="TextBox 17"/>
          <p:cNvSpPr txBox="1"/>
          <p:nvPr/>
        </p:nvSpPr>
        <p:spPr>
          <a:xfrm>
            <a:off x="6163056" y="3054096"/>
            <a:ext cx="34747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Agents are a feature that protects the suite; they will not govern a rival's agent</a:t>
            </a:r>
          </a:p>
        </p:txBody>
      </p:sp>
      <p:sp>
        <p:nvSpPr>
          <p:cNvPr id="19" name="TextBox 18"/>
          <p:cNvSpPr txBox="1"/>
          <p:nvPr/>
        </p:nvSpPr>
        <p:spPr>
          <a:xfrm>
            <a:off x="9820656" y="3054096"/>
            <a:ext cx="1490472"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Neutral registry across vendors</a:t>
            </a:r>
          </a:p>
        </p:txBody>
      </p:sp>
      <p:sp>
        <p:nvSpPr>
          <p:cNvPr id="20" name="Rectangle 19"/>
          <p:cNvSpPr/>
          <p:nvPr/>
        </p:nvSpPr>
        <p:spPr>
          <a:xfrm>
            <a:off x="822960" y="364845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3749040"/>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Horizontal agent platforms</a:t>
            </a:r>
          </a:p>
        </p:txBody>
      </p:sp>
      <p:sp>
        <p:nvSpPr>
          <p:cNvPr id="22" name="TextBox 21"/>
          <p:cNvSpPr txBox="1"/>
          <p:nvPr/>
        </p:nvSpPr>
        <p:spPr>
          <a:xfrm>
            <a:off x="3419856" y="3749040"/>
            <a:ext cx="25603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Model access, developer mindshare, capital</a:t>
            </a:r>
          </a:p>
        </p:txBody>
      </p:sp>
      <p:sp>
        <p:nvSpPr>
          <p:cNvPr id="23" name="TextBox 22"/>
          <p:cNvSpPr txBox="1"/>
          <p:nvPr/>
        </p:nvSpPr>
        <p:spPr>
          <a:xfrm>
            <a:off x="6163056" y="3749040"/>
            <a:ext cx="34747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No HR or finance domain model; governance is generic, not workflow-specific</a:t>
            </a:r>
          </a:p>
        </p:txBody>
      </p:sp>
      <p:sp>
        <p:nvSpPr>
          <p:cNvPr id="24" name="TextBox 23"/>
          <p:cNvSpPr txBox="1"/>
          <p:nvPr/>
        </p:nvSpPr>
        <p:spPr>
          <a:xfrm>
            <a:off x="9820656" y="3749040"/>
            <a:ext cx="1490472"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Domain depth and named outcomes</a:t>
            </a:r>
          </a:p>
        </p:txBody>
      </p:sp>
      <p:sp>
        <p:nvSpPr>
          <p:cNvPr id="25" name="Rectangle 24"/>
          <p:cNvSpPr/>
          <p:nvPr/>
        </p:nvSpPr>
        <p:spPr>
          <a:xfrm>
            <a:off x="822960" y="434340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 y="4443984"/>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Point AI tools</a:t>
            </a:r>
          </a:p>
        </p:txBody>
      </p:sp>
      <p:sp>
        <p:nvSpPr>
          <p:cNvPr id="27" name="TextBox 26"/>
          <p:cNvSpPr txBox="1"/>
          <p:nvPr/>
        </p:nvSpPr>
        <p:spPr>
          <a:xfrm>
            <a:off x="3419856" y="4443984"/>
            <a:ext cx="25603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A single sharp workflow, fast to buy</a:t>
            </a:r>
          </a:p>
        </p:txBody>
      </p:sp>
      <p:sp>
        <p:nvSpPr>
          <p:cNvPr id="28" name="TextBox 27"/>
          <p:cNvSpPr txBox="1"/>
          <p:nvPr/>
        </p:nvSpPr>
        <p:spPr>
          <a:xfrm>
            <a:off x="6163056" y="4443984"/>
            <a:ext cx="34747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One workflow each; the enterprise ends up with ungoverned sprawl</a:t>
            </a:r>
          </a:p>
        </p:txBody>
      </p:sp>
      <p:sp>
        <p:nvSpPr>
          <p:cNvPr id="29" name="TextBox 28"/>
          <p:cNvSpPr txBox="1"/>
          <p:nvPr/>
        </p:nvSpPr>
        <p:spPr>
          <a:xfrm>
            <a:off x="9820656" y="4443984"/>
            <a:ext cx="1490472"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We are what governs the sprawl</a:t>
            </a:r>
          </a:p>
        </p:txBody>
      </p:sp>
      <p:sp>
        <p:nvSpPr>
          <p:cNvPr id="30" name="Rectangle 29"/>
          <p:cNvSpPr/>
          <p:nvPr/>
        </p:nvSpPr>
        <p:spPr>
          <a:xfrm>
            <a:off x="822960" y="503834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 y="5138928"/>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Status quo: consultants and recovery audits</a:t>
            </a:r>
          </a:p>
        </p:txBody>
      </p:sp>
      <p:sp>
        <p:nvSpPr>
          <p:cNvPr id="32" name="TextBox 31"/>
          <p:cNvSpPr txBox="1"/>
          <p:nvPr/>
        </p:nvSpPr>
        <p:spPr>
          <a:xfrm>
            <a:off x="3419856" y="5138928"/>
            <a:ext cx="25603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Trusted, outcome-priced, no IT project</a:t>
            </a:r>
          </a:p>
        </p:txBody>
      </p:sp>
      <p:sp>
        <p:nvSpPr>
          <p:cNvPr id="33" name="TextBox 32"/>
          <p:cNvSpPr txBox="1"/>
          <p:nvPr/>
        </p:nvSpPr>
        <p:spPr>
          <a:xfrm>
            <a:off x="6163056" y="5138928"/>
            <a:ext cx="347472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Retrospective and sampled; finds problems after the money moved</a:t>
            </a:r>
          </a:p>
        </p:txBody>
      </p:sp>
      <p:sp>
        <p:nvSpPr>
          <p:cNvPr id="34" name="TextBox 33"/>
          <p:cNvSpPr txBox="1"/>
          <p:nvPr/>
        </p:nvSpPr>
        <p:spPr>
          <a:xfrm>
            <a:off x="9820656" y="5138928"/>
            <a:ext cx="1490472"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Prevention instead of recovery</a:t>
            </a:r>
          </a:p>
        </p:txBody>
      </p:sp>
      <p:sp>
        <p:nvSpPr>
          <p:cNvPr id="35" name="Rectangle 34"/>
          <p:cNvSpPr/>
          <p:nvPr/>
        </p:nvSpPr>
        <p:spPr>
          <a:xfrm>
            <a:off x="822960" y="573328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DILIGENCE</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The five questions you are going to ask.</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Answered directly, including where the answer is currently weak.</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16</a:t>
            </a:r>
          </a:p>
        </p:txBody>
      </p:sp>
      <p:sp>
        <p:nvSpPr>
          <p:cNvPr id="9" name="TextBox 8"/>
          <p:cNvSpPr txBox="1"/>
          <p:nvPr/>
        </p:nvSpPr>
        <p:spPr>
          <a:xfrm>
            <a:off x="822960" y="2167128"/>
            <a:ext cx="4206240" cy="237744"/>
          </a:xfrm>
          <a:prstGeom prst="rect">
            <a:avLst/>
          </a:prstGeom>
          <a:noFill/>
        </p:spPr>
        <p:txBody>
          <a:bodyPr wrap="square" lIns="0" rIns="0" tIns="0" bIns="0" anchor="t">
            <a:spAutoFit/>
          </a:bodyPr>
          <a:lstStyle/>
          <a:p>
            <a:pPr algn="l">
              <a:lnSpc>
                <a:spcPct val="125000"/>
              </a:lnSpc>
              <a:spcAft>
                <a:spcPts val="0"/>
              </a:spcAft>
            </a:pPr>
            <a:r>
              <a:rPr sz="1250" b="1" i="0">
                <a:solidFill>
                  <a:srgbClr val="1C1712"/>
                </a:solidFill>
                <a:latin typeface="Segoe UI"/>
              </a:rPr>
              <a:t>What happens when a frontier lab ships this?</a:t>
            </a:r>
          </a:p>
        </p:txBody>
      </p:sp>
      <p:sp>
        <p:nvSpPr>
          <p:cNvPr id="10" name="TextBox 9"/>
          <p:cNvSpPr txBox="1"/>
          <p:nvPr/>
        </p:nvSpPr>
        <p:spPr>
          <a:xfrm>
            <a:off x="5303520" y="2167128"/>
            <a:ext cx="6065215" cy="713232"/>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They ship capability; we ship the enterprise's record of who owns what. Model-agnostic by design — a better model makes our agents better, not redundant.</a:t>
            </a:r>
          </a:p>
        </p:txBody>
      </p:sp>
      <p:sp>
        <p:nvSpPr>
          <p:cNvPr id="11" name="Rectangle 10"/>
          <p:cNvSpPr/>
          <p:nvPr/>
        </p:nvSpPr>
        <p:spPr>
          <a:xfrm>
            <a:off x="822960" y="294436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063240"/>
            <a:ext cx="4206240" cy="237744"/>
          </a:xfrm>
          <a:prstGeom prst="rect">
            <a:avLst/>
          </a:prstGeom>
          <a:noFill/>
        </p:spPr>
        <p:txBody>
          <a:bodyPr wrap="square" lIns="0" rIns="0" tIns="0" bIns="0" anchor="t">
            <a:spAutoFit/>
          </a:bodyPr>
          <a:lstStyle/>
          <a:p>
            <a:pPr algn="l">
              <a:lnSpc>
                <a:spcPct val="125000"/>
              </a:lnSpc>
              <a:spcAft>
                <a:spcPts val="0"/>
              </a:spcAft>
            </a:pPr>
            <a:r>
              <a:rPr sz="1250" b="1" i="0">
                <a:solidFill>
                  <a:srgbClr val="1C1712"/>
                </a:solidFill>
                <a:latin typeface="Segoe UI"/>
              </a:rPr>
              <a:t>What is the model strategy?</a:t>
            </a:r>
          </a:p>
        </p:txBody>
      </p:sp>
      <p:sp>
        <p:nvSpPr>
          <p:cNvPr id="13" name="TextBox 12"/>
          <p:cNvSpPr txBox="1"/>
          <p:nvPr/>
        </p:nvSpPr>
        <p:spPr>
          <a:xfrm>
            <a:off x="5303520" y="3063240"/>
            <a:ext cx="6065215" cy="475488"/>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Bring your own. Controls sit below the model, so customers can switch providers without renegotiating governance. No dependency on one lab's roadmap.</a:t>
            </a:r>
          </a:p>
        </p:txBody>
      </p:sp>
      <p:sp>
        <p:nvSpPr>
          <p:cNvPr id="14" name="Rectangle 13"/>
          <p:cNvSpPr/>
          <p:nvPr/>
        </p:nvSpPr>
        <p:spPr>
          <a:xfrm>
            <a:off x="822960" y="362102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739896"/>
            <a:ext cx="4206240" cy="237744"/>
          </a:xfrm>
          <a:prstGeom prst="rect">
            <a:avLst/>
          </a:prstGeom>
          <a:noFill/>
        </p:spPr>
        <p:txBody>
          <a:bodyPr wrap="square" lIns="0" rIns="0" tIns="0" bIns="0" anchor="t">
            <a:spAutoFit/>
          </a:bodyPr>
          <a:lstStyle/>
          <a:p>
            <a:pPr algn="l">
              <a:lnSpc>
                <a:spcPct val="125000"/>
              </a:lnSpc>
              <a:spcAft>
                <a:spcPts val="0"/>
              </a:spcAft>
            </a:pPr>
            <a:r>
              <a:rPr sz="1250" b="1" i="0">
                <a:solidFill>
                  <a:srgbClr val="1C1712"/>
                </a:solidFill>
                <a:latin typeface="Segoe UI"/>
              </a:rPr>
              <a:t>Where is the data flywheel?</a:t>
            </a:r>
          </a:p>
        </p:txBody>
      </p:sp>
      <p:sp>
        <p:nvSpPr>
          <p:cNvPr id="16" name="TextBox 15"/>
          <p:cNvSpPr txBox="1"/>
          <p:nvPr/>
        </p:nvSpPr>
        <p:spPr>
          <a:xfrm>
            <a:off x="5303520" y="3739896"/>
            <a:ext cx="6065215" cy="713232"/>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Honest answer: not yet. It comes from approval decisions — which exceptions humans accept or reject, per workflow, per customer. That is proprietary and compounding, and it requires customers we do not have.</a:t>
            </a:r>
          </a:p>
        </p:txBody>
      </p:sp>
      <p:sp>
        <p:nvSpPr>
          <p:cNvPr id="17" name="Rectangle 16"/>
          <p:cNvSpPr/>
          <p:nvPr/>
        </p:nvSpPr>
        <p:spPr>
          <a:xfrm>
            <a:off x="822960" y="451713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636008"/>
            <a:ext cx="4206240" cy="237744"/>
          </a:xfrm>
          <a:prstGeom prst="rect">
            <a:avLst/>
          </a:prstGeom>
          <a:noFill/>
        </p:spPr>
        <p:txBody>
          <a:bodyPr wrap="square" lIns="0" rIns="0" tIns="0" bIns="0" anchor="t">
            <a:spAutoFit/>
          </a:bodyPr>
          <a:lstStyle/>
          <a:p>
            <a:pPr algn="l">
              <a:lnSpc>
                <a:spcPct val="125000"/>
              </a:lnSpc>
              <a:spcAft>
                <a:spcPts val="0"/>
              </a:spcAft>
            </a:pPr>
            <a:r>
              <a:rPr sz="1250" b="1" i="0">
                <a:solidFill>
                  <a:srgbClr val="1C1712"/>
                </a:solidFill>
                <a:latin typeface="Segoe UI"/>
              </a:rPr>
              <a:t>How do you handle hallucination?</a:t>
            </a:r>
          </a:p>
        </p:txBody>
      </p:sp>
      <p:sp>
        <p:nvSpPr>
          <p:cNvPr id="19" name="TextBox 18"/>
          <p:cNvSpPr txBox="1"/>
          <p:nvPr/>
        </p:nvSpPr>
        <p:spPr>
          <a:xfrm>
            <a:off x="5303520" y="4636008"/>
            <a:ext cx="6065215" cy="713232"/>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Scope plus approval. Agents act on structured records, not free text, and anything consequential stops at a person. A wrong suggestion costs a review, not a payment.</a:t>
            </a:r>
          </a:p>
        </p:txBody>
      </p:sp>
      <p:sp>
        <p:nvSpPr>
          <p:cNvPr id="20" name="Rectangle 19"/>
          <p:cNvSpPr/>
          <p:nvPr/>
        </p:nvSpPr>
        <p:spPr>
          <a:xfrm>
            <a:off x="822960" y="541324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532120"/>
            <a:ext cx="4206240" cy="237744"/>
          </a:xfrm>
          <a:prstGeom prst="rect">
            <a:avLst/>
          </a:prstGeom>
          <a:noFill/>
        </p:spPr>
        <p:txBody>
          <a:bodyPr wrap="square" lIns="0" rIns="0" tIns="0" bIns="0" anchor="t">
            <a:spAutoFit/>
          </a:bodyPr>
          <a:lstStyle/>
          <a:p>
            <a:pPr algn="l">
              <a:lnSpc>
                <a:spcPct val="125000"/>
              </a:lnSpc>
              <a:spcAft>
                <a:spcPts val="0"/>
              </a:spcAft>
            </a:pPr>
            <a:r>
              <a:rPr sz="1250" b="1" i="0">
                <a:solidFill>
                  <a:srgbClr val="1C1712"/>
                </a:solidFill>
                <a:latin typeface="Segoe UI"/>
              </a:rPr>
              <a:t>What is the gross margin after inference?</a:t>
            </a:r>
          </a:p>
        </p:txBody>
      </p:sp>
      <p:sp>
        <p:nvSpPr>
          <p:cNvPr id="22" name="TextBox 21"/>
          <p:cNvSpPr txBox="1"/>
          <p:nvPr/>
        </p:nvSpPr>
        <p:spPr>
          <a:xfrm>
            <a:off x="5303520" y="5532120"/>
            <a:ext cx="6065215" cy="713232"/>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Credits are priced per completed action, so inference is a variable cost inside a metered unit. Margin discipline is a pricing input, not an afterthought — but it is unproven until real volume runs.</a:t>
            </a:r>
          </a:p>
        </p:txBody>
      </p:sp>
      <p:sp>
        <p:nvSpPr>
          <p:cNvPr id="23" name="Rectangle 22"/>
          <p:cNvSpPr/>
          <p:nvPr/>
        </p:nvSpPr>
        <p:spPr>
          <a:xfrm>
            <a:off x="822960" y="630936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BUSINESS MODEL</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Credits, not seats. You pay for work finished.</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The market has already moved this way; we are shaped for it rather than retrofitting.</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17</a:t>
            </a:r>
          </a:p>
        </p:txBody>
      </p:sp>
      <p:sp>
        <p:nvSpPr>
          <p:cNvPr id="9" name="Rectangle 8"/>
          <p:cNvSpPr/>
          <p:nvPr/>
        </p:nvSpPr>
        <p:spPr>
          <a:xfrm>
            <a:off x="822960" y="2167128"/>
            <a:ext cx="6035040"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67128"/>
            <a:ext cx="603504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496312"/>
            <a:ext cx="603504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2258568"/>
            <a:ext cx="16459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PLAN</a:t>
            </a:r>
          </a:p>
        </p:txBody>
      </p:sp>
      <p:sp>
        <p:nvSpPr>
          <p:cNvPr id="13" name="TextBox 12"/>
          <p:cNvSpPr txBox="1"/>
          <p:nvPr/>
        </p:nvSpPr>
        <p:spPr>
          <a:xfrm>
            <a:off x="2779776" y="2258568"/>
            <a:ext cx="11887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MONTHLY</a:t>
            </a:r>
          </a:p>
        </p:txBody>
      </p:sp>
      <p:sp>
        <p:nvSpPr>
          <p:cNvPr id="14" name="TextBox 13"/>
          <p:cNvSpPr txBox="1"/>
          <p:nvPr/>
        </p:nvSpPr>
        <p:spPr>
          <a:xfrm>
            <a:off x="4151376" y="2258568"/>
            <a:ext cx="11887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ANNUAL</a:t>
            </a:r>
          </a:p>
        </p:txBody>
      </p:sp>
      <p:sp>
        <p:nvSpPr>
          <p:cNvPr id="15" name="TextBox 14"/>
          <p:cNvSpPr txBox="1"/>
          <p:nvPr/>
        </p:nvSpPr>
        <p:spPr>
          <a:xfrm>
            <a:off x="5522976" y="2258568"/>
            <a:ext cx="128016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CREDITS / MO</a:t>
            </a:r>
          </a:p>
        </p:txBody>
      </p:sp>
      <p:sp>
        <p:nvSpPr>
          <p:cNvPr id="16" name="TextBox 15"/>
          <p:cNvSpPr txBox="1"/>
          <p:nvPr/>
        </p:nvSpPr>
        <p:spPr>
          <a:xfrm>
            <a:off x="950976" y="2596896"/>
            <a:ext cx="1645920" cy="274320"/>
          </a:xfrm>
          <a:prstGeom prst="rect">
            <a:avLst/>
          </a:prstGeom>
          <a:noFill/>
        </p:spPr>
        <p:txBody>
          <a:bodyPr wrap="square" lIns="0" rIns="0" tIns="0" bIns="0" anchor="t">
            <a:spAutoFit/>
          </a:bodyPr>
          <a:lstStyle/>
          <a:p>
            <a:pPr algn="l">
              <a:spcAft>
                <a:spcPts val="0"/>
              </a:spcAft>
            </a:pPr>
            <a:r>
              <a:rPr sz="1250" b="0" i="0">
                <a:solidFill>
                  <a:srgbClr val="1C1712"/>
                </a:solidFill>
                <a:latin typeface="Segoe UI"/>
              </a:rPr>
              <a:t>Starter</a:t>
            </a:r>
          </a:p>
        </p:txBody>
      </p:sp>
      <p:sp>
        <p:nvSpPr>
          <p:cNvPr id="17" name="TextBox 16"/>
          <p:cNvSpPr txBox="1"/>
          <p:nvPr/>
        </p:nvSpPr>
        <p:spPr>
          <a:xfrm>
            <a:off x="2779776" y="2596896"/>
            <a:ext cx="1188720" cy="274320"/>
          </a:xfrm>
          <a:prstGeom prst="rect">
            <a:avLst/>
          </a:prstGeom>
          <a:noFill/>
        </p:spPr>
        <p:txBody>
          <a:bodyPr wrap="square" lIns="0" rIns="0" tIns="0" bIns="0" anchor="t">
            <a:spAutoFit/>
          </a:bodyPr>
          <a:lstStyle/>
          <a:p>
            <a:pPr algn="l">
              <a:spcAft>
                <a:spcPts val="0"/>
              </a:spcAft>
            </a:pPr>
            <a:r>
              <a:rPr sz="1250" b="0" i="0">
                <a:solidFill>
                  <a:srgbClr val="5A544E"/>
                </a:solidFill>
                <a:latin typeface="Segoe UI"/>
              </a:rPr>
              <a:t>$499</a:t>
            </a:r>
          </a:p>
        </p:txBody>
      </p:sp>
      <p:sp>
        <p:nvSpPr>
          <p:cNvPr id="18" name="TextBox 17"/>
          <p:cNvSpPr txBox="1"/>
          <p:nvPr/>
        </p:nvSpPr>
        <p:spPr>
          <a:xfrm>
            <a:off x="4151376" y="2596896"/>
            <a:ext cx="1188720" cy="274320"/>
          </a:xfrm>
          <a:prstGeom prst="rect">
            <a:avLst/>
          </a:prstGeom>
          <a:noFill/>
        </p:spPr>
        <p:txBody>
          <a:bodyPr wrap="square" lIns="0" rIns="0" tIns="0" bIns="0" anchor="t">
            <a:spAutoFit/>
          </a:bodyPr>
          <a:lstStyle/>
          <a:p>
            <a:pPr algn="l">
              <a:spcAft>
                <a:spcPts val="0"/>
              </a:spcAft>
            </a:pPr>
            <a:r>
              <a:rPr sz="1250" b="0" i="0">
                <a:solidFill>
                  <a:srgbClr val="5A544E"/>
                </a:solidFill>
                <a:latin typeface="Segoe UI"/>
              </a:rPr>
              <a:t>$399</a:t>
            </a:r>
          </a:p>
        </p:txBody>
      </p:sp>
      <p:sp>
        <p:nvSpPr>
          <p:cNvPr id="19" name="TextBox 18"/>
          <p:cNvSpPr txBox="1"/>
          <p:nvPr/>
        </p:nvSpPr>
        <p:spPr>
          <a:xfrm>
            <a:off x="5522976" y="2596896"/>
            <a:ext cx="1280160" cy="274320"/>
          </a:xfrm>
          <a:prstGeom prst="rect">
            <a:avLst/>
          </a:prstGeom>
          <a:noFill/>
        </p:spPr>
        <p:txBody>
          <a:bodyPr wrap="square" lIns="0" rIns="0" tIns="0" bIns="0" anchor="t">
            <a:spAutoFit/>
          </a:bodyPr>
          <a:lstStyle/>
          <a:p>
            <a:pPr algn="l">
              <a:spcAft>
                <a:spcPts val="0"/>
              </a:spcAft>
            </a:pPr>
            <a:r>
              <a:rPr sz="1250" b="0" i="0">
                <a:solidFill>
                  <a:srgbClr val="1C1712"/>
                </a:solidFill>
                <a:latin typeface="Segoe UI"/>
              </a:rPr>
              <a:t>5,000</a:t>
            </a:r>
          </a:p>
        </p:txBody>
      </p:sp>
      <p:sp>
        <p:nvSpPr>
          <p:cNvPr id="20" name="Rectangle 19"/>
          <p:cNvSpPr/>
          <p:nvPr/>
        </p:nvSpPr>
        <p:spPr>
          <a:xfrm>
            <a:off x="822960" y="2916936"/>
            <a:ext cx="603504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3017520"/>
            <a:ext cx="1645920" cy="274320"/>
          </a:xfrm>
          <a:prstGeom prst="rect">
            <a:avLst/>
          </a:prstGeom>
          <a:noFill/>
        </p:spPr>
        <p:txBody>
          <a:bodyPr wrap="square" lIns="0" rIns="0" tIns="0" bIns="0" anchor="t">
            <a:spAutoFit/>
          </a:bodyPr>
          <a:lstStyle/>
          <a:p>
            <a:pPr algn="l">
              <a:spcAft>
                <a:spcPts val="0"/>
              </a:spcAft>
            </a:pPr>
            <a:r>
              <a:rPr sz="1250" b="0" i="0">
                <a:solidFill>
                  <a:srgbClr val="1C1712"/>
                </a:solidFill>
                <a:latin typeface="Segoe UI"/>
              </a:rPr>
              <a:t>Growth</a:t>
            </a:r>
          </a:p>
        </p:txBody>
      </p:sp>
      <p:sp>
        <p:nvSpPr>
          <p:cNvPr id="22" name="TextBox 21"/>
          <p:cNvSpPr txBox="1"/>
          <p:nvPr/>
        </p:nvSpPr>
        <p:spPr>
          <a:xfrm>
            <a:off x="2779776" y="3017520"/>
            <a:ext cx="1188720" cy="274320"/>
          </a:xfrm>
          <a:prstGeom prst="rect">
            <a:avLst/>
          </a:prstGeom>
          <a:noFill/>
        </p:spPr>
        <p:txBody>
          <a:bodyPr wrap="square" lIns="0" rIns="0" tIns="0" bIns="0" anchor="t">
            <a:spAutoFit/>
          </a:bodyPr>
          <a:lstStyle/>
          <a:p>
            <a:pPr algn="l">
              <a:spcAft>
                <a:spcPts val="0"/>
              </a:spcAft>
            </a:pPr>
            <a:r>
              <a:rPr sz="1250" b="0" i="0">
                <a:solidFill>
                  <a:srgbClr val="5A544E"/>
                </a:solidFill>
                <a:latin typeface="Segoe UI"/>
              </a:rPr>
              <a:t>$2,499</a:t>
            </a:r>
          </a:p>
        </p:txBody>
      </p:sp>
      <p:sp>
        <p:nvSpPr>
          <p:cNvPr id="23" name="TextBox 22"/>
          <p:cNvSpPr txBox="1"/>
          <p:nvPr/>
        </p:nvSpPr>
        <p:spPr>
          <a:xfrm>
            <a:off x="4151376" y="3017520"/>
            <a:ext cx="1188720" cy="274320"/>
          </a:xfrm>
          <a:prstGeom prst="rect">
            <a:avLst/>
          </a:prstGeom>
          <a:noFill/>
        </p:spPr>
        <p:txBody>
          <a:bodyPr wrap="square" lIns="0" rIns="0" tIns="0" bIns="0" anchor="t">
            <a:spAutoFit/>
          </a:bodyPr>
          <a:lstStyle/>
          <a:p>
            <a:pPr algn="l">
              <a:spcAft>
                <a:spcPts val="0"/>
              </a:spcAft>
            </a:pPr>
            <a:r>
              <a:rPr sz="1250" b="0" i="0">
                <a:solidFill>
                  <a:srgbClr val="5A544E"/>
                </a:solidFill>
                <a:latin typeface="Segoe UI"/>
              </a:rPr>
              <a:t>$1,999</a:t>
            </a:r>
          </a:p>
        </p:txBody>
      </p:sp>
      <p:sp>
        <p:nvSpPr>
          <p:cNvPr id="24" name="TextBox 23"/>
          <p:cNvSpPr txBox="1"/>
          <p:nvPr/>
        </p:nvSpPr>
        <p:spPr>
          <a:xfrm>
            <a:off x="5522976" y="3017520"/>
            <a:ext cx="1280160" cy="274320"/>
          </a:xfrm>
          <a:prstGeom prst="rect">
            <a:avLst/>
          </a:prstGeom>
          <a:noFill/>
        </p:spPr>
        <p:txBody>
          <a:bodyPr wrap="square" lIns="0" rIns="0" tIns="0" bIns="0" anchor="t">
            <a:spAutoFit/>
          </a:bodyPr>
          <a:lstStyle/>
          <a:p>
            <a:pPr algn="l">
              <a:spcAft>
                <a:spcPts val="0"/>
              </a:spcAft>
            </a:pPr>
            <a:r>
              <a:rPr sz="1250" b="0" i="0">
                <a:solidFill>
                  <a:srgbClr val="1C1712"/>
                </a:solidFill>
                <a:latin typeface="Segoe UI"/>
              </a:rPr>
              <a:t>30,000</a:t>
            </a:r>
          </a:p>
        </p:txBody>
      </p:sp>
      <p:sp>
        <p:nvSpPr>
          <p:cNvPr id="25" name="Rectangle 24"/>
          <p:cNvSpPr/>
          <p:nvPr/>
        </p:nvSpPr>
        <p:spPr>
          <a:xfrm>
            <a:off x="822960" y="3337560"/>
            <a:ext cx="603504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 y="3438144"/>
            <a:ext cx="1645920" cy="274320"/>
          </a:xfrm>
          <a:prstGeom prst="rect">
            <a:avLst/>
          </a:prstGeom>
          <a:noFill/>
        </p:spPr>
        <p:txBody>
          <a:bodyPr wrap="square" lIns="0" rIns="0" tIns="0" bIns="0" anchor="t">
            <a:spAutoFit/>
          </a:bodyPr>
          <a:lstStyle/>
          <a:p>
            <a:pPr algn="l">
              <a:spcAft>
                <a:spcPts val="0"/>
              </a:spcAft>
            </a:pPr>
            <a:r>
              <a:rPr sz="1250" b="0" i="0">
                <a:solidFill>
                  <a:srgbClr val="1C1712"/>
                </a:solidFill>
                <a:latin typeface="Segoe UI"/>
              </a:rPr>
              <a:t>Enterprise</a:t>
            </a:r>
          </a:p>
        </p:txBody>
      </p:sp>
      <p:sp>
        <p:nvSpPr>
          <p:cNvPr id="27" name="TextBox 26"/>
          <p:cNvSpPr txBox="1"/>
          <p:nvPr/>
        </p:nvSpPr>
        <p:spPr>
          <a:xfrm>
            <a:off x="2779776" y="3438144"/>
            <a:ext cx="1188720" cy="274320"/>
          </a:xfrm>
          <a:prstGeom prst="rect">
            <a:avLst/>
          </a:prstGeom>
          <a:noFill/>
        </p:spPr>
        <p:txBody>
          <a:bodyPr wrap="square" lIns="0" rIns="0" tIns="0" bIns="0" anchor="t">
            <a:spAutoFit/>
          </a:bodyPr>
          <a:lstStyle/>
          <a:p>
            <a:pPr algn="l">
              <a:spcAft>
                <a:spcPts val="0"/>
              </a:spcAft>
            </a:pPr>
            <a:r>
              <a:rPr sz="1250" b="0" i="0">
                <a:solidFill>
                  <a:srgbClr val="5A544E"/>
                </a:solidFill>
                <a:latin typeface="Segoe UI"/>
              </a:rPr>
              <a:t>Custom</a:t>
            </a:r>
          </a:p>
        </p:txBody>
      </p:sp>
      <p:sp>
        <p:nvSpPr>
          <p:cNvPr id="28" name="TextBox 27"/>
          <p:cNvSpPr txBox="1"/>
          <p:nvPr/>
        </p:nvSpPr>
        <p:spPr>
          <a:xfrm>
            <a:off x="4151376" y="3438144"/>
            <a:ext cx="1188720" cy="274320"/>
          </a:xfrm>
          <a:prstGeom prst="rect">
            <a:avLst/>
          </a:prstGeom>
          <a:noFill/>
        </p:spPr>
        <p:txBody>
          <a:bodyPr wrap="square" lIns="0" rIns="0" tIns="0" bIns="0" anchor="t">
            <a:spAutoFit/>
          </a:bodyPr>
          <a:lstStyle/>
          <a:p>
            <a:pPr algn="l">
              <a:spcAft>
                <a:spcPts val="0"/>
              </a:spcAft>
            </a:pPr>
            <a:r>
              <a:rPr sz="1250" b="0" i="0">
                <a:solidFill>
                  <a:srgbClr val="5A544E"/>
                </a:solidFill>
                <a:latin typeface="Segoe UI"/>
              </a:rPr>
              <a:t>Custom</a:t>
            </a:r>
          </a:p>
        </p:txBody>
      </p:sp>
      <p:sp>
        <p:nvSpPr>
          <p:cNvPr id="29" name="TextBox 28"/>
          <p:cNvSpPr txBox="1"/>
          <p:nvPr/>
        </p:nvSpPr>
        <p:spPr>
          <a:xfrm>
            <a:off x="5522976" y="3438144"/>
            <a:ext cx="1280160" cy="274320"/>
          </a:xfrm>
          <a:prstGeom prst="rect">
            <a:avLst/>
          </a:prstGeom>
          <a:noFill/>
        </p:spPr>
        <p:txBody>
          <a:bodyPr wrap="square" lIns="0" rIns="0" tIns="0" bIns="0" anchor="t">
            <a:spAutoFit/>
          </a:bodyPr>
          <a:lstStyle/>
          <a:p>
            <a:pPr algn="l">
              <a:spcAft>
                <a:spcPts val="0"/>
              </a:spcAft>
            </a:pPr>
            <a:r>
              <a:rPr sz="1250" b="0" i="0">
                <a:solidFill>
                  <a:srgbClr val="1C1712"/>
                </a:solidFill>
                <a:latin typeface="Segoe UI"/>
              </a:rPr>
              <a:t>Pooled</a:t>
            </a:r>
          </a:p>
        </p:txBody>
      </p:sp>
      <p:sp>
        <p:nvSpPr>
          <p:cNvPr id="30" name="Rectangle 29"/>
          <p:cNvSpPr/>
          <p:nvPr/>
        </p:nvSpPr>
        <p:spPr>
          <a:xfrm>
            <a:off x="822960" y="3758184"/>
            <a:ext cx="603504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23760" y="2167128"/>
            <a:ext cx="4142232"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0" y="2167128"/>
            <a:ext cx="4142232"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223760" y="2496312"/>
            <a:ext cx="4142232"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51776" y="2258568"/>
            <a:ext cx="25603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WHAT A CREDIT BUYS</a:t>
            </a:r>
          </a:p>
        </p:txBody>
      </p:sp>
      <p:sp>
        <p:nvSpPr>
          <p:cNvPr id="35" name="TextBox 34"/>
          <p:cNvSpPr txBox="1"/>
          <p:nvPr/>
        </p:nvSpPr>
        <p:spPr>
          <a:xfrm>
            <a:off x="10094976" y="2258568"/>
            <a:ext cx="1216152"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CREDITS</a:t>
            </a:r>
          </a:p>
        </p:txBody>
      </p:sp>
      <p:sp>
        <p:nvSpPr>
          <p:cNvPr id="36" name="TextBox 35"/>
          <p:cNvSpPr txBox="1"/>
          <p:nvPr/>
        </p:nvSpPr>
        <p:spPr>
          <a:xfrm>
            <a:off x="7351776" y="2596896"/>
            <a:ext cx="25603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HR case resolved</a:t>
            </a:r>
          </a:p>
        </p:txBody>
      </p:sp>
      <p:sp>
        <p:nvSpPr>
          <p:cNvPr id="37" name="TextBox 36"/>
          <p:cNvSpPr txBox="1"/>
          <p:nvPr/>
        </p:nvSpPr>
        <p:spPr>
          <a:xfrm>
            <a:off x="10094976" y="2596896"/>
            <a:ext cx="12161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2</a:t>
            </a:r>
          </a:p>
        </p:txBody>
      </p:sp>
      <p:sp>
        <p:nvSpPr>
          <p:cNvPr id="38" name="Rectangle 37"/>
          <p:cNvSpPr/>
          <p:nvPr/>
        </p:nvSpPr>
        <p:spPr>
          <a:xfrm>
            <a:off x="7223760" y="2880360"/>
            <a:ext cx="4142232"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51776" y="2980944"/>
            <a:ext cx="25603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Candidate screened</a:t>
            </a:r>
          </a:p>
        </p:txBody>
      </p:sp>
      <p:sp>
        <p:nvSpPr>
          <p:cNvPr id="40" name="TextBox 39"/>
          <p:cNvSpPr txBox="1"/>
          <p:nvPr/>
        </p:nvSpPr>
        <p:spPr>
          <a:xfrm>
            <a:off x="10094976" y="2980944"/>
            <a:ext cx="12161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1</a:t>
            </a:r>
          </a:p>
        </p:txBody>
      </p:sp>
      <p:sp>
        <p:nvSpPr>
          <p:cNvPr id="41" name="Rectangle 40"/>
          <p:cNvSpPr/>
          <p:nvPr/>
        </p:nvSpPr>
        <p:spPr>
          <a:xfrm>
            <a:off x="7223760" y="3264408"/>
            <a:ext cx="4142232"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51776" y="3364992"/>
            <a:ext cx="25603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Invoice tested</a:t>
            </a:r>
          </a:p>
        </p:txBody>
      </p:sp>
      <p:sp>
        <p:nvSpPr>
          <p:cNvPr id="43" name="TextBox 42"/>
          <p:cNvSpPr txBox="1"/>
          <p:nvPr/>
        </p:nvSpPr>
        <p:spPr>
          <a:xfrm>
            <a:off x="10094976" y="3364992"/>
            <a:ext cx="12161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0.05</a:t>
            </a:r>
          </a:p>
        </p:txBody>
      </p:sp>
      <p:sp>
        <p:nvSpPr>
          <p:cNvPr id="44" name="Rectangle 43"/>
          <p:cNvSpPr/>
          <p:nvPr/>
        </p:nvSpPr>
        <p:spPr>
          <a:xfrm>
            <a:off x="7223760" y="3648456"/>
            <a:ext cx="4142232"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51776" y="3749040"/>
            <a:ext cx="25603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Contract redlined</a:t>
            </a:r>
          </a:p>
        </p:txBody>
      </p:sp>
      <p:sp>
        <p:nvSpPr>
          <p:cNvPr id="46" name="TextBox 45"/>
          <p:cNvSpPr txBox="1"/>
          <p:nvPr/>
        </p:nvSpPr>
        <p:spPr>
          <a:xfrm>
            <a:off x="10094976" y="3749040"/>
            <a:ext cx="1216152"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8</a:t>
            </a:r>
          </a:p>
        </p:txBody>
      </p:sp>
      <p:sp>
        <p:nvSpPr>
          <p:cNvPr id="47" name="Rectangle 46"/>
          <p:cNvSpPr/>
          <p:nvPr/>
        </p:nvSpPr>
        <p:spPr>
          <a:xfrm>
            <a:off x="7223760" y="4032504"/>
            <a:ext cx="4142232"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4315968"/>
            <a:ext cx="10545775" cy="960120"/>
          </a:xfrm>
          <a:prstGeom prst="rect">
            <a:avLst/>
          </a:prstGeom>
          <a:solidFill>
            <a:srgbClr val="E7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97280" y="4498848"/>
            <a:ext cx="9997135" cy="640080"/>
          </a:xfrm>
          <a:prstGeom prst="rect">
            <a:avLst/>
          </a:prstGeom>
          <a:noFill/>
        </p:spPr>
        <p:txBody>
          <a:bodyPr wrap="square" lIns="0" rIns="0" tIns="0" bIns="0" anchor="t">
            <a:spAutoFit/>
          </a:bodyPr>
          <a:lstStyle/>
          <a:p>
            <a:pPr algn="l">
              <a:lnSpc>
                <a:spcPct val="130000"/>
              </a:lnSpc>
              <a:spcAft>
                <a:spcPts val="0"/>
              </a:spcAft>
            </a:pPr>
            <a:r>
              <a:rPr sz="1300" b="1" i="0">
                <a:solidFill>
                  <a:srgbClr val="1C1712"/>
                </a:solidFill>
                <a:latin typeface="Segoe UI"/>
              </a:rPr>
              <a:t>Why this shape wins: </a:t>
            </a:r>
            <a:r>
              <a:rPr sz="1300" b="0" i="0">
                <a:solidFill>
                  <a:srgbClr val="5A544E"/>
                </a:solidFill>
                <a:latin typeface="Segoe UI"/>
              </a:rPr>
              <a:t>a subscription presentation layer the customer budgets against, on a metered settlement layer that tracks cost to serve. That is the architecture the AI agent market converged on in 2026. Overage is $0.12 per credit.</a:t>
            </a:r>
          </a:p>
        </p:txBody>
      </p:sp>
      <p:sp>
        <p:nvSpPr>
          <p:cNvPr id="50" name="TextBox 49"/>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Pricing is implemented in the live product, including a working calculator. Source on market convergence: SaaS and AI agent pricing analyses,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UNIT ECONOMICS</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The shape of a Growth account, modelled.</a:t>
            </a:r>
          </a:p>
        </p:txBody>
      </p:sp>
      <p:sp>
        <p:nvSpPr>
          <p:cNvPr id="5" name="TextBox 4"/>
          <p:cNvSpPr txBox="1"/>
          <p:nvPr/>
        </p:nvSpPr>
        <p:spPr>
          <a:xfrm>
            <a:off x="822960" y="14447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These are illustrative calculations from published rates and our own pricing — not observed results. We have no customers yet.</a:t>
            </a:r>
          </a:p>
        </p:txBody>
      </p:sp>
      <p:sp>
        <p:nvSpPr>
          <p:cNvPr id="6" name="Rectangle 5"/>
          <p:cNvSpPr/>
          <p:nvPr/>
        </p:nvSpPr>
        <p:spPr>
          <a:xfrm>
            <a:off x="822960" y="21396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18</a:t>
            </a:r>
          </a:p>
        </p:txBody>
      </p:sp>
      <p:sp>
        <p:nvSpPr>
          <p:cNvPr id="9" name="Rectangle 8"/>
          <p:cNvSpPr/>
          <p:nvPr/>
        </p:nvSpPr>
        <p:spPr>
          <a:xfrm>
            <a:off x="822960" y="2340864"/>
            <a:ext cx="10545775" cy="384048"/>
          </a:xfrm>
          <a:prstGeom prst="rect">
            <a:avLst/>
          </a:prstGeom>
          <a:solidFill>
            <a:srgbClr val="FFF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432304"/>
            <a:ext cx="10143439" cy="274320"/>
          </a:xfrm>
          <a:prstGeom prst="rect">
            <a:avLst/>
          </a:prstGeom>
          <a:noFill/>
        </p:spPr>
        <p:txBody>
          <a:bodyPr wrap="square" lIns="0" rIns="0" tIns="0" bIns="0" anchor="t">
            <a:spAutoFit/>
          </a:bodyPr>
          <a:lstStyle/>
          <a:p>
            <a:pPr algn="l">
              <a:spcAft>
                <a:spcPts val="0"/>
              </a:spcAft>
            </a:pPr>
            <a:r>
              <a:rPr sz="1100" b="1" i="0">
                <a:solidFill>
                  <a:srgbClr val="995C00"/>
                </a:solidFill>
                <a:latin typeface="Segoe UI"/>
              </a:rPr>
              <a:t>MODELLED — no customer has paid Meridian anything. Treat as a pricing hypothesis to test, not evidence.</a:t>
            </a:r>
          </a:p>
        </p:txBody>
      </p:sp>
      <p:sp>
        <p:nvSpPr>
          <p:cNvPr id="11" name="Rectangle 10"/>
          <p:cNvSpPr/>
          <p:nvPr/>
        </p:nvSpPr>
        <p:spPr>
          <a:xfrm>
            <a:off x="822960" y="2926080"/>
            <a:ext cx="10545775"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92608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25526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017520"/>
            <a:ext cx="34747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INPUT (MID-MARKET ENTERPRISE)</a:t>
            </a:r>
          </a:p>
        </p:txBody>
      </p:sp>
      <p:sp>
        <p:nvSpPr>
          <p:cNvPr id="15" name="TextBox 14"/>
          <p:cNvSpPr txBox="1"/>
          <p:nvPr/>
        </p:nvSpPr>
        <p:spPr>
          <a:xfrm>
            <a:off x="4608576" y="3017520"/>
            <a:ext cx="219456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ASSUMPTION</a:t>
            </a:r>
          </a:p>
        </p:txBody>
      </p:sp>
      <p:sp>
        <p:nvSpPr>
          <p:cNvPr id="16" name="TextBox 15"/>
          <p:cNvSpPr txBox="1"/>
          <p:nvPr/>
        </p:nvSpPr>
        <p:spPr>
          <a:xfrm>
            <a:off x="6986016" y="3017520"/>
            <a:ext cx="4325112"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SOURCE OF THE ASSUMPTION</a:t>
            </a:r>
          </a:p>
        </p:txBody>
      </p:sp>
      <p:sp>
        <p:nvSpPr>
          <p:cNvPr id="17" name="TextBox 16"/>
          <p:cNvSpPr txBox="1"/>
          <p:nvPr/>
        </p:nvSpPr>
        <p:spPr>
          <a:xfrm>
            <a:off x="950976" y="3355848"/>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Employees</a:t>
            </a:r>
          </a:p>
        </p:txBody>
      </p:sp>
      <p:sp>
        <p:nvSpPr>
          <p:cNvPr id="18" name="TextBox 17"/>
          <p:cNvSpPr txBox="1"/>
          <p:nvPr/>
        </p:nvSpPr>
        <p:spPr>
          <a:xfrm>
            <a:off x="4608576" y="3355848"/>
            <a:ext cx="2194560"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2,500</a:t>
            </a:r>
          </a:p>
        </p:txBody>
      </p:sp>
      <p:sp>
        <p:nvSpPr>
          <p:cNvPr id="19" name="TextBox 18"/>
          <p:cNvSpPr txBox="1"/>
          <p:nvPr/>
        </p:nvSpPr>
        <p:spPr>
          <a:xfrm>
            <a:off x="6986016" y="3355848"/>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Calculator default in the live product</a:t>
            </a:r>
          </a:p>
        </p:txBody>
      </p:sp>
      <p:sp>
        <p:nvSpPr>
          <p:cNvPr id="20" name="Rectangle 19"/>
          <p:cNvSpPr/>
          <p:nvPr/>
        </p:nvSpPr>
        <p:spPr>
          <a:xfrm>
            <a:off x="822960" y="358902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3689604"/>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HR cases per month</a:t>
            </a:r>
          </a:p>
        </p:txBody>
      </p:sp>
      <p:sp>
        <p:nvSpPr>
          <p:cNvPr id="22" name="TextBox 21"/>
          <p:cNvSpPr txBox="1"/>
          <p:nvPr/>
        </p:nvSpPr>
        <p:spPr>
          <a:xfrm>
            <a:off x="4608576" y="3689604"/>
            <a:ext cx="2194560"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1,800</a:t>
            </a:r>
          </a:p>
        </p:txBody>
      </p:sp>
      <p:sp>
        <p:nvSpPr>
          <p:cNvPr id="23" name="TextBox 22"/>
          <p:cNvSpPr txBox="1"/>
          <p:nvPr/>
        </p:nvSpPr>
        <p:spPr>
          <a:xfrm>
            <a:off x="6986016" y="3689604"/>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Calculator default</a:t>
            </a:r>
          </a:p>
        </p:txBody>
      </p:sp>
      <p:sp>
        <p:nvSpPr>
          <p:cNvPr id="24" name="Rectangle 23"/>
          <p:cNvSpPr/>
          <p:nvPr/>
        </p:nvSpPr>
        <p:spPr>
          <a:xfrm>
            <a:off x="822960" y="392277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 y="4023360"/>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Invoices tested per month</a:t>
            </a:r>
          </a:p>
        </p:txBody>
      </p:sp>
      <p:sp>
        <p:nvSpPr>
          <p:cNvPr id="26" name="TextBox 25"/>
          <p:cNvSpPr txBox="1"/>
          <p:nvPr/>
        </p:nvSpPr>
        <p:spPr>
          <a:xfrm>
            <a:off x="4608576" y="4023360"/>
            <a:ext cx="2194560"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6,000</a:t>
            </a:r>
          </a:p>
        </p:txBody>
      </p:sp>
      <p:sp>
        <p:nvSpPr>
          <p:cNvPr id="27" name="TextBox 26"/>
          <p:cNvSpPr txBox="1"/>
          <p:nvPr/>
        </p:nvSpPr>
        <p:spPr>
          <a:xfrm>
            <a:off x="6986016" y="4023360"/>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Calculator default</a:t>
            </a:r>
          </a:p>
        </p:txBody>
      </p:sp>
      <p:sp>
        <p:nvSpPr>
          <p:cNvPr id="28" name="Rectangle 27"/>
          <p:cNvSpPr/>
          <p:nvPr/>
        </p:nvSpPr>
        <p:spPr>
          <a:xfrm>
            <a:off x="822960" y="4256532"/>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4357116"/>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Estimated credits per month</a:t>
            </a:r>
          </a:p>
        </p:txBody>
      </p:sp>
      <p:sp>
        <p:nvSpPr>
          <p:cNvPr id="30" name="TextBox 29"/>
          <p:cNvSpPr txBox="1"/>
          <p:nvPr/>
        </p:nvSpPr>
        <p:spPr>
          <a:xfrm>
            <a:off x="4608576" y="4357116"/>
            <a:ext cx="219456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~5,400</a:t>
            </a:r>
          </a:p>
        </p:txBody>
      </p:sp>
      <p:sp>
        <p:nvSpPr>
          <p:cNvPr id="31" name="TextBox 30"/>
          <p:cNvSpPr txBox="1"/>
          <p:nvPr/>
        </p:nvSpPr>
        <p:spPr>
          <a:xfrm>
            <a:off x="6986016" y="4357116"/>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Computed by the product's own model</a:t>
            </a:r>
          </a:p>
        </p:txBody>
      </p:sp>
      <p:sp>
        <p:nvSpPr>
          <p:cNvPr id="32" name="Rectangle 31"/>
          <p:cNvSpPr/>
          <p:nvPr/>
        </p:nvSpPr>
        <p:spPr>
          <a:xfrm>
            <a:off x="822960" y="459028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0976" y="4690872"/>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Recommended plan</a:t>
            </a:r>
          </a:p>
        </p:txBody>
      </p:sp>
      <p:sp>
        <p:nvSpPr>
          <p:cNvPr id="34" name="TextBox 33"/>
          <p:cNvSpPr txBox="1"/>
          <p:nvPr/>
        </p:nvSpPr>
        <p:spPr>
          <a:xfrm>
            <a:off x="4608576" y="4690872"/>
            <a:ext cx="219456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Growth, $2,499/mo</a:t>
            </a:r>
          </a:p>
        </p:txBody>
      </p:sp>
      <p:sp>
        <p:nvSpPr>
          <p:cNvPr id="35" name="TextBox 34"/>
          <p:cNvSpPr txBox="1"/>
          <p:nvPr/>
        </p:nvSpPr>
        <p:spPr>
          <a:xfrm>
            <a:off x="6986016" y="4690872"/>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Plan threshold at 30,000 credits</a:t>
            </a:r>
          </a:p>
        </p:txBody>
      </p:sp>
      <p:sp>
        <p:nvSpPr>
          <p:cNvPr id="36" name="Rectangle 35"/>
          <p:cNvSpPr/>
          <p:nvPr/>
        </p:nvSpPr>
        <p:spPr>
          <a:xfrm>
            <a:off x="822960" y="492404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0976" y="5024628"/>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Staff hours returned per month</a:t>
            </a:r>
          </a:p>
        </p:txBody>
      </p:sp>
      <p:sp>
        <p:nvSpPr>
          <p:cNvPr id="38" name="TextBox 37"/>
          <p:cNvSpPr txBox="1"/>
          <p:nvPr/>
        </p:nvSpPr>
        <p:spPr>
          <a:xfrm>
            <a:off x="4608576" y="5024628"/>
            <a:ext cx="219456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~800</a:t>
            </a:r>
          </a:p>
        </p:txBody>
      </p:sp>
      <p:sp>
        <p:nvSpPr>
          <p:cNvPr id="39" name="TextBox 38"/>
          <p:cNvSpPr txBox="1"/>
          <p:nvPr/>
        </p:nvSpPr>
        <p:spPr>
          <a:xfrm>
            <a:off x="6986016" y="5024628"/>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0.25h per case, 0.2h per screen, published in-product</a:t>
            </a:r>
          </a:p>
        </p:txBody>
      </p:sp>
      <p:sp>
        <p:nvSpPr>
          <p:cNvPr id="40" name="Rectangle 39"/>
          <p:cNvSpPr/>
          <p:nvPr/>
        </p:nvSpPr>
        <p:spPr>
          <a:xfrm>
            <a:off x="822960" y="525780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0976" y="5358384"/>
            <a:ext cx="347472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Value at $48/hour fully loaded</a:t>
            </a:r>
          </a:p>
        </p:txBody>
      </p:sp>
      <p:sp>
        <p:nvSpPr>
          <p:cNvPr id="42" name="TextBox 41"/>
          <p:cNvSpPr txBox="1"/>
          <p:nvPr/>
        </p:nvSpPr>
        <p:spPr>
          <a:xfrm>
            <a:off x="4608576" y="5358384"/>
            <a:ext cx="2194560" cy="274320"/>
          </a:xfrm>
          <a:prstGeom prst="rect">
            <a:avLst/>
          </a:prstGeom>
          <a:noFill/>
        </p:spPr>
        <p:txBody>
          <a:bodyPr wrap="square" lIns="0" rIns="0" tIns="0" bIns="0" anchor="t">
            <a:spAutoFit/>
          </a:bodyPr>
          <a:lstStyle/>
          <a:p>
            <a:pPr algn="l">
              <a:spcAft>
                <a:spcPts val="0"/>
              </a:spcAft>
            </a:pPr>
            <a:r>
              <a:rPr sz="1150" b="0" i="0">
                <a:solidFill>
                  <a:srgbClr val="1C1712"/>
                </a:solidFill>
                <a:latin typeface="Segoe UI"/>
              </a:rPr>
              <a:t>~$38,400/mo</a:t>
            </a:r>
          </a:p>
        </p:txBody>
      </p:sp>
      <p:sp>
        <p:nvSpPr>
          <p:cNvPr id="43" name="TextBox 42"/>
          <p:cNvSpPr txBox="1"/>
          <p:nvPr/>
        </p:nvSpPr>
        <p:spPr>
          <a:xfrm>
            <a:off x="6986016" y="5358384"/>
            <a:ext cx="4325112" cy="274320"/>
          </a:xfrm>
          <a:prstGeom prst="rect">
            <a:avLst/>
          </a:prstGeom>
          <a:noFill/>
        </p:spPr>
        <p:txBody>
          <a:bodyPr wrap="square" lIns="0" rIns="0" tIns="0" bIns="0" anchor="t">
            <a:spAutoFit/>
          </a:bodyPr>
          <a:lstStyle/>
          <a:p>
            <a:pPr algn="l">
              <a:spcAft>
                <a:spcPts val="0"/>
              </a:spcAft>
            </a:pPr>
            <a:r>
              <a:rPr sz="1150" b="0" i="0">
                <a:solidFill>
                  <a:srgbClr val="5A544E"/>
                </a:solidFill>
                <a:latin typeface="Segoe UI"/>
              </a:rPr>
              <a:t>Blended cost assumption, stated in the product</a:t>
            </a:r>
          </a:p>
        </p:txBody>
      </p:sp>
      <p:sp>
        <p:nvSpPr>
          <p:cNvPr id="44" name="Rectangle 43"/>
          <p:cNvSpPr/>
          <p:nvPr/>
        </p:nvSpPr>
        <p:spPr>
          <a:xfrm>
            <a:off x="822960" y="559155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60" y="5792724"/>
            <a:ext cx="10545775" cy="548640"/>
          </a:xfrm>
          <a:prstGeom prst="rect">
            <a:avLst/>
          </a:prstGeom>
          <a:noFill/>
        </p:spPr>
        <p:txBody>
          <a:bodyPr wrap="square" lIns="0" rIns="0" tIns="0" bIns="0" anchor="t">
            <a:spAutoFit/>
          </a:bodyPr>
          <a:lstStyle/>
          <a:p>
            <a:pPr algn="l">
              <a:lnSpc>
                <a:spcPct val="130000"/>
              </a:lnSpc>
              <a:spcAft>
                <a:spcPts val="0"/>
              </a:spcAft>
            </a:pPr>
            <a:r>
              <a:rPr sz="1250" b="1" i="0">
                <a:solidFill>
                  <a:srgbClr val="1C1712"/>
                </a:solidFill>
                <a:latin typeface="Segoe UI"/>
              </a:rPr>
              <a:t>The ratio is the point, not the precision: </a:t>
            </a:r>
            <a:r>
              <a:rPr sz="1250" b="0" i="0">
                <a:solidFill>
                  <a:srgbClr val="5A544E"/>
                </a:solidFill>
                <a:latin typeface="Segoe UI"/>
              </a:rPr>
              <a:t>a plan priced in the low thousands against time savings modelled in the tens of thousands leaves room for both a real discount and a real margin. Inference cost sits inside the credit and is the number we most need real volume to learn.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STATUS</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What is real today, and what is not.</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Stated plainly so diligence finds nothing we did not tell you first.</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19</a:t>
            </a:r>
          </a:p>
        </p:txBody>
      </p:sp>
      <p:sp>
        <p:nvSpPr>
          <p:cNvPr id="9" name="Rectangle 8"/>
          <p:cNvSpPr/>
          <p:nvPr/>
        </p:nvSpPr>
        <p:spPr>
          <a:xfrm>
            <a:off x="822960" y="2167128"/>
            <a:ext cx="4998567" cy="265176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67128"/>
            <a:ext cx="4998567" cy="36576"/>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2404872"/>
            <a:ext cx="4486503" cy="274320"/>
          </a:xfrm>
          <a:prstGeom prst="rect">
            <a:avLst/>
          </a:prstGeom>
          <a:noFill/>
        </p:spPr>
        <p:txBody>
          <a:bodyPr wrap="square" lIns="0" rIns="0" tIns="0" bIns="0" anchor="t">
            <a:spAutoFit/>
          </a:bodyPr>
          <a:lstStyle/>
          <a:p>
            <a:pPr algn="l">
              <a:spcAft>
                <a:spcPts val="0"/>
              </a:spcAft>
            </a:pPr>
            <a:r>
              <a:rPr sz="1050" b="1" i="0">
                <a:solidFill>
                  <a:srgbClr val="1D7D3E"/>
                </a:solidFill>
                <a:latin typeface="Segoe UI"/>
              </a:rPr>
              <a:t>BUILT AND DEPLOYED</a:t>
            </a:r>
          </a:p>
        </p:txBody>
      </p:sp>
      <p:sp>
        <p:nvSpPr>
          <p:cNvPr id="12" name="Rectangle 11"/>
          <p:cNvSpPr/>
          <p:nvPr/>
        </p:nvSpPr>
        <p:spPr>
          <a:xfrm>
            <a:off x="1078992" y="290779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16736" y="2825496"/>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Full commercial platform, live and public, 165 pages</a:t>
            </a:r>
          </a:p>
        </p:txBody>
      </p:sp>
      <p:sp>
        <p:nvSpPr>
          <p:cNvPr id="14" name="Rectangle 13"/>
          <p:cNvSpPr/>
          <p:nvPr/>
        </p:nvSpPr>
        <p:spPr>
          <a:xfrm>
            <a:off x="1078992" y="3291840"/>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16736" y="3209544"/>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Twelve agents fully specified: data, guardrails, credit costs</a:t>
            </a:r>
          </a:p>
        </p:txBody>
      </p:sp>
      <p:sp>
        <p:nvSpPr>
          <p:cNvPr id="16" name="Rectangle 15"/>
          <p:cNvSpPr/>
          <p:nvPr/>
        </p:nvSpPr>
        <p:spPr>
          <a:xfrm>
            <a:off x="1078992" y="391363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16736" y="3831336"/>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Real-time operations layer over Server-Sent Events, verified in production</a:t>
            </a:r>
          </a:p>
        </p:txBody>
      </p:sp>
      <p:sp>
        <p:nvSpPr>
          <p:cNvPr id="18" name="Rectangle 17"/>
          <p:cNvSpPr/>
          <p:nvPr/>
        </p:nvSpPr>
        <p:spPr>
          <a:xfrm>
            <a:off x="1078992" y="453542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16736" y="4453128"/>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Stripe subscription flow, env-gated demo mode</a:t>
            </a:r>
          </a:p>
        </p:txBody>
      </p:sp>
      <p:sp>
        <p:nvSpPr>
          <p:cNvPr id="20" name="Rectangle 19"/>
          <p:cNvSpPr/>
          <p:nvPr/>
        </p:nvSpPr>
        <p:spPr>
          <a:xfrm>
            <a:off x="1078992" y="491947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16736" y="4837176"/>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Security headers, input validation, trust documentation</a:t>
            </a:r>
          </a:p>
        </p:txBody>
      </p:sp>
      <p:sp>
        <p:nvSpPr>
          <p:cNvPr id="22" name="Rectangle 21"/>
          <p:cNvSpPr/>
          <p:nvPr/>
        </p:nvSpPr>
        <p:spPr>
          <a:xfrm>
            <a:off x="6370167" y="2167128"/>
            <a:ext cx="4998567" cy="265176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70167" y="2167128"/>
            <a:ext cx="4998567" cy="36576"/>
          </a:xfrm>
          <a:prstGeom prst="rect">
            <a:avLst/>
          </a:prstGeom>
          <a:solidFill>
            <a:srgbClr val="BE2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6199" y="2404872"/>
            <a:ext cx="4486503" cy="274320"/>
          </a:xfrm>
          <a:prstGeom prst="rect">
            <a:avLst/>
          </a:prstGeom>
          <a:noFill/>
        </p:spPr>
        <p:txBody>
          <a:bodyPr wrap="square" lIns="0" rIns="0" tIns="0" bIns="0" anchor="t">
            <a:spAutoFit/>
          </a:bodyPr>
          <a:lstStyle/>
          <a:p>
            <a:pPr algn="l">
              <a:spcAft>
                <a:spcPts val="0"/>
              </a:spcAft>
            </a:pPr>
            <a:r>
              <a:rPr sz="1050" b="1" i="0">
                <a:solidFill>
                  <a:srgbClr val="BE2323"/>
                </a:solidFill>
                <a:latin typeface="Segoe UI"/>
              </a:rPr>
              <a:t>NOT BUILT — THIS IS THE RAISE</a:t>
            </a:r>
          </a:p>
        </p:txBody>
      </p:sp>
      <p:sp>
        <p:nvSpPr>
          <p:cNvPr id="25" name="Rectangle 24"/>
          <p:cNvSpPr/>
          <p:nvPr/>
        </p:nvSpPr>
        <p:spPr>
          <a:xfrm>
            <a:off x="6626199" y="290779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63943" y="2825496"/>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The agent execution layer. The dashboard is a deterministic simulation and says so on the page</a:t>
            </a:r>
          </a:p>
        </p:txBody>
      </p:sp>
      <p:sp>
        <p:nvSpPr>
          <p:cNvPr id="27" name="Rectangle 26"/>
          <p:cNvSpPr/>
          <p:nvPr/>
        </p:nvSpPr>
        <p:spPr>
          <a:xfrm>
            <a:off x="6626199" y="352958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63943" y="3447288"/>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Persistence: no database yet. Registry is specified, not stored</a:t>
            </a:r>
          </a:p>
        </p:txBody>
      </p:sp>
      <p:sp>
        <p:nvSpPr>
          <p:cNvPr id="29" name="Rectangle 28"/>
          <p:cNvSpPr/>
          <p:nvPr/>
        </p:nvSpPr>
        <p:spPr>
          <a:xfrm>
            <a:off x="6626199" y="4151376"/>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63943" y="4069080"/>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Authentication: no SSO or SCIM implemented</a:t>
            </a:r>
          </a:p>
        </p:txBody>
      </p:sp>
      <p:sp>
        <p:nvSpPr>
          <p:cNvPr id="31" name="Rectangle 30"/>
          <p:cNvSpPr/>
          <p:nvPr/>
        </p:nvSpPr>
        <p:spPr>
          <a:xfrm>
            <a:off x="6626199" y="4535424"/>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63943" y="4453128"/>
            <a:ext cx="4248759" cy="27432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Zero revenue, zero customers, zero pilots</a:t>
            </a:r>
          </a:p>
        </p:txBody>
      </p:sp>
      <p:sp>
        <p:nvSpPr>
          <p:cNvPr id="33" name="Rectangle 32"/>
          <p:cNvSpPr/>
          <p:nvPr/>
        </p:nvSpPr>
        <p:spPr>
          <a:xfrm>
            <a:off x="6626199" y="4919472"/>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63943" y="4837176"/>
            <a:ext cx="4248759"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Design partners shown in the product are illustrative, not real companies</a:t>
            </a:r>
          </a:p>
        </p:txBody>
      </p:sp>
      <p:sp>
        <p:nvSpPr>
          <p:cNvPr id="35" name="TextBox 34"/>
          <p:cNvSpPr txBox="1"/>
          <p:nvPr/>
        </p:nvSpPr>
        <p:spPr>
          <a:xfrm>
            <a:off x="822960" y="5989320"/>
            <a:ext cx="10545775" cy="365760"/>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The last line matters: the customer names and outcome figures in the live product are clearly-labelled demonstration content. None represent a real deployment, and we will not present them as traction.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EXECUTION</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How fast this was built, and how quality was proven.</a:t>
            </a:r>
          </a:p>
        </p:txBody>
      </p:sp>
      <p:sp>
        <p:nvSpPr>
          <p:cNvPr id="5" name="TextBox 4"/>
          <p:cNvSpPr txBox="1"/>
          <p:nvPr/>
        </p:nvSpPr>
        <p:spPr>
          <a:xfrm>
            <a:off x="822960" y="19019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At pre-seed the question is whether the founder ships. Here is a measurable answer.</a:t>
            </a:r>
          </a:p>
        </p:txBody>
      </p:sp>
      <p:sp>
        <p:nvSpPr>
          <p:cNvPr id="6" name="Rectangle 5"/>
          <p:cNvSpPr/>
          <p:nvPr/>
        </p:nvSpPr>
        <p:spPr>
          <a:xfrm>
            <a:off x="822960" y="23500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20</a:t>
            </a:r>
          </a:p>
        </p:txBody>
      </p:sp>
      <p:sp>
        <p:nvSpPr>
          <p:cNvPr id="9" name="TextBox 8"/>
          <p:cNvSpPr txBox="1"/>
          <p:nvPr/>
        </p:nvSpPr>
        <p:spPr>
          <a:xfrm>
            <a:off x="969264"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~2 days</a:t>
            </a:r>
          </a:p>
        </p:txBody>
      </p:sp>
      <p:sp>
        <p:nvSpPr>
          <p:cNvPr id="10" name="TextBox 9"/>
          <p:cNvSpPr txBox="1"/>
          <p:nvPr/>
        </p:nvSpPr>
        <p:spPr>
          <a:xfrm>
            <a:off x="969264"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from empty repository to deployed platform</a:t>
            </a:r>
          </a:p>
        </p:txBody>
      </p:sp>
      <p:sp>
        <p:nvSpPr>
          <p:cNvPr id="11" name="Rectangle 10"/>
          <p:cNvSpPr/>
          <p:nvPr/>
        </p:nvSpPr>
        <p:spPr>
          <a:xfrm>
            <a:off x="3441115" y="2670048"/>
            <a:ext cx="0" cy="114300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5707"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26</a:t>
            </a:r>
          </a:p>
        </p:txBody>
      </p:sp>
      <p:sp>
        <p:nvSpPr>
          <p:cNvPr id="13" name="TextBox 12"/>
          <p:cNvSpPr txBox="1"/>
          <p:nvPr/>
        </p:nvSpPr>
        <p:spPr>
          <a:xfrm>
            <a:off x="3605707"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commits, one engineer, AI-orchestrated</a:t>
            </a:r>
          </a:p>
        </p:txBody>
      </p:sp>
      <p:sp>
        <p:nvSpPr>
          <p:cNvPr id="14" name="Rectangle 13"/>
          <p:cNvSpPr/>
          <p:nvPr/>
        </p:nvSpPr>
        <p:spPr>
          <a:xfrm>
            <a:off x="6077559" y="2670048"/>
            <a:ext cx="0" cy="114300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2151"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372</a:t>
            </a:r>
          </a:p>
        </p:txBody>
      </p:sp>
      <p:sp>
        <p:nvSpPr>
          <p:cNvPr id="16" name="TextBox 15"/>
          <p:cNvSpPr txBox="1"/>
          <p:nvPr/>
        </p:nvSpPr>
        <p:spPr>
          <a:xfrm>
            <a:off x="6242151"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blind design judgements across 8 rounds</a:t>
            </a:r>
          </a:p>
        </p:txBody>
      </p:sp>
      <p:sp>
        <p:nvSpPr>
          <p:cNvPr id="17" name="Rectangle 16"/>
          <p:cNvSpPr/>
          <p:nvPr/>
        </p:nvSpPr>
        <p:spPr>
          <a:xfrm>
            <a:off x="8714003" y="2670048"/>
            <a:ext cx="0" cy="114300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78595" y="2624328"/>
            <a:ext cx="2362123" cy="640080"/>
          </a:xfrm>
          <a:prstGeom prst="rect">
            <a:avLst/>
          </a:prstGeom>
          <a:noFill/>
        </p:spPr>
        <p:txBody>
          <a:bodyPr wrap="square" lIns="0" rIns="0" tIns="0" bIns="0" anchor="t">
            <a:spAutoFit/>
          </a:bodyPr>
          <a:lstStyle/>
          <a:p>
            <a:pPr algn="l">
              <a:spcAft>
                <a:spcPts val="0"/>
              </a:spcAft>
            </a:pPr>
            <a:r>
              <a:rPr sz="3400" b="0" i="0">
                <a:solidFill>
                  <a:srgbClr val="1C1712"/>
                </a:solidFill>
                <a:latin typeface="Segoe UI"/>
              </a:rPr>
              <a:t>44 / 51</a:t>
            </a:r>
          </a:p>
        </p:txBody>
      </p:sp>
      <p:sp>
        <p:nvSpPr>
          <p:cNvPr id="19" name="TextBox 18"/>
          <p:cNvSpPr txBox="1"/>
          <p:nvPr/>
        </p:nvSpPr>
        <p:spPr>
          <a:xfrm>
            <a:off x="8878595" y="3282696"/>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final-round wins against production sites</a:t>
            </a:r>
          </a:p>
        </p:txBody>
      </p:sp>
      <p:sp>
        <p:nvSpPr>
          <p:cNvPr id="20" name="Rectangle 19"/>
          <p:cNvSpPr/>
          <p:nvPr/>
        </p:nvSpPr>
        <p:spPr>
          <a:xfrm>
            <a:off x="822960" y="4224528"/>
            <a:ext cx="10545775" cy="1417320"/>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425696"/>
            <a:ext cx="9997135" cy="1005840"/>
          </a:xfrm>
          <a:prstGeom prst="rect">
            <a:avLst/>
          </a:prstGeom>
          <a:noFill/>
        </p:spPr>
        <p:txBody>
          <a:bodyPr wrap="square" lIns="0" rIns="0" tIns="0" bIns="0" anchor="t">
            <a:spAutoFit/>
          </a:bodyPr>
          <a:lstStyle/>
          <a:p>
            <a:pPr algn="l">
              <a:lnSpc>
                <a:spcPct val="130000"/>
              </a:lnSpc>
              <a:spcAft>
                <a:spcPts val="0"/>
              </a:spcAft>
            </a:pPr>
            <a:r>
              <a:rPr sz="1300" b="1" i="0">
                <a:solidFill>
                  <a:srgbClr val="1C1712"/>
                </a:solidFill>
                <a:latin typeface="Segoe UI"/>
              </a:rPr>
              <a:t>The blind gauntlet. </a:t>
            </a:r>
            <a:r>
              <a:rPr sz="1300" b="0" i="0">
                <a:solidFill>
                  <a:srgbClr val="5A544E"/>
                </a:solidFill>
                <a:latin typeface="Segoe UI"/>
              </a:rPr>
              <a:t>Quality was not self-assessed. A script screenshots every page from the production build, composites it side by side with a captured page from Stripe, Attio, Ramp, Brex, Mercury, Anthropic or Harvey in randomised order, and hands it to a reviewer who cannot tell which panel is ours. Final round: 44 of 51, with perfect records against Attio, Ramp, Brex, Mercury, Anthropic and Harvey. Asked which set to ship, the reviewer chose ours without knowing which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ROADMAP</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Eighteen months, three gates.</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Each gate is a decision point with a number attached, not a feature list.</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21</a:t>
            </a:r>
          </a:p>
        </p:txBody>
      </p:sp>
      <p:sp>
        <p:nvSpPr>
          <p:cNvPr id="9" name="Rectangle 8"/>
          <p:cNvSpPr/>
          <p:nvPr/>
        </p:nvSpPr>
        <p:spPr>
          <a:xfrm>
            <a:off x="822960" y="2167128"/>
            <a:ext cx="3332378" cy="306324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67128"/>
            <a:ext cx="3332378" cy="3657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386584"/>
            <a:ext cx="2875178" cy="22860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MONTHS 0–6</a:t>
            </a:r>
          </a:p>
        </p:txBody>
      </p:sp>
      <p:sp>
        <p:nvSpPr>
          <p:cNvPr id="12" name="TextBox 11"/>
          <p:cNvSpPr txBox="1"/>
          <p:nvPr/>
        </p:nvSpPr>
        <p:spPr>
          <a:xfrm>
            <a:off x="1060704" y="2670048"/>
            <a:ext cx="2875178"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Make one agent real</a:t>
            </a:r>
          </a:p>
        </p:txBody>
      </p:sp>
      <p:sp>
        <p:nvSpPr>
          <p:cNvPr id="13" name="Rectangle 12"/>
          <p:cNvSpPr/>
          <p:nvPr/>
        </p:nvSpPr>
        <p:spPr>
          <a:xfrm>
            <a:off x="1060704" y="3127248"/>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3063240"/>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Execution runtime behind the Gateway</a:t>
            </a:r>
          </a:p>
        </p:txBody>
      </p:sp>
      <p:sp>
        <p:nvSpPr>
          <p:cNvPr id="15" name="Rectangle 14"/>
          <p:cNvSpPr/>
          <p:nvPr/>
        </p:nvSpPr>
        <p:spPr>
          <a:xfrm>
            <a:off x="1060704" y="3474720"/>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1872" y="3410712"/>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Postgres Registry with immutable audit log</a:t>
            </a:r>
          </a:p>
        </p:txBody>
      </p:sp>
      <p:sp>
        <p:nvSpPr>
          <p:cNvPr id="17" name="Rectangle 16"/>
          <p:cNvSpPr/>
          <p:nvPr/>
        </p:nvSpPr>
        <p:spPr>
          <a:xfrm>
            <a:off x="1060704" y="4096512"/>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61872" y="4032504"/>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SSO and SCIM</a:t>
            </a:r>
          </a:p>
        </p:txBody>
      </p:sp>
      <p:sp>
        <p:nvSpPr>
          <p:cNvPr id="19" name="Rectangle 18"/>
          <p:cNvSpPr/>
          <p:nvPr/>
        </p:nvSpPr>
        <p:spPr>
          <a:xfrm>
            <a:off x="1060704" y="4443984"/>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61872" y="4379976"/>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Controls Agent running on real customer data</a:t>
            </a:r>
          </a:p>
        </p:txBody>
      </p:sp>
      <p:sp>
        <p:nvSpPr>
          <p:cNvPr id="21" name="Rectangle 20"/>
          <p:cNvSpPr/>
          <p:nvPr/>
        </p:nvSpPr>
        <p:spPr>
          <a:xfrm>
            <a:off x="1060704" y="5065776"/>
            <a:ext cx="73152" cy="73152"/>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61872" y="5001768"/>
            <a:ext cx="2674010" cy="320040"/>
          </a:xfrm>
          <a:prstGeom prst="rect">
            <a:avLst/>
          </a:prstGeom>
          <a:noFill/>
        </p:spPr>
        <p:txBody>
          <a:bodyPr wrap="square" lIns="0" rIns="0" tIns="0" bIns="0" anchor="t">
            <a:spAutoFit/>
          </a:bodyPr>
          <a:lstStyle/>
          <a:p>
            <a:pPr algn="l">
              <a:lnSpc>
                <a:spcPct val="125000"/>
              </a:lnSpc>
              <a:spcAft>
                <a:spcPts val="0"/>
              </a:spcAft>
            </a:pPr>
            <a:r>
              <a:rPr sz="1100" b="1" i="0">
                <a:solidFill>
                  <a:srgbClr val="1C1712"/>
                </a:solidFill>
                <a:latin typeface="Segoe UI"/>
              </a:rPr>
              <a:t>Gate: 3 paid pilots live</a:t>
            </a:r>
          </a:p>
        </p:txBody>
      </p:sp>
      <p:sp>
        <p:nvSpPr>
          <p:cNvPr id="23" name="Rectangle 22"/>
          <p:cNvSpPr/>
          <p:nvPr/>
        </p:nvSpPr>
        <p:spPr>
          <a:xfrm>
            <a:off x="4429658" y="2167128"/>
            <a:ext cx="3332378" cy="306324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29658" y="2167128"/>
            <a:ext cx="3332378" cy="36576"/>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7402" y="2386584"/>
            <a:ext cx="2875178" cy="22860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MONTHS 6–12</a:t>
            </a:r>
          </a:p>
        </p:txBody>
      </p:sp>
      <p:sp>
        <p:nvSpPr>
          <p:cNvPr id="26" name="TextBox 25"/>
          <p:cNvSpPr txBox="1"/>
          <p:nvPr/>
        </p:nvSpPr>
        <p:spPr>
          <a:xfrm>
            <a:off x="4667402" y="2670048"/>
            <a:ext cx="2875178"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Prove the measurement</a:t>
            </a:r>
          </a:p>
        </p:txBody>
      </p:sp>
      <p:sp>
        <p:nvSpPr>
          <p:cNvPr id="27" name="Rectangle 26"/>
          <p:cNvSpPr/>
          <p:nvPr/>
        </p:nvSpPr>
        <p:spPr>
          <a:xfrm>
            <a:off x="4667402" y="3127248"/>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68570" y="3063240"/>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Audit and Close agents to GA</a:t>
            </a:r>
          </a:p>
        </p:txBody>
      </p:sp>
      <p:sp>
        <p:nvSpPr>
          <p:cNvPr id="29" name="Rectangle 28"/>
          <p:cNvSpPr/>
          <p:nvPr/>
        </p:nvSpPr>
        <p:spPr>
          <a:xfrm>
            <a:off x="4667402" y="3474720"/>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68570" y="3410712"/>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Per-agent evaluation sets gating promotion</a:t>
            </a:r>
          </a:p>
        </p:txBody>
      </p:sp>
      <p:sp>
        <p:nvSpPr>
          <p:cNvPr id="31" name="Rectangle 30"/>
          <p:cNvSpPr/>
          <p:nvPr/>
        </p:nvSpPr>
        <p:spPr>
          <a:xfrm>
            <a:off x="4667402" y="4096512"/>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68570" y="4032504"/>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Metered billing switched on in Stripe</a:t>
            </a:r>
          </a:p>
        </p:txBody>
      </p:sp>
      <p:sp>
        <p:nvSpPr>
          <p:cNvPr id="33" name="Rectangle 32"/>
          <p:cNvSpPr/>
          <p:nvPr/>
        </p:nvSpPr>
        <p:spPr>
          <a:xfrm>
            <a:off x="4667402" y="4443984"/>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68570" y="4379976"/>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Published reliability data</a:t>
            </a:r>
          </a:p>
        </p:txBody>
      </p:sp>
      <p:sp>
        <p:nvSpPr>
          <p:cNvPr id="35" name="Rectangle 34"/>
          <p:cNvSpPr/>
          <p:nvPr/>
        </p:nvSpPr>
        <p:spPr>
          <a:xfrm>
            <a:off x="4667402" y="4791456"/>
            <a:ext cx="73152" cy="73152"/>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68570" y="4727448"/>
            <a:ext cx="2674010" cy="320040"/>
          </a:xfrm>
          <a:prstGeom prst="rect">
            <a:avLst/>
          </a:prstGeom>
          <a:noFill/>
        </p:spPr>
        <p:txBody>
          <a:bodyPr wrap="square" lIns="0" rIns="0" tIns="0" bIns="0" anchor="t">
            <a:spAutoFit/>
          </a:bodyPr>
          <a:lstStyle/>
          <a:p>
            <a:pPr algn="l">
              <a:lnSpc>
                <a:spcPct val="125000"/>
              </a:lnSpc>
              <a:spcAft>
                <a:spcPts val="0"/>
              </a:spcAft>
            </a:pPr>
            <a:r>
              <a:rPr sz="1100" b="1" i="0">
                <a:solidFill>
                  <a:srgbClr val="1C1712"/>
                </a:solidFill>
                <a:latin typeface="Segoe UI"/>
              </a:rPr>
              <a:t>Gate: verified saving at 3 customers</a:t>
            </a:r>
          </a:p>
        </p:txBody>
      </p:sp>
      <p:sp>
        <p:nvSpPr>
          <p:cNvPr id="37" name="Rectangle 36"/>
          <p:cNvSpPr/>
          <p:nvPr/>
        </p:nvSpPr>
        <p:spPr>
          <a:xfrm>
            <a:off x="8036356" y="2167128"/>
            <a:ext cx="3332378" cy="306324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6356" y="2167128"/>
            <a:ext cx="3332378" cy="36576"/>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74100" y="2386584"/>
            <a:ext cx="2875178" cy="22860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MONTHS 12–18</a:t>
            </a:r>
          </a:p>
        </p:txBody>
      </p:sp>
      <p:sp>
        <p:nvSpPr>
          <p:cNvPr id="40" name="TextBox 39"/>
          <p:cNvSpPr txBox="1"/>
          <p:nvPr/>
        </p:nvSpPr>
        <p:spPr>
          <a:xfrm>
            <a:off x="8274100" y="2670048"/>
            <a:ext cx="2875178" cy="274320"/>
          </a:xfrm>
          <a:prstGeom prst="rect">
            <a:avLst/>
          </a:prstGeom>
          <a:noFill/>
        </p:spPr>
        <p:txBody>
          <a:bodyPr wrap="square" lIns="0" rIns="0" tIns="0" bIns="0" anchor="t">
            <a:spAutoFit/>
          </a:bodyPr>
          <a:lstStyle/>
          <a:p>
            <a:pPr algn="l">
              <a:spcAft>
                <a:spcPts val="0"/>
              </a:spcAft>
            </a:pPr>
            <a:r>
              <a:rPr sz="1500" b="1" i="0">
                <a:solidFill>
                  <a:srgbClr val="1C1712"/>
                </a:solidFill>
                <a:latin typeface="Segoe UI"/>
              </a:rPr>
              <a:t>Open the Registry</a:t>
            </a:r>
          </a:p>
        </p:txBody>
      </p:sp>
      <p:sp>
        <p:nvSpPr>
          <p:cNvPr id="41" name="Rectangle 40"/>
          <p:cNvSpPr/>
          <p:nvPr/>
        </p:nvSpPr>
        <p:spPr>
          <a:xfrm>
            <a:off x="8274100" y="3127248"/>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75268" y="3063240"/>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Third-party agents through the Gateway</a:t>
            </a:r>
          </a:p>
        </p:txBody>
      </p:sp>
      <p:sp>
        <p:nvSpPr>
          <p:cNvPr id="43" name="Rectangle 42"/>
          <p:cNvSpPr/>
          <p:nvPr/>
        </p:nvSpPr>
        <p:spPr>
          <a:xfrm>
            <a:off x="8274100" y="3474720"/>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75268" y="3410712"/>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SOC 2 Type II evidence pipeline</a:t>
            </a:r>
          </a:p>
        </p:txBody>
      </p:sp>
      <p:sp>
        <p:nvSpPr>
          <p:cNvPr id="45" name="Rectangle 44"/>
          <p:cNvSpPr/>
          <p:nvPr/>
        </p:nvSpPr>
        <p:spPr>
          <a:xfrm>
            <a:off x="8274100" y="3822192"/>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75268" y="3758184"/>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Studio in limited release</a:t>
            </a:r>
          </a:p>
        </p:txBody>
      </p:sp>
      <p:sp>
        <p:nvSpPr>
          <p:cNvPr id="47" name="Rectangle 46"/>
          <p:cNvSpPr/>
          <p:nvPr/>
        </p:nvSpPr>
        <p:spPr>
          <a:xfrm>
            <a:off x="8274100" y="4169664"/>
            <a:ext cx="73152" cy="73152"/>
          </a:xfrm>
          <a:prstGeom prst="rect">
            <a:avLst/>
          </a:prstGeom>
          <a:solidFill>
            <a:srgbClr val="CD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75268" y="4105656"/>
            <a:ext cx="2674010" cy="320040"/>
          </a:xfrm>
          <a:prstGeom prst="rect">
            <a:avLst/>
          </a:prstGeom>
          <a:noFill/>
        </p:spPr>
        <p:txBody>
          <a:bodyPr wrap="square" lIns="0" rIns="0" tIns="0" bIns="0" anchor="t">
            <a:spAutoFit/>
          </a:bodyPr>
          <a:lstStyle/>
          <a:p>
            <a:pPr algn="l">
              <a:lnSpc>
                <a:spcPct val="125000"/>
              </a:lnSpc>
              <a:spcAft>
                <a:spcPts val="0"/>
              </a:spcAft>
            </a:pPr>
            <a:r>
              <a:rPr sz="1100" b="0" i="0">
                <a:solidFill>
                  <a:srgbClr val="5A544E"/>
                </a:solidFill>
                <a:latin typeface="Segoe UI"/>
              </a:rPr>
              <a:t>First non-founder sales hire</a:t>
            </a:r>
          </a:p>
        </p:txBody>
      </p:sp>
      <p:sp>
        <p:nvSpPr>
          <p:cNvPr id="49" name="Rectangle 48"/>
          <p:cNvSpPr/>
          <p:nvPr/>
        </p:nvSpPr>
        <p:spPr>
          <a:xfrm>
            <a:off x="8274100" y="4517136"/>
            <a:ext cx="73152" cy="73152"/>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75268" y="4453128"/>
            <a:ext cx="2674010" cy="320040"/>
          </a:xfrm>
          <a:prstGeom prst="rect">
            <a:avLst/>
          </a:prstGeom>
          <a:noFill/>
        </p:spPr>
        <p:txBody>
          <a:bodyPr wrap="square" lIns="0" rIns="0" tIns="0" bIns="0" anchor="t">
            <a:spAutoFit/>
          </a:bodyPr>
          <a:lstStyle/>
          <a:p>
            <a:pPr algn="l">
              <a:lnSpc>
                <a:spcPct val="125000"/>
              </a:lnSpc>
              <a:spcAft>
                <a:spcPts val="0"/>
              </a:spcAft>
            </a:pPr>
            <a:r>
              <a:rPr sz="1100" b="1" i="0">
                <a:solidFill>
                  <a:srgbClr val="1C1712"/>
                </a:solidFill>
                <a:latin typeface="Segoe UI"/>
              </a:rPr>
              <a:t>Gate: Series A metrics or a clear kill decision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RISKS</a:t>
            </a:r>
          </a:p>
        </p:txBody>
      </p:sp>
      <p:sp>
        <p:nvSpPr>
          <p:cNvPr id="4" name="TextBox 3"/>
          <p:cNvSpPr txBox="1"/>
          <p:nvPr/>
        </p:nvSpPr>
        <p:spPr>
          <a:xfrm>
            <a:off x="822960" y="896112"/>
            <a:ext cx="10545775" cy="50292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What would kill this, and what we do about it.</a:t>
            </a:r>
          </a:p>
        </p:txBody>
      </p:sp>
      <p:sp>
        <p:nvSpPr>
          <p:cNvPr id="5" name="TextBox 4"/>
          <p:cNvSpPr txBox="1"/>
          <p:nvPr/>
        </p:nvSpPr>
        <p:spPr>
          <a:xfrm>
            <a:off x="822960" y="1444752"/>
            <a:ext cx="9326880" cy="27432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The first three are real and unresolved. We would rather argue them with you now than in month nine.</a:t>
            </a:r>
          </a:p>
        </p:txBody>
      </p:sp>
      <p:sp>
        <p:nvSpPr>
          <p:cNvPr id="6" name="Rectangle 5"/>
          <p:cNvSpPr/>
          <p:nvPr/>
        </p:nvSpPr>
        <p:spPr>
          <a:xfrm>
            <a:off x="822960" y="1892808"/>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22</a:t>
            </a:r>
          </a:p>
        </p:txBody>
      </p:sp>
      <p:sp>
        <p:nvSpPr>
          <p:cNvPr id="9" name="Rectangle 8"/>
          <p:cNvSpPr/>
          <p:nvPr/>
        </p:nvSpPr>
        <p:spPr>
          <a:xfrm>
            <a:off x="822960" y="2167128"/>
            <a:ext cx="10545775"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6712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2496312"/>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2258568"/>
            <a:ext cx="228600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RISK</a:t>
            </a:r>
          </a:p>
        </p:txBody>
      </p:sp>
      <p:sp>
        <p:nvSpPr>
          <p:cNvPr id="13" name="TextBox 12"/>
          <p:cNvSpPr txBox="1"/>
          <p:nvPr/>
        </p:nvSpPr>
        <p:spPr>
          <a:xfrm>
            <a:off x="3419856" y="2258568"/>
            <a:ext cx="384048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WHY IT IS SERIOUS</a:t>
            </a:r>
          </a:p>
        </p:txBody>
      </p:sp>
      <p:sp>
        <p:nvSpPr>
          <p:cNvPr id="14" name="TextBox 13"/>
          <p:cNvSpPr txBox="1"/>
          <p:nvPr/>
        </p:nvSpPr>
        <p:spPr>
          <a:xfrm>
            <a:off x="7443216" y="2258568"/>
            <a:ext cx="3867911"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MITIGATION</a:t>
            </a:r>
          </a:p>
        </p:txBody>
      </p:sp>
      <p:sp>
        <p:nvSpPr>
          <p:cNvPr id="15" name="TextBox 14"/>
          <p:cNvSpPr txBox="1"/>
          <p:nvPr/>
        </p:nvSpPr>
        <p:spPr>
          <a:xfrm>
            <a:off x="950976" y="2596896"/>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No customers yet</a:t>
            </a:r>
          </a:p>
        </p:txBody>
      </p:sp>
      <p:sp>
        <p:nvSpPr>
          <p:cNvPr id="16" name="TextBox 15"/>
          <p:cNvSpPr txBox="1"/>
          <p:nvPr/>
        </p:nvSpPr>
        <p:spPr>
          <a:xfrm>
            <a:off x="3419856" y="2596896"/>
            <a:ext cx="384048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Every claim on the product page is modelled. The measurement plan is untested against a real ledger.</a:t>
            </a:r>
          </a:p>
        </p:txBody>
      </p:sp>
      <p:sp>
        <p:nvSpPr>
          <p:cNvPr id="17" name="TextBox 16"/>
          <p:cNvSpPr txBox="1"/>
          <p:nvPr/>
        </p:nvSpPr>
        <p:spPr>
          <a:xfrm>
            <a:off x="7443216" y="2596896"/>
            <a:ext cx="3867911"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Paid pilots designed so the customer's own finance team computes the number</a:t>
            </a:r>
          </a:p>
        </p:txBody>
      </p:sp>
      <p:sp>
        <p:nvSpPr>
          <p:cNvPr id="18" name="Rectangle 17"/>
          <p:cNvSpPr/>
          <p:nvPr/>
        </p:nvSpPr>
        <p:spPr>
          <a:xfrm>
            <a:off x="822960" y="3118104"/>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3218688"/>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Incumbent bundling</a:t>
            </a:r>
          </a:p>
        </p:txBody>
      </p:sp>
      <p:sp>
        <p:nvSpPr>
          <p:cNvPr id="20" name="TextBox 19"/>
          <p:cNvSpPr txBox="1"/>
          <p:nvPr/>
        </p:nvSpPr>
        <p:spPr>
          <a:xfrm>
            <a:off x="3419856" y="3218688"/>
            <a:ext cx="384048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Workday or SAP can ship adequate governance free inside the suite</a:t>
            </a:r>
          </a:p>
        </p:txBody>
      </p:sp>
      <p:sp>
        <p:nvSpPr>
          <p:cNvPr id="21" name="TextBox 20"/>
          <p:cNvSpPr txBox="1"/>
          <p:nvPr/>
        </p:nvSpPr>
        <p:spPr>
          <a:xfrm>
            <a:off x="7443216" y="3218688"/>
            <a:ext cx="3867911"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Be the neutral registry across vendors — the thing a suite structurally will not build</a:t>
            </a:r>
          </a:p>
        </p:txBody>
      </p:sp>
      <p:sp>
        <p:nvSpPr>
          <p:cNvPr id="22" name="Rectangle 21"/>
          <p:cNvSpPr/>
          <p:nvPr/>
        </p:nvSpPr>
        <p:spPr>
          <a:xfrm>
            <a:off x="822960" y="3739896"/>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 y="3840480"/>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Enterprise sales cycle vs runway</a:t>
            </a:r>
          </a:p>
        </p:txBody>
      </p:sp>
      <p:sp>
        <p:nvSpPr>
          <p:cNvPr id="24" name="TextBox 23"/>
          <p:cNvSpPr txBox="1"/>
          <p:nvPr/>
        </p:nvSpPr>
        <p:spPr>
          <a:xfrm>
            <a:off x="3419856" y="3840480"/>
            <a:ext cx="384048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Security review alone can take a quarter; 18 months is few cycles</a:t>
            </a:r>
          </a:p>
        </p:txBody>
      </p:sp>
      <p:sp>
        <p:nvSpPr>
          <p:cNvPr id="25" name="TextBox 24"/>
          <p:cNvSpPr txBox="1"/>
          <p:nvPr/>
        </p:nvSpPr>
        <p:spPr>
          <a:xfrm>
            <a:off x="7443216" y="3840480"/>
            <a:ext cx="3867911"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Land on a single agent with a ledger-verifiable number; trust centre built before first call</a:t>
            </a:r>
          </a:p>
        </p:txBody>
      </p:sp>
      <p:sp>
        <p:nvSpPr>
          <p:cNvPr id="26" name="Rectangle 25"/>
          <p:cNvSpPr/>
          <p:nvPr/>
        </p:nvSpPr>
        <p:spPr>
          <a:xfrm>
            <a:off x="822960" y="4361688"/>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0976" y="4462272"/>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Inference cost compression of margin</a:t>
            </a:r>
          </a:p>
        </p:txBody>
      </p:sp>
      <p:sp>
        <p:nvSpPr>
          <p:cNvPr id="28" name="TextBox 27"/>
          <p:cNvSpPr txBox="1"/>
          <p:nvPr/>
        </p:nvSpPr>
        <p:spPr>
          <a:xfrm>
            <a:off x="3419856" y="4462272"/>
            <a:ext cx="384048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Credit pricing is fixed while model cost is not</a:t>
            </a:r>
          </a:p>
        </p:txBody>
      </p:sp>
      <p:sp>
        <p:nvSpPr>
          <p:cNvPr id="29" name="TextBox 28"/>
          <p:cNvSpPr txBox="1"/>
          <p:nvPr/>
        </p:nvSpPr>
        <p:spPr>
          <a:xfrm>
            <a:off x="7443216" y="4462272"/>
            <a:ext cx="3867911"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Credits are per completed action, repriceable per agent; model-agnostic routing</a:t>
            </a:r>
          </a:p>
        </p:txBody>
      </p:sp>
      <p:sp>
        <p:nvSpPr>
          <p:cNvPr id="30" name="Rectangle 29"/>
          <p:cNvSpPr/>
          <p:nvPr/>
        </p:nvSpPr>
        <p:spPr>
          <a:xfrm>
            <a:off x="822960" y="4983480"/>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 y="5084064"/>
            <a:ext cx="2286000"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Solo founder concentration</a:t>
            </a:r>
          </a:p>
        </p:txBody>
      </p:sp>
      <p:sp>
        <p:nvSpPr>
          <p:cNvPr id="32" name="TextBox 31"/>
          <p:cNvSpPr txBox="1"/>
          <p:nvPr/>
        </p:nvSpPr>
        <p:spPr>
          <a:xfrm>
            <a:off x="3419856" y="5084064"/>
            <a:ext cx="3840480" cy="274320"/>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Single point of failure on all technical knowledge</a:t>
            </a:r>
          </a:p>
        </p:txBody>
      </p:sp>
      <p:sp>
        <p:nvSpPr>
          <p:cNvPr id="33" name="TextBox 32"/>
          <p:cNvSpPr txBox="1"/>
          <p:nvPr/>
        </p:nvSpPr>
        <p:spPr>
          <a:xfrm>
            <a:off x="7443216" y="5084064"/>
            <a:ext cx="3867911" cy="274320"/>
          </a:xfrm>
          <a:prstGeom prst="rect">
            <a:avLst/>
          </a:prstGeom>
          <a:noFill/>
        </p:spPr>
        <p:txBody>
          <a:bodyPr wrap="square" lIns="0" rIns="0" tIns="0" bIns="0" anchor="t">
            <a:spAutoFit/>
          </a:bodyPr>
          <a:lstStyle/>
          <a:p>
            <a:pPr algn="l">
              <a:spcAft>
                <a:spcPts val="0"/>
              </a:spcAft>
            </a:pPr>
            <a:r>
              <a:rPr sz="1100" b="0" i="0">
                <a:solidFill>
                  <a:srgbClr val="1C1712"/>
                </a:solidFill>
                <a:latin typeface="Segoe UI"/>
              </a:rPr>
              <a:t>First two hires are engineering; architecture is documented in-repo</a:t>
            </a:r>
          </a:p>
        </p:txBody>
      </p:sp>
      <p:sp>
        <p:nvSpPr>
          <p:cNvPr id="34" name="Rectangle 33"/>
          <p:cNvSpPr/>
          <p:nvPr/>
        </p:nvSpPr>
        <p:spPr>
          <a:xfrm>
            <a:off x="822960" y="5605272"/>
            <a:ext cx="1054577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ASK</a:t>
            </a:r>
          </a:p>
        </p:txBody>
      </p:sp>
      <p:sp>
        <p:nvSpPr>
          <p:cNvPr id="4" name="TextBox 3"/>
          <p:cNvSpPr txBox="1"/>
          <p:nvPr/>
        </p:nvSpPr>
        <p:spPr>
          <a:xfrm>
            <a:off x="822960" y="896112"/>
            <a:ext cx="10545775" cy="1005840"/>
          </a:xfrm>
          <a:prstGeom prst="rect">
            <a:avLst/>
          </a:prstGeom>
          <a:noFill/>
        </p:spPr>
        <p:txBody>
          <a:bodyPr wrap="square" lIns="0" rIns="0" tIns="0" bIns="0" anchor="t">
            <a:spAutoFit/>
          </a:bodyPr>
          <a:lstStyle/>
          <a:p>
            <a:pPr algn="l">
              <a:lnSpc>
                <a:spcPct val="106000"/>
              </a:lnSpc>
              <a:spcAft>
                <a:spcPts val="0"/>
              </a:spcAft>
            </a:pPr>
            <a:r>
              <a:rPr sz="3100" b="0" i="0">
                <a:solidFill>
                  <a:srgbClr val="1C1712"/>
                </a:solidFill>
                <a:latin typeface="Georgia"/>
              </a:rPr>
              <a:t>$1.5M pre-seed for 18 months to a Series A decision.</a:t>
            </a:r>
          </a:p>
        </p:txBody>
      </p:sp>
      <p:sp>
        <p:nvSpPr>
          <p:cNvPr id="5" name="TextBox 4"/>
          <p:cNvSpPr txBox="1"/>
          <p:nvPr/>
        </p:nvSpPr>
        <p:spPr>
          <a:xfrm>
            <a:off x="822960" y="1901952"/>
            <a:ext cx="9326880" cy="548640"/>
          </a:xfrm>
          <a:prstGeom prst="rect">
            <a:avLst/>
          </a:prstGeom>
          <a:noFill/>
        </p:spPr>
        <p:txBody>
          <a:bodyPr wrap="square" lIns="0" rIns="0" tIns="0" bIns="0" anchor="t">
            <a:spAutoFit/>
          </a:bodyPr>
          <a:lstStyle/>
          <a:p>
            <a:pPr algn="l">
              <a:lnSpc>
                <a:spcPct val="132000"/>
              </a:lnSpc>
              <a:spcAft>
                <a:spcPts val="0"/>
              </a:spcAft>
            </a:pPr>
            <a:r>
              <a:rPr sz="1450" b="0" i="0">
                <a:solidFill>
                  <a:srgbClr val="5A544E"/>
                </a:solidFill>
                <a:latin typeface="Segoe UI"/>
              </a:rPr>
              <a:t>Sized to reach three paying customers with an independently verified saving — the only metric that matters next.</a:t>
            </a:r>
          </a:p>
        </p:txBody>
      </p:sp>
      <p:sp>
        <p:nvSpPr>
          <p:cNvPr id="6" name="Rectangle 5"/>
          <p:cNvSpPr/>
          <p:nvPr/>
        </p:nvSpPr>
        <p:spPr>
          <a:xfrm>
            <a:off x="822960" y="2596896"/>
            <a:ext cx="1054577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a:t>
            </a:r>
            <a:r>
              <a:rPr sz="900" b="0" i="0">
                <a:solidFill>
                  <a:srgbClr val="A29E98"/>
                </a:solidFill>
                <a:latin typeface="Segoe UI"/>
              </a:rPr>
              <a:t>  ·  Confidential  ·  September 2026</a:t>
            </a:r>
          </a:p>
        </p:txBody>
      </p:sp>
      <p:sp>
        <p:nvSpPr>
          <p:cNvPr id="8" name="TextBox 7"/>
          <p:cNvSpPr txBox="1"/>
          <p:nvPr/>
        </p:nvSpPr>
        <p:spPr>
          <a:xfrm>
            <a:off x="1045433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23</a:t>
            </a:r>
          </a:p>
        </p:txBody>
      </p:sp>
      <p:sp>
        <p:nvSpPr>
          <p:cNvPr id="9" name="TextBox 8"/>
          <p:cNvSpPr txBox="1"/>
          <p:nvPr/>
        </p:nvSpPr>
        <p:spPr>
          <a:xfrm>
            <a:off x="969264" y="28712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$1.5M</a:t>
            </a:r>
          </a:p>
        </p:txBody>
      </p:sp>
      <p:sp>
        <p:nvSpPr>
          <p:cNvPr id="10" name="TextBox 9"/>
          <p:cNvSpPr txBox="1"/>
          <p:nvPr/>
        </p:nvSpPr>
        <p:spPr>
          <a:xfrm>
            <a:off x="969264" y="35295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pre-seed round</a:t>
            </a:r>
          </a:p>
        </p:txBody>
      </p:sp>
      <p:sp>
        <p:nvSpPr>
          <p:cNvPr id="11" name="Rectangle 10"/>
          <p:cNvSpPr/>
          <p:nvPr/>
        </p:nvSpPr>
        <p:spPr>
          <a:xfrm>
            <a:off x="3441115" y="2916936"/>
            <a:ext cx="0" cy="105156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5707" y="28712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18 mo</a:t>
            </a:r>
          </a:p>
        </p:txBody>
      </p:sp>
      <p:sp>
        <p:nvSpPr>
          <p:cNvPr id="13" name="TextBox 12"/>
          <p:cNvSpPr txBox="1"/>
          <p:nvPr/>
        </p:nvSpPr>
        <p:spPr>
          <a:xfrm>
            <a:off x="3605707" y="35295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runway to the gate</a:t>
            </a:r>
          </a:p>
        </p:txBody>
      </p:sp>
      <p:sp>
        <p:nvSpPr>
          <p:cNvPr id="14" name="Rectangle 13"/>
          <p:cNvSpPr/>
          <p:nvPr/>
        </p:nvSpPr>
        <p:spPr>
          <a:xfrm>
            <a:off x="6077559" y="2916936"/>
            <a:ext cx="0" cy="105156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2151" y="28712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3</a:t>
            </a:r>
          </a:p>
        </p:txBody>
      </p:sp>
      <p:sp>
        <p:nvSpPr>
          <p:cNvPr id="16" name="TextBox 15"/>
          <p:cNvSpPr txBox="1"/>
          <p:nvPr/>
        </p:nvSpPr>
        <p:spPr>
          <a:xfrm>
            <a:off x="6242151" y="35295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engineering hires</a:t>
            </a:r>
          </a:p>
        </p:txBody>
      </p:sp>
      <p:sp>
        <p:nvSpPr>
          <p:cNvPr id="17" name="Rectangle 16"/>
          <p:cNvSpPr/>
          <p:nvPr/>
        </p:nvSpPr>
        <p:spPr>
          <a:xfrm>
            <a:off x="8714003" y="2916936"/>
            <a:ext cx="0" cy="105156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78595" y="2871216"/>
            <a:ext cx="2362123" cy="640080"/>
          </a:xfrm>
          <a:prstGeom prst="rect">
            <a:avLst/>
          </a:prstGeom>
          <a:noFill/>
        </p:spPr>
        <p:txBody>
          <a:bodyPr wrap="square" lIns="0" rIns="0" tIns="0" bIns="0" anchor="t">
            <a:spAutoFit/>
          </a:bodyPr>
          <a:lstStyle/>
          <a:p>
            <a:pPr algn="l">
              <a:spcAft>
                <a:spcPts val="0"/>
              </a:spcAft>
            </a:pPr>
            <a:r>
              <a:rPr sz="3600" b="0" i="0">
                <a:solidFill>
                  <a:srgbClr val="1C1712"/>
                </a:solidFill>
                <a:latin typeface="Segoe UI"/>
              </a:rPr>
              <a:t>3</a:t>
            </a:r>
          </a:p>
        </p:txBody>
      </p:sp>
      <p:sp>
        <p:nvSpPr>
          <p:cNvPr id="19" name="TextBox 18"/>
          <p:cNvSpPr txBox="1"/>
          <p:nvPr/>
        </p:nvSpPr>
        <p:spPr>
          <a:xfrm>
            <a:off x="8878595" y="3529584"/>
            <a:ext cx="2325547" cy="457200"/>
          </a:xfrm>
          <a:prstGeom prst="rect">
            <a:avLst/>
          </a:prstGeom>
          <a:noFill/>
        </p:spPr>
        <p:txBody>
          <a:bodyPr wrap="square" lIns="0" rIns="0" tIns="0" bIns="0" anchor="t">
            <a:spAutoFit/>
          </a:bodyPr>
          <a:lstStyle/>
          <a:p>
            <a:pPr algn="l">
              <a:lnSpc>
                <a:spcPct val="125000"/>
              </a:lnSpc>
              <a:spcAft>
                <a:spcPts val="0"/>
              </a:spcAft>
            </a:pPr>
            <a:r>
              <a:rPr sz="1150" b="0" i="0">
                <a:solidFill>
                  <a:srgbClr val="5A544E"/>
                </a:solidFill>
                <a:latin typeface="Segoe UI"/>
              </a:rPr>
              <a:t>paying customers, verified</a:t>
            </a:r>
          </a:p>
        </p:txBody>
      </p:sp>
      <p:sp>
        <p:nvSpPr>
          <p:cNvPr id="20" name="Rectangle 19"/>
          <p:cNvSpPr/>
          <p:nvPr/>
        </p:nvSpPr>
        <p:spPr>
          <a:xfrm>
            <a:off x="822960" y="4334256"/>
            <a:ext cx="5852160"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334256"/>
            <a:ext cx="585216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663440"/>
            <a:ext cx="585216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 y="4425696"/>
            <a:ext cx="429768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USE OF FUNDS</a:t>
            </a:r>
          </a:p>
        </p:txBody>
      </p:sp>
      <p:sp>
        <p:nvSpPr>
          <p:cNvPr id="24" name="TextBox 23"/>
          <p:cNvSpPr txBox="1"/>
          <p:nvPr/>
        </p:nvSpPr>
        <p:spPr>
          <a:xfrm>
            <a:off x="5431536" y="4425696"/>
            <a:ext cx="118872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SHARE</a:t>
            </a:r>
          </a:p>
        </p:txBody>
      </p:sp>
      <p:sp>
        <p:nvSpPr>
          <p:cNvPr id="25" name="TextBox 24"/>
          <p:cNvSpPr txBox="1"/>
          <p:nvPr/>
        </p:nvSpPr>
        <p:spPr>
          <a:xfrm>
            <a:off x="950976" y="4764024"/>
            <a:ext cx="429768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Engineering — 3 hires: runtime, data, security</a:t>
            </a:r>
          </a:p>
        </p:txBody>
      </p:sp>
      <p:sp>
        <p:nvSpPr>
          <p:cNvPr id="26" name="TextBox 25"/>
          <p:cNvSpPr txBox="1"/>
          <p:nvPr/>
        </p:nvSpPr>
        <p:spPr>
          <a:xfrm>
            <a:off x="5431536" y="4764024"/>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62%</a:t>
            </a:r>
          </a:p>
        </p:txBody>
      </p:sp>
      <p:sp>
        <p:nvSpPr>
          <p:cNvPr id="27" name="Rectangle 26"/>
          <p:cNvSpPr/>
          <p:nvPr/>
        </p:nvSpPr>
        <p:spPr>
          <a:xfrm>
            <a:off x="822960" y="5065776"/>
            <a:ext cx="585216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5166360"/>
            <a:ext cx="429768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Founder-led sales and pilot delivery</a:t>
            </a:r>
          </a:p>
        </p:txBody>
      </p:sp>
      <p:sp>
        <p:nvSpPr>
          <p:cNvPr id="29" name="TextBox 28"/>
          <p:cNvSpPr txBox="1"/>
          <p:nvPr/>
        </p:nvSpPr>
        <p:spPr>
          <a:xfrm>
            <a:off x="5431536" y="5166360"/>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16%</a:t>
            </a:r>
          </a:p>
        </p:txBody>
      </p:sp>
      <p:sp>
        <p:nvSpPr>
          <p:cNvPr id="30" name="Rectangle 29"/>
          <p:cNvSpPr/>
          <p:nvPr/>
        </p:nvSpPr>
        <p:spPr>
          <a:xfrm>
            <a:off x="822960" y="5468112"/>
            <a:ext cx="585216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 y="5568696"/>
            <a:ext cx="429768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SOC 2 Type II, pen testing, legal</a:t>
            </a:r>
          </a:p>
        </p:txBody>
      </p:sp>
      <p:sp>
        <p:nvSpPr>
          <p:cNvPr id="32" name="TextBox 31"/>
          <p:cNvSpPr txBox="1"/>
          <p:nvPr/>
        </p:nvSpPr>
        <p:spPr>
          <a:xfrm>
            <a:off x="5431536" y="5568696"/>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12%</a:t>
            </a:r>
          </a:p>
        </p:txBody>
      </p:sp>
      <p:sp>
        <p:nvSpPr>
          <p:cNvPr id="33" name="Rectangle 32"/>
          <p:cNvSpPr/>
          <p:nvPr/>
        </p:nvSpPr>
        <p:spPr>
          <a:xfrm>
            <a:off x="822960" y="5870448"/>
            <a:ext cx="585216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0976" y="5971032"/>
            <a:ext cx="429768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Infrastructure and model inference</a:t>
            </a:r>
          </a:p>
        </p:txBody>
      </p:sp>
      <p:sp>
        <p:nvSpPr>
          <p:cNvPr id="35" name="TextBox 34"/>
          <p:cNvSpPr txBox="1"/>
          <p:nvPr/>
        </p:nvSpPr>
        <p:spPr>
          <a:xfrm>
            <a:off x="5431536" y="5971032"/>
            <a:ext cx="1188720" cy="274320"/>
          </a:xfrm>
          <a:prstGeom prst="rect">
            <a:avLst/>
          </a:prstGeom>
          <a:noFill/>
        </p:spPr>
        <p:txBody>
          <a:bodyPr wrap="square" lIns="0" rIns="0" tIns="0" bIns="0" anchor="t">
            <a:spAutoFit/>
          </a:bodyPr>
          <a:lstStyle/>
          <a:p>
            <a:pPr algn="l">
              <a:spcAft>
                <a:spcPts val="0"/>
              </a:spcAft>
            </a:pPr>
            <a:r>
              <a:rPr sz="1200" b="0" i="0">
                <a:solidFill>
                  <a:srgbClr val="1C1712"/>
                </a:solidFill>
                <a:latin typeface="Segoe UI"/>
              </a:rPr>
              <a:t>10%</a:t>
            </a:r>
          </a:p>
        </p:txBody>
      </p:sp>
      <p:sp>
        <p:nvSpPr>
          <p:cNvPr id="36" name="Rectangle 35"/>
          <p:cNvSpPr/>
          <p:nvPr/>
        </p:nvSpPr>
        <p:spPr>
          <a:xfrm>
            <a:off x="822960" y="6272784"/>
            <a:ext cx="5852160"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0" y="4334256"/>
            <a:ext cx="4233672" cy="2542032"/>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88352" y="4535424"/>
            <a:ext cx="3749039" cy="274320"/>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WHAT WE WANT BEYOND MONEY</a:t>
            </a:r>
          </a:p>
        </p:txBody>
      </p:sp>
      <p:sp>
        <p:nvSpPr>
          <p:cNvPr id="39" name="Rectangle 38"/>
          <p:cNvSpPr/>
          <p:nvPr/>
        </p:nvSpPr>
        <p:spPr>
          <a:xfrm>
            <a:off x="7388352" y="4983480"/>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6096" y="4901184"/>
            <a:ext cx="3419856"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A warm introduction to a CFO or controller willing to run a paid pilot</a:t>
            </a:r>
          </a:p>
        </p:txBody>
      </p:sp>
      <p:sp>
        <p:nvSpPr>
          <p:cNvPr id="41" name="Rectangle 40"/>
          <p:cNvSpPr/>
          <p:nvPr/>
        </p:nvSpPr>
        <p:spPr>
          <a:xfrm>
            <a:off x="7388352" y="5623560"/>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6096" y="5541264"/>
            <a:ext cx="3419856"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An operator who has sold governance software into finance</a:t>
            </a:r>
          </a:p>
        </p:txBody>
      </p:sp>
      <p:sp>
        <p:nvSpPr>
          <p:cNvPr id="43" name="Rectangle 42"/>
          <p:cNvSpPr/>
          <p:nvPr/>
        </p:nvSpPr>
        <p:spPr>
          <a:xfrm>
            <a:off x="7388352" y="6263640"/>
            <a:ext cx="82296" cy="8229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26096" y="6181344"/>
            <a:ext cx="3419856" cy="548640"/>
          </a:xfrm>
          <a:prstGeom prst="rect">
            <a:avLst/>
          </a:prstGeom>
          <a:noFill/>
        </p:spPr>
        <p:txBody>
          <a:bodyPr wrap="square" lIns="0" rIns="0" tIns="0" bIns="0" anchor="t">
            <a:spAutoFit/>
          </a:bodyPr>
          <a:lstStyle/>
          <a:p>
            <a:pPr algn="l">
              <a:lnSpc>
                <a:spcPct val="132000"/>
              </a:lnSpc>
              <a:spcAft>
                <a:spcPts val="0"/>
              </a:spcAft>
            </a:pPr>
            <a:r>
              <a:rPr sz="1150" b="0" i="0">
                <a:solidFill>
                  <a:srgbClr val="5A544E"/>
                </a:solidFill>
                <a:latin typeface="Segoe UI"/>
              </a:rPr>
              <a:t>Pressure on the measurement plan before a customer sees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292"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28800"/>
            <a:ext cx="10058400" cy="365760"/>
          </a:xfrm>
          <a:prstGeom prst="rect">
            <a:avLst/>
          </a:prstGeom>
          <a:noFill/>
        </p:spPr>
        <p:txBody>
          <a:bodyPr wrap="square" lIns="0" rIns="0" tIns="0" bIns="0" anchor="t">
            <a:spAutoFit/>
          </a:bodyPr>
          <a:lstStyle/>
          <a:p>
            <a:pPr algn="l">
              <a:spcAft>
                <a:spcPts val="0"/>
              </a:spcAft>
            </a:pPr>
            <a:r>
              <a:rPr sz="1050" b="1" i="0">
                <a:solidFill>
                  <a:srgbClr val="A29E98"/>
                </a:solidFill>
                <a:latin typeface="Segoe UI"/>
              </a:rPr>
              <a:t>THE ONE-LINE VERSION</a:t>
            </a:r>
          </a:p>
        </p:txBody>
      </p:sp>
      <p:sp>
        <p:nvSpPr>
          <p:cNvPr id="5" name="TextBox 4"/>
          <p:cNvSpPr txBox="1"/>
          <p:nvPr/>
        </p:nvSpPr>
        <p:spPr>
          <a:xfrm>
            <a:off x="822960" y="2286000"/>
            <a:ext cx="10241280" cy="1828800"/>
          </a:xfrm>
          <a:prstGeom prst="rect">
            <a:avLst/>
          </a:prstGeom>
          <a:noFill/>
        </p:spPr>
        <p:txBody>
          <a:bodyPr wrap="square" lIns="0" rIns="0" tIns="0" bIns="0" anchor="t">
            <a:spAutoFit/>
          </a:bodyPr>
          <a:lstStyle/>
          <a:p>
            <a:pPr algn="l">
              <a:lnSpc>
                <a:spcPct val="115000"/>
              </a:lnSpc>
              <a:spcAft>
                <a:spcPts val="0"/>
              </a:spcAft>
            </a:pPr>
            <a:r>
              <a:rPr sz="4000" b="0" i="0">
                <a:solidFill>
                  <a:srgbClr val="FEFDFC"/>
                </a:solidFill>
                <a:latin typeface="Georgia"/>
              </a:rPr>
              <a:t>Agents will do the work.
Somebody still has to be accountable.</a:t>
            </a:r>
          </a:p>
        </p:txBody>
      </p:sp>
      <p:sp>
        <p:nvSpPr>
          <p:cNvPr id="6" name="TextBox 5"/>
          <p:cNvSpPr txBox="1"/>
          <p:nvPr/>
        </p:nvSpPr>
        <p:spPr>
          <a:xfrm>
            <a:off x="822960" y="3931920"/>
            <a:ext cx="9326880" cy="822960"/>
          </a:xfrm>
          <a:prstGeom prst="rect">
            <a:avLst/>
          </a:prstGeom>
          <a:noFill/>
        </p:spPr>
        <p:txBody>
          <a:bodyPr wrap="square" lIns="0" rIns="0" tIns="0" bIns="0" anchor="t">
            <a:spAutoFit/>
          </a:bodyPr>
          <a:lstStyle/>
          <a:p>
            <a:pPr algn="l">
              <a:lnSpc>
                <a:spcPct val="135000"/>
              </a:lnSpc>
              <a:spcAft>
                <a:spcPts val="0"/>
              </a:spcAft>
            </a:pPr>
            <a:r>
              <a:rPr sz="1600" b="0" i="0">
                <a:solidFill>
                  <a:srgbClr val="CDCAC5"/>
                </a:solidFill>
                <a:latin typeface="Segoe UI"/>
              </a:rPr>
              <a:t>Meridian is the record of who that is — for every agent an enterprise runs, including the ones we did not build.</a:t>
            </a:r>
          </a:p>
        </p:txBody>
      </p:sp>
      <p:sp>
        <p:nvSpPr>
          <p:cNvPr id="7" name="Rectangle 6"/>
          <p:cNvSpPr/>
          <p:nvPr/>
        </p:nvSpPr>
        <p:spPr>
          <a:xfrm>
            <a:off x="822960" y="4983480"/>
            <a:ext cx="10545775" cy="0"/>
          </a:xfrm>
          <a:prstGeom prst="rect">
            <a:avLst/>
          </a:prstGeom>
          <a:noFill/>
          <a:ln w="9525">
            <a:solidFill>
              <a:srgbClr val="3A33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257800"/>
            <a:ext cx="10058400" cy="914400"/>
          </a:xfrm>
          <a:prstGeom prst="rect">
            <a:avLst/>
          </a:prstGeom>
          <a:noFill/>
        </p:spPr>
        <p:txBody>
          <a:bodyPr wrap="square" lIns="0" rIns="0" tIns="0" bIns="0" anchor="t">
            <a:spAutoFit/>
          </a:bodyPr>
          <a:lstStyle/>
          <a:p>
            <a:pPr algn="l">
              <a:spcAft>
                <a:spcPts val="700"/>
              </a:spcAft>
            </a:pPr>
            <a:r>
              <a:rPr sz="1300" b="0" i="0">
                <a:solidFill>
                  <a:srgbClr val="A29E98"/>
                </a:solidFill>
                <a:latin typeface="Segoe UI"/>
              </a:rPr>
              <a:t>Open the product:  </a:t>
            </a:r>
            <a:r>
              <a:rPr sz="1300" b="1" i="0">
                <a:solidFill>
                  <a:srgbClr val="FEFDFC"/>
                </a:solidFill>
                <a:latin typeface="Segoe UI"/>
              </a:rPr>
              <a:t>enterprise-hr-finance.vercel.app</a:t>
            </a:r>
          </a:p>
          <a:p>
            <a:pPr algn="l">
              <a:spcAft>
                <a:spcPts val="700"/>
              </a:spcAft>
            </a:pPr>
            <a:r>
              <a:rPr sz="1300" b="0" i="0">
                <a:solidFill>
                  <a:srgbClr val="A29E98"/>
                </a:solidFill>
                <a:latin typeface="Segoe UI"/>
              </a:rPr>
              <a:t>Read the source:  </a:t>
            </a:r>
            <a:r>
              <a:rPr sz="1300" b="0" i="0">
                <a:solidFill>
                  <a:srgbClr val="FEFDFC"/>
                </a:solidFill>
                <a:latin typeface="Segoe UI"/>
              </a:rPr>
              <a:t>github.com/alessoh/enterprise-hr-finance</a:t>
            </a:r>
          </a:p>
          <a:p>
            <a:pPr algn="l">
              <a:spcAft>
                <a:spcPts val="700"/>
              </a:spcAft>
            </a:pPr>
            <a:r>
              <a:rPr sz="1300" b="0" i="0">
                <a:solidFill>
                  <a:srgbClr val="CDCAC5"/>
                </a:solidFill>
                <a:latin typeface="Segoe UI"/>
              </a:rPr>
              <a:t>Peter Alesso  ·  Founder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